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9" r:id="rId3"/>
    <p:sldId id="323" r:id="rId4"/>
    <p:sldId id="322" r:id="rId5"/>
    <p:sldId id="321" r:id="rId6"/>
    <p:sldId id="316" r:id="rId7"/>
    <p:sldId id="314" r:id="rId8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90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AE8-F96C-2073-F240-58D203F6C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EB685-326D-BF42-9FA8-DBE7935C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F85AA-C6B6-0176-2899-9F67F75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410E-519D-A66F-8517-ECEA92DA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098-6905-38A5-2A92-7B8EF03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86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53A-37A7-58CF-A687-D1CF48A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1C46-B13F-16C2-3B05-07A88B81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4F7-2220-1A06-27AD-7ED8577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E456-18D3-896F-C7F9-A488CF30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697D-55E0-8496-47FD-7EA0985A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96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0602-D645-3AC9-9D19-3BAE5D28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6A8-E18E-4D78-6829-F17C18A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8FC0-3BC1-4B02-9BB8-9344FDF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EE21-A18C-0927-6F02-94D3D8F1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4FC6-31D8-7275-D2E7-4F770DDE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1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4C46-1B00-5B94-3721-63A4F48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03A7-B709-5735-AF7C-85D94581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BB35-6E58-1F96-C5FE-D3A75FC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884-F52F-3F58-3B4D-49697AED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16FB-FD18-83FB-7A68-1E8097CE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D934-FB1E-FB03-E67F-9809309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32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958-2E17-5607-49A1-575BDD97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E781-2C4F-F7B9-E5CA-A3DC8837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D54C-D6D8-B2AE-02B4-26A098B6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B8E0E-11D3-4D36-043D-B49B87F3F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5950-F75A-AA3A-4AF0-66F45AD69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1E08D-C26C-59A1-6FE9-AA8C8091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C3A60-0BA8-FF38-B149-4F1F0F05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6058-518A-296C-918E-A0C41BD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5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1B68-1736-5B50-9CCC-0212137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65D7-CED5-23FB-E4F9-A65D3CF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A6FC-015A-BB34-E99A-AF820495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C009-7EC5-4010-6B33-0B1850B5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250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7172F-3DC6-BD6D-96A2-D14D84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EFAD-AACE-C45F-F625-CCB5E7C4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E250-4659-7CEF-132F-F775A006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11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E55-49CC-5FEF-4CA5-E54436E2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DB36-73A9-7816-73DA-2C1CF58D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D33F-CFA9-7CBC-6BAA-C41B034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87B9-C74E-056C-22A8-21D6D776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F53D4-B0C6-F375-1496-CD603553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92E1-5AB8-9249-1452-186F660E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449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D1F9-6386-2F14-87DD-A02B226C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F339-3325-FC35-E15E-14B1384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47418-1674-C966-8EC8-CE0909B7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0F7E-4333-91A7-4EAD-F9235C2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98764-76BA-8E32-8021-B71FA568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D4C3-603E-69BD-9424-87C09AE6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85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49B-77FF-B592-8B81-2ADB8309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CF35-3FFF-F18B-D276-F529BBA2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EB8B-6C04-26AB-F180-6CD7ECA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CD26-286F-8DC9-43D7-33C5C590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0F16-7C99-D58C-332F-B187B34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4AE7-2DDE-AA65-7363-FAD6D319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C4506-C37F-F669-CD59-B47698E4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F10-AFE3-C119-8A0A-9B2B6C9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A6-2B6E-5E0A-F23F-0964164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DA82-AC26-4449-C984-042CD60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511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651" y="1389246"/>
            <a:ext cx="3282950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5676" y="1538471"/>
            <a:ext cx="3896995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427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91047" y="2234251"/>
            <a:ext cx="15619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5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0D5-61DB-3807-D335-042917A4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D887-ECD3-E332-3382-46688822D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CF68-C4DE-14A6-FA5F-CEF08F20E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DC3C9-B55F-9104-7762-E1D3C01F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A71E-2F9F-227A-46BD-3910CE8F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0" y="438150"/>
            <a:ext cx="9144000" cy="82137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1594" marR="5080" indent="-49530" algn="ctr">
              <a:lnSpc>
                <a:spcPts val="6230"/>
              </a:lnSpc>
              <a:spcBef>
                <a:spcPts val="204"/>
              </a:spcBef>
            </a:pPr>
            <a:r>
              <a:rPr lang="es-ES" sz="5200" spc="45" dirty="0">
                <a:latin typeface="Google Sans Text"/>
                <a:cs typeface="Trebuchet MS"/>
              </a:rPr>
              <a:t>Programación I</a:t>
            </a:r>
            <a:endParaRPr sz="5200" dirty="0">
              <a:latin typeface="Google Sans Text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789484"/>
            <a:ext cx="7848599" cy="23288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s-ES" sz="2800" dirty="0"/>
              <a:t>Operadores Aritméticos: </a:t>
            </a:r>
          </a:p>
          <a:p>
            <a:pPr marL="12700" algn="ctr">
              <a:spcBef>
                <a:spcPts val="100"/>
              </a:spcBef>
            </a:pPr>
            <a:r>
              <a:rPr lang="es-ES" sz="2400" dirty="0"/>
              <a:t>Manipulación de Datos Numéricos</a:t>
            </a:r>
          </a:p>
          <a:p>
            <a:pPr marL="12700" algn="ctr">
              <a:spcBef>
                <a:spcPts val="100"/>
              </a:spcBef>
            </a:pPr>
            <a:endParaRPr lang="es-ES" sz="2400" dirty="0">
              <a:latin typeface="Google Sans Tex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Los operadores aritméticos son herramientas esenciales que permiten realizar operaciones matemáticas dentro de nuestros programas. Se utilizan con tipos de datos numéricos (Enteros o Reales) para procesar información y obtener nuevos valores.</a:t>
            </a:r>
            <a:endParaRPr lang="es-ES" sz="2800" dirty="0">
              <a:latin typeface="Google Sans Text"/>
              <a:cs typeface="Roboto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A7AD4D-0BA3-262D-00C5-5FC8176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BCE45-CD4B-A752-82A9-7725EDDA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3307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3200" dirty="0">
                <a:latin typeface="Google Sans Text"/>
              </a:rPr>
              <a:t>Los Operadores Básicos</a:t>
            </a:r>
            <a:endParaRPr sz="3200" spc="-65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8E19BB1-40E6-239A-223D-77AB4F38D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68063"/>
              </p:ext>
            </p:extLst>
          </p:nvPr>
        </p:nvGraphicFramePr>
        <p:xfrm>
          <a:off x="628649" y="1428750"/>
          <a:ext cx="7886701" cy="274320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718522">
                  <a:extLst>
                    <a:ext uri="{9D8B030D-6E8A-4147-A177-3AD203B41FA5}">
                      <a16:colId xmlns:a16="http://schemas.microsoft.com/office/drawing/2014/main" val="3324676380"/>
                    </a:ext>
                  </a:extLst>
                </a:gridCol>
                <a:gridCol w="2718522">
                  <a:extLst>
                    <a:ext uri="{9D8B030D-6E8A-4147-A177-3AD203B41FA5}">
                      <a16:colId xmlns:a16="http://schemas.microsoft.com/office/drawing/2014/main" val="1914982927"/>
                    </a:ext>
                  </a:extLst>
                </a:gridCol>
                <a:gridCol w="2449657">
                  <a:extLst>
                    <a:ext uri="{9D8B030D-6E8A-4147-A177-3AD203B41FA5}">
                      <a16:colId xmlns:a16="http://schemas.microsoft.com/office/drawing/2014/main" val="141876008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Operación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Operador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Ejemplo (C++)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3751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Suma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+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 = a + b;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950398988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Resta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stock = inicial - ventas;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4242072308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Multiplicación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area = base * altura;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39875208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División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/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promedio = suma / 5.0;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703736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44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0EF8-FE73-C80E-F2B1-D9728A35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5685E4-51AB-3412-0EBA-27072D631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91001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3200" dirty="0"/>
              <a:t>Operador MOD (Módulo o Resto)</a:t>
            </a:r>
            <a:endParaRPr sz="3200" spc="-65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D155409-429C-F262-7F6C-ACE127791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813026"/>
              </p:ext>
            </p:extLst>
          </p:nvPr>
        </p:nvGraphicFramePr>
        <p:xfrm>
          <a:off x="628648" y="2910649"/>
          <a:ext cx="7886701" cy="105918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718522">
                  <a:extLst>
                    <a:ext uri="{9D8B030D-6E8A-4147-A177-3AD203B41FA5}">
                      <a16:colId xmlns:a16="http://schemas.microsoft.com/office/drawing/2014/main" val="3324676380"/>
                    </a:ext>
                  </a:extLst>
                </a:gridCol>
                <a:gridCol w="2718522">
                  <a:extLst>
                    <a:ext uri="{9D8B030D-6E8A-4147-A177-3AD203B41FA5}">
                      <a16:colId xmlns:a16="http://schemas.microsoft.com/office/drawing/2014/main" val="1914982927"/>
                    </a:ext>
                  </a:extLst>
                </a:gridCol>
                <a:gridCol w="2449657">
                  <a:extLst>
                    <a:ext uri="{9D8B030D-6E8A-4147-A177-3AD203B41FA5}">
                      <a16:colId xmlns:a16="http://schemas.microsoft.com/office/drawing/2014/main" val="141876008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Operación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Operador</a:t>
                      </a:r>
                      <a:endParaRPr lang="es-A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Ejemplo (C++)</a:t>
                      </a:r>
                      <a:endParaRPr lang="es-A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3751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6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Resto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6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600" kern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resto = 10 % 3;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73680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7D6BD14-3A64-B101-4A75-FC7CD33B7246}"/>
              </a:ext>
            </a:extLst>
          </p:cNvPr>
          <p:cNvSpPr txBox="1"/>
          <p:nvPr/>
        </p:nvSpPr>
        <p:spPr>
          <a:xfrm>
            <a:off x="628648" y="1276350"/>
            <a:ext cx="788670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dirty="0">
                <a:latin typeface="Google Sans Text"/>
              </a:rPr>
              <a:t>Este es uno de los operadores más útiles en programación. Devuelve el </a:t>
            </a:r>
            <a:r>
              <a:rPr lang="es-ES" sz="1600" b="1" dirty="0">
                <a:latin typeface="Google Sans Text"/>
              </a:rPr>
              <a:t>resto</a:t>
            </a:r>
            <a:r>
              <a:rPr lang="es-ES" sz="1600" dirty="0">
                <a:latin typeface="Google Sans Text"/>
              </a:rPr>
              <a:t> de una división entera.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</a:rPr>
              <a:t>Utilidad:</a:t>
            </a:r>
            <a:r>
              <a:rPr lang="es-ES" sz="1600" dirty="0">
                <a:latin typeface="Google Sans Text"/>
              </a:rPr>
              <a:t> Determinar si un número es par/impar, verificar si un año es bisiesto o descomponer cifras.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</a:rPr>
              <a:t>Ejemplo:</a:t>
            </a:r>
            <a:r>
              <a:rPr lang="es-ES" sz="1600" dirty="0">
                <a:latin typeface="Google Sans Text"/>
              </a:rPr>
              <a:t> 10 % 3 da como resultado 1, ya que 10 dividido 3 es 3 y sobra 1.</a:t>
            </a:r>
          </a:p>
        </p:txBody>
      </p:sp>
    </p:spTree>
    <p:extLst>
      <p:ext uri="{BB962C8B-B14F-4D97-AF65-F5344CB8AC3E}">
        <p14:creationId xmlns:p14="http://schemas.microsoft.com/office/powerpoint/2010/main" val="265281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6EE0-15EE-BCD7-6E26-8FA36F65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B3A12B-6DCC-48A9-E87C-D7C61536F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dirty="0">
                <a:latin typeface="Google Sans Text"/>
              </a:rPr>
              <a:t>Prioridad de Operadores Aritméticos en C++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A87505-BFAE-FE3B-1D1D-BE36FADB9454}"/>
              </a:ext>
            </a:extLst>
          </p:cNvPr>
          <p:cNvSpPr txBox="1"/>
          <p:nvPr/>
        </p:nvSpPr>
        <p:spPr>
          <a:xfrm>
            <a:off x="928255" y="1082173"/>
            <a:ext cx="7238999" cy="1565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600" dirty="0">
                <a:latin typeface="Google Sans Text"/>
              </a:rPr>
              <a:t>Las expresiones entre </a:t>
            </a:r>
            <a:r>
              <a:rPr lang="es-ES" sz="1600" b="1" dirty="0">
                <a:latin typeface="Google Sans Text"/>
              </a:rPr>
              <a:t>paréntesis</a:t>
            </a:r>
            <a:r>
              <a:rPr lang="es-ES" sz="1600" dirty="0">
                <a:latin typeface="Google Sans Text"/>
              </a:rPr>
              <a:t> se evalúan primero.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600" dirty="0">
                <a:latin typeface="Google Sans Text"/>
              </a:rPr>
              <a:t>Los </a:t>
            </a:r>
            <a:r>
              <a:rPr lang="es-ES" sz="1600" b="1" dirty="0">
                <a:latin typeface="Google Sans Text"/>
              </a:rPr>
              <a:t>paréntesis anidados </a:t>
            </a:r>
            <a:r>
              <a:rPr lang="es-ES" sz="1600" dirty="0">
                <a:latin typeface="Google Sans Text"/>
              </a:rPr>
              <a:t>se evalúan de dentro hacia fuera.</a:t>
            </a:r>
            <a:endParaRPr lang="es-ES" sz="1600" b="1" dirty="0">
              <a:latin typeface="Google Sans Tex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</a:rPr>
              <a:t>¿Igual prioridad? </a:t>
            </a:r>
            <a:r>
              <a:rPr lang="es-ES" sz="1600" dirty="0">
                <a:latin typeface="Google Sans Text"/>
              </a:rPr>
              <a:t>Se evalúan de </a:t>
            </a:r>
            <a:r>
              <a:rPr lang="es-ES" sz="1600" b="1" dirty="0">
                <a:latin typeface="Google Sans Text"/>
              </a:rPr>
              <a:t>izquierda a derecha</a:t>
            </a:r>
            <a:r>
              <a:rPr lang="es-ES" sz="1600" dirty="0">
                <a:latin typeface="Google Sans Text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s-ES" sz="1600" dirty="0">
              <a:latin typeface="Google Sans Tex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136D60-0B78-BCD3-6D1E-0D10B18B6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456416"/>
              </p:ext>
            </p:extLst>
          </p:nvPr>
        </p:nvGraphicFramePr>
        <p:xfrm>
          <a:off x="1360674" y="2647950"/>
          <a:ext cx="6512052" cy="149600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17805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092335645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Prioridad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Operadores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Significado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650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Paréntesis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* / %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Multiplicación, división, módulo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+ -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Suma y resta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23DACD2F-983D-BC89-8A52-2E24947DF686}"/>
              </a:ext>
            </a:extLst>
          </p:cNvPr>
          <p:cNvSpPr txBox="1"/>
          <p:nvPr/>
        </p:nvSpPr>
        <p:spPr>
          <a:xfrm>
            <a:off x="983346" y="2288227"/>
            <a:ext cx="45720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Tabla de prioridad (de mayor a menor)</a:t>
            </a:r>
            <a:endParaRPr lang="es-AR" sz="1600"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74909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9512-7901-298F-47C9-4B14578E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64FCEC-D6ED-4845-A35C-44429A6FF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dirty="0">
                <a:latin typeface="Google Sans Text"/>
              </a:rPr>
              <a:t>Prioridad de Operadores Aritméticos en C++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7A84DA-7609-2453-2490-97F9BC3BF60A}"/>
              </a:ext>
            </a:extLst>
          </p:cNvPr>
          <p:cNvSpPr txBox="1"/>
          <p:nvPr/>
        </p:nvSpPr>
        <p:spPr>
          <a:xfrm>
            <a:off x="949453" y="819150"/>
            <a:ext cx="7238999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Ejemplos:</a:t>
            </a:r>
            <a:endParaRPr lang="en-US" sz="1600" dirty="0">
              <a:latin typeface="Google Sans Tex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3CC054C-23AC-BC13-09FF-E475B9BCE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003276"/>
              </p:ext>
            </p:extLst>
          </p:nvPr>
        </p:nvGraphicFramePr>
        <p:xfrm>
          <a:off x="2971800" y="1428750"/>
          <a:ext cx="3718948" cy="214557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082236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Expresión en C++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Resultado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4 + 2 *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 * 2 /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9 (división entera)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23.0 * 2 /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3 + 5 * (10 - (2 + 4))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253899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0.35 + 5.09 - 14.0 / 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5.09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2970804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2.1 * (1.5 + 3.0 * 4.1)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28.98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980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86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E250-D174-E5A5-3B2E-2786D5DD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2EE2B6-23A7-954E-E8FC-A09B9BC6F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Ejemplo Práctico: </a:t>
            </a:r>
            <a:r>
              <a:rPr lang="es-AR" sz="3200" dirty="0"/>
              <a:t>Despacho de Cajas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506DC9C-4274-127E-1DE1-AF220FD37C6D}"/>
              </a:ext>
            </a:extLst>
          </p:cNvPr>
          <p:cNvSpPr txBox="1"/>
          <p:nvPr/>
        </p:nvSpPr>
        <p:spPr>
          <a:xfrm>
            <a:off x="952500" y="804900"/>
            <a:ext cx="72389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Problema</a:t>
            </a:r>
            <a:r>
              <a:rPr lang="es-ES" sz="1600" dirty="0">
                <a:latin typeface="Google Sans Text"/>
              </a:rPr>
              <a:t>: Una fábrica produce unidades que se guardan en cajas de 72. Queremos saber cuántas cajas completas se despachan y cuántas unidades sobran (el resto).</a:t>
            </a:r>
            <a:endParaRPr lang="en-US" sz="1600" dirty="0">
              <a:latin typeface="Google Sans Tex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24F1B-3EB1-B820-C558-3653D1796BAE}"/>
              </a:ext>
            </a:extLst>
          </p:cNvPr>
          <p:cNvSpPr txBox="1"/>
          <p:nvPr/>
        </p:nvSpPr>
        <p:spPr>
          <a:xfrm>
            <a:off x="4571999" y="1632248"/>
            <a:ext cx="3221998" cy="1666482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cantidad, cajas, resto;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"Ingrese cantidad producida:"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cantidad;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Uso de MOD para el sobrante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resto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cantidad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Cálculo de cajas enteras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cajas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(cantidad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resto)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"Cajas: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cajas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“Unidades: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resto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D32C621-81CD-DED9-317D-8B9C2ED0E35A}"/>
              </a:ext>
            </a:extLst>
          </p:cNvPr>
          <p:cNvSpPr txBox="1"/>
          <p:nvPr/>
        </p:nvSpPr>
        <p:spPr>
          <a:xfrm>
            <a:off x="5759242" y="3349227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045B8CC-8385-1388-3A28-7A35F5B54F2F}"/>
              </a:ext>
            </a:extLst>
          </p:cNvPr>
          <p:cNvSpPr txBox="1"/>
          <p:nvPr/>
        </p:nvSpPr>
        <p:spPr>
          <a:xfrm>
            <a:off x="2574110" y="4019550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E6FE0E-3DF5-03B1-30FE-DE98EA654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32248"/>
            <a:ext cx="2880000" cy="23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7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DD-5402-FD4C-D101-95CDF73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64E8F-6CE5-B876-19FD-BCD3DB969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7" y="209550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dirty="0"/>
              <a:t>Consideraciones Especiales en C++</a:t>
            </a:r>
            <a:endParaRPr lang="es-AR" spc="-65" dirty="0">
              <a:latin typeface="Google Sans Text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B8796D8-DA2E-66EF-2B71-CC303B08F8AF}"/>
              </a:ext>
            </a:extLst>
          </p:cNvPr>
          <p:cNvSpPr txBox="1"/>
          <p:nvPr/>
        </p:nvSpPr>
        <p:spPr>
          <a:xfrm>
            <a:off x="609600" y="1276350"/>
            <a:ext cx="7723878" cy="271741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b="1" dirty="0">
                <a:latin typeface="Google Sans Text"/>
              </a:rPr>
              <a:t>División Entera</a:t>
            </a:r>
            <a:r>
              <a:rPr lang="es-ES" sz="1600" dirty="0">
                <a:latin typeface="Google Sans Text"/>
              </a:rPr>
              <a:t>: Si dividís dos enteros (5 / 2), el resultado será 2.</a:t>
            </a:r>
          </a:p>
          <a:p>
            <a:r>
              <a:rPr lang="es-ES" sz="1600" dirty="0">
                <a:latin typeface="Google Sans Text"/>
              </a:rPr>
              <a:t>Si </a:t>
            </a:r>
            <a:r>
              <a:rPr lang="es-ES" sz="1600" dirty="0" err="1">
                <a:latin typeface="Google Sans Text"/>
              </a:rPr>
              <a:t>necesitás</a:t>
            </a:r>
            <a:r>
              <a:rPr lang="es-ES" sz="1600" dirty="0">
                <a:latin typeface="Google Sans Text"/>
              </a:rPr>
              <a:t> el decimal (2.5), al menos uno de los números debe ser real (5.0 / 2).</a:t>
            </a:r>
          </a:p>
          <a:p>
            <a:endParaRPr lang="es-ES" sz="1600" b="1" dirty="0">
              <a:latin typeface="Google Sans Text"/>
            </a:endParaRPr>
          </a:p>
          <a:p>
            <a:r>
              <a:rPr lang="es-ES" sz="1600" b="1" dirty="0">
                <a:latin typeface="Google Sans Text"/>
              </a:rPr>
              <a:t>Operadores de Asignación Compuesta</a:t>
            </a:r>
            <a:r>
              <a:rPr lang="es-ES" sz="1600" dirty="0">
                <a:latin typeface="Google Sans Text"/>
              </a:rPr>
              <a:t>: C++ permite abreviar operaciones:</a:t>
            </a:r>
          </a:p>
          <a:p>
            <a:pPr lvl="1"/>
            <a:r>
              <a:rPr lang="es-ES" sz="1600" dirty="0">
                <a:latin typeface="Google Sans Text"/>
              </a:rPr>
              <a:t>A += B equivale a </a:t>
            </a:r>
            <a:r>
              <a:rPr lang="es-ES" sz="1600" dirty="0" err="1">
                <a:latin typeface="Google Sans Text"/>
              </a:rPr>
              <a:t>A</a:t>
            </a:r>
            <a:r>
              <a:rPr lang="es-ES" sz="1600" dirty="0">
                <a:latin typeface="Google Sans Text"/>
              </a:rPr>
              <a:t> = A + B</a:t>
            </a:r>
          </a:p>
          <a:p>
            <a:pPr lvl="1"/>
            <a:r>
              <a:rPr lang="es-ES" sz="1600" dirty="0">
                <a:latin typeface="Google Sans Text"/>
              </a:rPr>
              <a:t>A -= B equivale a </a:t>
            </a:r>
            <a:r>
              <a:rPr lang="es-ES" sz="1600" dirty="0" err="1">
                <a:latin typeface="Google Sans Text"/>
              </a:rPr>
              <a:t>A</a:t>
            </a:r>
            <a:r>
              <a:rPr lang="es-ES" sz="1600" dirty="0">
                <a:latin typeface="Google Sans Text"/>
              </a:rPr>
              <a:t> = A – B</a:t>
            </a:r>
          </a:p>
          <a:p>
            <a:pPr lvl="1"/>
            <a:r>
              <a:rPr lang="es-ES" sz="1600" dirty="0">
                <a:latin typeface="Google Sans Text"/>
              </a:rPr>
              <a:t>A *= B equivale a </a:t>
            </a:r>
            <a:r>
              <a:rPr lang="es-ES" sz="1600" dirty="0" err="1">
                <a:latin typeface="Google Sans Text"/>
              </a:rPr>
              <a:t>A</a:t>
            </a:r>
            <a:r>
              <a:rPr lang="es-ES" sz="1600" dirty="0">
                <a:latin typeface="Google Sans Text"/>
              </a:rPr>
              <a:t> = A * B</a:t>
            </a:r>
          </a:p>
          <a:p>
            <a:pPr lvl="1"/>
            <a:r>
              <a:rPr lang="es-ES" sz="1600" dirty="0">
                <a:latin typeface="Google Sans Text"/>
              </a:rPr>
              <a:t>A /= B equivale a </a:t>
            </a:r>
            <a:r>
              <a:rPr lang="es-ES" sz="1600" dirty="0" err="1">
                <a:latin typeface="Google Sans Text"/>
              </a:rPr>
              <a:t>A</a:t>
            </a:r>
            <a:r>
              <a:rPr lang="es-ES" sz="1600" dirty="0">
                <a:latin typeface="Google Sans Text"/>
              </a:rPr>
              <a:t> = A / B</a:t>
            </a:r>
          </a:p>
          <a:p>
            <a:endParaRPr lang="es-ES" sz="1600" dirty="0">
              <a:latin typeface="Google Sans Text"/>
            </a:endParaRPr>
          </a:p>
          <a:p>
            <a:r>
              <a:rPr lang="es-ES" sz="1600" b="1" dirty="0">
                <a:latin typeface="Google Sans Text"/>
              </a:rPr>
              <a:t>Exponenciación</a:t>
            </a:r>
            <a:r>
              <a:rPr lang="es-ES" sz="1600" dirty="0">
                <a:latin typeface="Google Sans Text"/>
              </a:rPr>
              <a:t>: A diferencia de otros lenguajes, en C++ no existe el operador ^ para potencias. Se debe incluir la librería &lt;</a:t>
            </a:r>
            <a:r>
              <a:rPr lang="es-ES" sz="1600" dirty="0" err="1">
                <a:latin typeface="Google Sans Text"/>
              </a:rPr>
              <a:t>cmath</a:t>
            </a:r>
            <a:r>
              <a:rPr lang="es-ES" sz="1600" dirty="0">
                <a:latin typeface="Google Sans Text"/>
              </a:rPr>
              <a:t>&gt; y usar la función </a:t>
            </a:r>
            <a:r>
              <a:rPr lang="es-ES" sz="1600" dirty="0" err="1">
                <a:latin typeface="Google Sans Text"/>
              </a:rPr>
              <a:t>pow</a:t>
            </a:r>
            <a:r>
              <a:rPr lang="es-ES" sz="1600" dirty="0">
                <a:latin typeface="Google Sans Text"/>
              </a:rPr>
              <a:t>(base, exponente).</a:t>
            </a:r>
          </a:p>
        </p:txBody>
      </p:sp>
    </p:spTree>
    <p:extLst>
      <p:ext uri="{BB962C8B-B14F-4D97-AF65-F5344CB8AC3E}">
        <p14:creationId xmlns:p14="http://schemas.microsoft.com/office/powerpoint/2010/main" val="18425553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</TotalTime>
  <Words>539</Words>
  <Application>Microsoft Office PowerPoint</Application>
  <PresentationFormat>Presentación en pantalla (16:9)</PresentationFormat>
  <Paragraphs>88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Google Sans Text</vt:lpstr>
      <vt:lpstr>Roboto</vt:lpstr>
      <vt:lpstr>Trebuchet MS</vt:lpstr>
      <vt:lpstr>Wingdings</vt:lpstr>
      <vt:lpstr>1_Office Theme</vt:lpstr>
      <vt:lpstr>Presentación de PowerPoint</vt:lpstr>
      <vt:lpstr>Los Operadores Básicos</vt:lpstr>
      <vt:lpstr>Operador MOD (Módulo o Resto)</vt:lpstr>
      <vt:lpstr>Prioridad de Operadores Aritméticos en C++</vt:lpstr>
      <vt:lpstr>Prioridad de Operadores Aritméticos en C++</vt:lpstr>
      <vt:lpstr>Ejemplo Práctico: Despacho de Cajas</vt:lpstr>
      <vt:lpstr>Consideraciones Especiales en C++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LAB1 - Decisión</dc:title>
  <cp:lastModifiedBy>Ariel Sebastian Tapia</cp:lastModifiedBy>
  <cp:revision>44</cp:revision>
  <dcterms:created xsi:type="dcterms:W3CDTF">2024-09-11T15:21:18Z</dcterms:created>
  <dcterms:modified xsi:type="dcterms:W3CDTF">2026-04-04T15:48:14Z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