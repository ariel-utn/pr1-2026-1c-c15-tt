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9" r:id="rId3"/>
    <p:sldId id="322" r:id="rId4"/>
    <p:sldId id="321" r:id="rId5"/>
    <p:sldId id="316" r:id="rId6"/>
    <p:sldId id="314" r:id="rId7"/>
    <p:sldId id="324" r:id="rId8"/>
  </p:sldIdLst>
  <p:sldSz cx="9144000" cy="5143500" type="screen16x9"/>
  <p:notesSz cx="9144000" cy="51435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02" y="7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AE8-F96C-2073-F240-58D203F6C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EB685-326D-BF42-9FA8-DBE7935C1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F85AA-C6B6-0176-2899-9F67F75E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C410E-519D-A66F-8517-ECEA92DA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78098-6905-38A5-2A92-7B8EF03C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486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353A-37A7-58CF-A687-D1CF48A7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1C46-B13F-16C2-3B05-07A88B81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FA4F7-2220-1A06-27AD-7ED8577E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5E456-18D3-896F-C7F9-A488CF30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8697D-55E0-8496-47FD-7EA0985A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496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0602-D645-3AC9-9D19-3BAE5D28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7C6A8-E18E-4D78-6829-F17C18A0E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8FC0-3BC1-4B02-9BB8-9344FDF9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EE21-A18C-0927-6F02-94D3D8F1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4FC6-31D8-7275-D2E7-4F770DDE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919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4C46-1B00-5B94-3721-63A4F485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03A7-B709-5735-AF7C-85D945817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BB35-6E58-1F96-C5FE-D3A75FC3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16884-F52F-3F58-3B4D-49697AED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616FB-FD18-83FB-7A68-1E8097CE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DD934-FB1E-FB03-E67F-9809309B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32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958-2E17-5607-49A1-575BDD97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E781-2C4F-F7B9-E5CA-A3DC8837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7D54C-D6D8-B2AE-02B4-26A098B64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B8E0E-11D3-4D36-043D-B49B87F3F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35950-F75A-AA3A-4AF0-66F45AD69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1E08D-C26C-59A1-6FE9-AA8C8091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C3A60-0BA8-FF38-B149-4F1F0F05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26058-518A-296C-918E-A0C41BD0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058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1B68-1736-5B50-9CCC-02121372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465D7-CED5-23FB-E4F9-A65D3CFD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6A6FC-015A-BB34-E99A-AF820495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3C009-7EC5-4010-6B33-0B1850B5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250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7172F-3DC6-BD6D-96A2-D14D84D9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9EFAD-AACE-C45F-F625-CCB5E7C4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E250-4659-7CEF-132F-F775A006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811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2E55-49CC-5FEF-4CA5-E54436E2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DB36-73A9-7816-73DA-2C1CF58D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ED33F-CFA9-7CBC-6BAA-C41B034D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87B9-C74E-056C-22A8-21D6D776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F53D4-B0C6-F375-1496-CD603553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92E1-5AB8-9249-1452-186F660E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449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D1F9-6386-2F14-87DD-A02B226C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9F339-3325-FC35-E15E-14B1384F6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47418-1674-C966-8EC8-CE0909B7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00F7E-4333-91A7-4EAD-F9235C29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98764-76BA-8E32-8021-B71FA568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D4C3-603E-69BD-9424-87C09AE6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85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849B-77FF-B592-8B81-2ADB8309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5CF35-3FFF-F18B-D276-F529BBA2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BEB8B-6C04-26AB-F180-6CD7ECAA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BCD26-286F-8DC9-43D7-33C5C590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F0F16-7C99-D58C-332F-B187B34F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302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04AE7-2DDE-AA65-7363-FAD6D319D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C4506-C37F-F669-CD59-B47698E4A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5F10-AFE3-C119-8A0A-9B2B6C9D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FCA6-2B6E-5E0A-F23F-09641642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DA82-AC26-4449-C984-042CD608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5511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5651" y="1389246"/>
            <a:ext cx="3282950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05676" y="1538471"/>
            <a:ext cx="3896995" cy="22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4276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91047" y="2234251"/>
            <a:ext cx="156190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65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060D5-61DB-3807-D335-042917A4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7D887-ECD3-E332-3382-46688822D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CF68-C4DE-14A6-FA5F-CEF08F20E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DC3C9-B55F-9104-7762-E1D3C01F0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9A71E-2F9F-227A-46BD-3910CE8F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743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0" y="438150"/>
            <a:ext cx="9144000" cy="821378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1594" marR="5080" indent="-49530" algn="ctr">
              <a:lnSpc>
                <a:spcPts val="6230"/>
              </a:lnSpc>
              <a:spcBef>
                <a:spcPts val="204"/>
              </a:spcBef>
            </a:pPr>
            <a:r>
              <a:rPr lang="es-ES" sz="5200" spc="45" dirty="0">
                <a:latin typeface="Google Sans Text"/>
                <a:cs typeface="Trebuchet MS"/>
              </a:rPr>
              <a:t>Programación I</a:t>
            </a:r>
            <a:endParaRPr sz="5200" dirty="0">
              <a:latin typeface="Google Sans Text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789484"/>
            <a:ext cx="7848599" cy="26058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s-ES" sz="2800" dirty="0"/>
              <a:t>Operadores Relacionales: </a:t>
            </a:r>
          </a:p>
          <a:p>
            <a:pPr marL="12700" algn="ctr">
              <a:spcBef>
                <a:spcPts val="100"/>
              </a:spcBef>
            </a:pPr>
            <a:r>
              <a:rPr lang="es-ES" sz="2400" dirty="0"/>
              <a:t>La base de las condiciones</a:t>
            </a:r>
          </a:p>
          <a:p>
            <a:pPr marL="12700" algn="ctr">
              <a:spcBef>
                <a:spcPts val="100"/>
              </a:spcBef>
            </a:pPr>
            <a:endParaRPr lang="es-ES" sz="2400" dirty="0">
              <a:latin typeface="Google Sans Tex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dirty="0"/>
              <a:t>Los operadores relacionales, también llamados operadores de comparación, son símbolos que permiten comparar dos valores o expresiones. El resultado de esta comparación es siempre un valor lógico: </a:t>
            </a:r>
            <a:r>
              <a:rPr lang="es-ES" b="1" dirty="0"/>
              <a:t>Verdadero</a:t>
            </a:r>
            <a:r>
              <a:rPr lang="es-ES" dirty="0"/>
              <a:t> o </a:t>
            </a:r>
            <a:r>
              <a:rPr lang="es-ES" b="1" dirty="0"/>
              <a:t>Falso</a:t>
            </a:r>
            <a:r>
              <a:rPr lang="es-ES" dirty="0"/>
              <a:t>. Son los ladrillos fundamentales para construir estructuras de decisión (</a:t>
            </a:r>
            <a:r>
              <a:rPr lang="es-ES" dirty="0" err="1"/>
              <a:t>if</a:t>
            </a:r>
            <a:r>
              <a:rPr lang="es-ES" dirty="0"/>
              <a:t>, switch) y ciclos (</a:t>
            </a:r>
            <a:r>
              <a:rPr lang="es-ES" dirty="0" err="1"/>
              <a:t>while</a:t>
            </a:r>
            <a:r>
              <a:rPr lang="es-ES" dirty="0"/>
              <a:t>, </a:t>
            </a:r>
            <a:r>
              <a:rPr lang="es-ES" dirty="0" err="1"/>
              <a:t>for</a:t>
            </a:r>
            <a:r>
              <a:rPr lang="es-ES" dirty="0"/>
              <a:t>).</a:t>
            </a:r>
            <a:endParaRPr lang="es-ES" sz="2800" dirty="0">
              <a:latin typeface="Google Sans Text"/>
              <a:cs typeface="Roboto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8A7AD4D-0BA3-262D-00C5-5FC81764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0BCE45-CD4B-A752-82A9-7725EDDA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3307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3200" dirty="0">
                <a:latin typeface="Google Sans Text"/>
              </a:rPr>
              <a:t>Los Operadores Relacionales</a:t>
            </a:r>
            <a:endParaRPr sz="3200" spc="-65" dirty="0">
              <a:latin typeface="Google Sans Tex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FA64904-9FF3-8949-2D5F-64E0E20B7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17704"/>
              </p:ext>
            </p:extLst>
          </p:nvPr>
        </p:nvGraphicFramePr>
        <p:xfrm>
          <a:off x="1895060" y="1123950"/>
          <a:ext cx="5353880" cy="3441172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845466">
                  <a:extLst>
                    <a:ext uri="{9D8B030D-6E8A-4147-A177-3AD203B41FA5}">
                      <a16:colId xmlns:a16="http://schemas.microsoft.com/office/drawing/2014/main" val="838414161"/>
                    </a:ext>
                  </a:extLst>
                </a:gridCol>
                <a:gridCol w="1845466">
                  <a:extLst>
                    <a:ext uri="{9D8B030D-6E8A-4147-A177-3AD203B41FA5}">
                      <a16:colId xmlns:a16="http://schemas.microsoft.com/office/drawing/2014/main" val="1106762690"/>
                    </a:ext>
                  </a:extLst>
                </a:gridCol>
                <a:gridCol w="1662948">
                  <a:extLst>
                    <a:ext uri="{9D8B030D-6E8A-4147-A177-3AD203B41FA5}">
                      <a16:colId xmlns:a16="http://schemas.microsoft.com/office/drawing/2014/main" val="1371686675"/>
                    </a:ext>
                  </a:extLst>
                </a:gridCol>
              </a:tblGrid>
              <a:tr h="4660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Significado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C++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Ejemplo (C++)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83471" marT="139118" marB="139118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069396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Mayor que</a:t>
                      </a: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&gt;</a:t>
                      </a:r>
                      <a:endParaRPr lang="es-AR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 &gt; B</a:t>
                      </a:r>
                      <a:endParaRPr lang="es-A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83471" marT="139118" marB="139118" anchor="ctr"/>
                </a:tc>
                <a:extLst>
                  <a:ext uri="{0D108BD9-81ED-4DB2-BD59-A6C34878D82A}">
                    <a16:rowId xmlns:a16="http://schemas.microsoft.com/office/drawing/2014/main" val="255427514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Menor que</a:t>
                      </a: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</a:t>
                      </a:r>
                      <a:endParaRPr lang="es-AR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 &lt; B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83471" marT="139118" marB="139118" anchor="ctr"/>
                </a:tc>
                <a:extLst>
                  <a:ext uri="{0D108BD9-81ED-4DB2-BD59-A6C34878D82A}">
                    <a16:rowId xmlns:a16="http://schemas.microsoft.com/office/drawing/2014/main" val="731175250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Mayor o igual</a:t>
                      </a: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&gt;=</a:t>
                      </a:r>
                      <a:endParaRPr lang="es-AR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 &gt;= B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83471" marT="139118" marB="139118" anchor="ctr"/>
                </a:tc>
                <a:extLst>
                  <a:ext uri="{0D108BD9-81ED-4DB2-BD59-A6C34878D82A}">
                    <a16:rowId xmlns:a16="http://schemas.microsoft.com/office/drawing/2014/main" val="3561192376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Menor o igual</a:t>
                      </a: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&lt;=</a:t>
                      </a:r>
                      <a:endParaRPr lang="es-AR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 &lt;= B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83471" marT="139118" marB="139118" anchor="ctr"/>
                </a:tc>
                <a:extLst>
                  <a:ext uri="{0D108BD9-81ED-4DB2-BD59-A6C34878D82A}">
                    <a16:rowId xmlns:a16="http://schemas.microsoft.com/office/drawing/2014/main" val="3605457718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Igual que</a:t>
                      </a: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==</a:t>
                      </a:r>
                      <a:endParaRPr lang="es-AR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 == B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83471" marT="139118" marB="139118" anchor="ctr"/>
                </a:tc>
                <a:extLst>
                  <a:ext uri="{0D108BD9-81ED-4DB2-BD59-A6C34878D82A}">
                    <a16:rowId xmlns:a16="http://schemas.microsoft.com/office/drawing/2014/main" val="678235977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Distinto que</a:t>
                      </a: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!=</a:t>
                      </a:r>
                      <a:endParaRPr lang="es-AR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104338" marT="139118" marB="139118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AR" sz="14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 != B</a:t>
                      </a:r>
                      <a:endParaRPr lang="es-A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471" marR="83471" marT="139118" marB="139118" anchor="ctr"/>
                </a:tc>
                <a:extLst>
                  <a:ext uri="{0D108BD9-81ED-4DB2-BD59-A6C34878D82A}">
                    <a16:rowId xmlns:a16="http://schemas.microsoft.com/office/drawing/2014/main" val="2962828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44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6EE0-15EE-BCD7-6E26-8FA36F65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B3A12B-6DCC-48A9-E87C-D7C61536F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dirty="0">
                <a:latin typeface="Google Sans Text"/>
              </a:rPr>
              <a:t>Evaluación de Expresiones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A87505-BFAE-FE3B-1D1D-BE36FADB9454}"/>
              </a:ext>
            </a:extLst>
          </p:cNvPr>
          <p:cNvSpPr txBox="1"/>
          <p:nvPr/>
        </p:nvSpPr>
        <p:spPr>
          <a:xfrm>
            <a:off x="928255" y="1082173"/>
            <a:ext cx="7238999" cy="5751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s-ES" sz="1600" dirty="0">
              <a:latin typeface="Google Sans Tex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600" dirty="0">
              <a:latin typeface="Google Sans Tex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E84F6E-3E2D-9F41-A386-4C1C415501DD}"/>
              </a:ext>
            </a:extLst>
          </p:cNvPr>
          <p:cNvSpPr txBox="1"/>
          <p:nvPr/>
        </p:nvSpPr>
        <p:spPr>
          <a:xfrm>
            <a:off x="1143000" y="1177827"/>
            <a:ext cx="685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dirty="0">
                <a:latin typeface="Google Sans Text"/>
              </a:rPr>
              <a:t>Los operadores relacionales tienen </a:t>
            </a:r>
            <a:r>
              <a:rPr lang="es-ES" sz="1600" b="1" dirty="0">
                <a:latin typeface="Google Sans Text"/>
              </a:rPr>
              <a:t>menor prioridad</a:t>
            </a:r>
            <a:r>
              <a:rPr lang="es-ES" sz="1600" dirty="0">
                <a:latin typeface="Google Sans Text"/>
              </a:rPr>
              <a:t> que los operadores aritméticos. Esto significa que primero se realizan los cálculos y luego se comparan los resultados.</a:t>
            </a:r>
          </a:p>
          <a:p>
            <a:pPr>
              <a:buNone/>
            </a:pPr>
            <a:endParaRPr lang="es-ES" sz="1600" dirty="0">
              <a:latin typeface="Google Sans Text"/>
            </a:endParaRPr>
          </a:p>
          <a:p>
            <a:pPr>
              <a:buNone/>
            </a:pPr>
            <a:r>
              <a:rPr lang="es-ES" sz="1600" b="1" dirty="0">
                <a:latin typeface="Google Sans Text"/>
              </a:rPr>
              <a:t>Ejemplo de resolución:</a:t>
            </a:r>
            <a:r>
              <a:rPr lang="es-ES" sz="1600" dirty="0">
                <a:latin typeface="Google Sans Text"/>
              </a:rPr>
              <a:t> Si A = 5 y B = 3:</a:t>
            </a:r>
          </a:p>
          <a:p>
            <a:pPr>
              <a:buNone/>
            </a:pPr>
            <a:endParaRPr lang="es-ES" sz="1600" dirty="0">
              <a:latin typeface="Google Sans Text"/>
            </a:endParaRPr>
          </a:p>
          <a:p>
            <a:pPr lvl="1">
              <a:buFont typeface="+mj-lt"/>
              <a:buAutoNum type="arabicPeriod"/>
            </a:pPr>
            <a:r>
              <a:rPr lang="es-ES" sz="1600" dirty="0">
                <a:latin typeface="Google Sans Text"/>
              </a:rPr>
              <a:t> Expresión: A + B == 8</a:t>
            </a:r>
          </a:p>
          <a:p>
            <a:pPr lvl="1">
              <a:buFont typeface="+mj-lt"/>
              <a:buAutoNum type="arabicPeriod"/>
            </a:pPr>
            <a:r>
              <a:rPr lang="es-ES" sz="1600" dirty="0">
                <a:latin typeface="Google Sans Text"/>
              </a:rPr>
              <a:t> Primero la suma: 8 == 8</a:t>
            </a:r>
          </a:p>
          <a:p>
            <a:pPr lvl="1">
              <a:buFont typeface="+mj-lt"/>
              <a:buAutoNum type="arabicPeriod"/>
            </a:pPr>
            <a:r>
              <a:rPr lang="es-ES" sz="1600" dirty="0">
                <a:latin typeface="Google Sans Text"/>
              </a:rPr>
              <a:t> Resultado final: </a:t>
            </a:r>
            <a:r>
              <a:rPr lang="es-ES" sz="1600" b="1" dirty="0">
                <a:latin typeface="Google Sans Text"/>
              </a:rPr>
              <a:t>Verdadero</a:t>
            </a:r>
            <a:endParaRPr lang="es-ES" sz="16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749092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9512-7901-298F-47C9-4B14578E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64FCEC-D6ED-4845-A35C-44429A6FF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dirty="0">
                <a:latin typeface="Google Sans Text"/>
              </a:rPr>
              <a:t>Prioridad de Operadores Aritméticos en C++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B7A84DA-7609-2453-2490-97F9BC3BF60A}"/>
              </a:ext>
            </a:extLst>
          </p:cNvPr>
          <p:cNvSpPr txBox="1"/>
          <p:nvPr/>
        </p:nvSpPr>
        <p:spPr>
          <a:xfrm>
            <a:off x="949453" y="819150"/>
            <a:ext cx="7238999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b="1" dirty="0">
                <a:latin typeface="Google Sans Text"/>
              </a:rPr>
              <a:t>Ejemplos:</a:t>
            </a:r>
            <a:endParaRPr lang="en-US" sz="1600" dirty="0">
              <a:latin typeface="Google Sans Tex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3CC054C-23AC-BC13-09FF-E475B9BCE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003276"/>
              </p:ext>
            </p:extLst>
          </p:nvPr>
        </p:nvGraphicFramePr>
        <p:xfrm>
          <a:off x="2971800" y="1428750"/>
          <a:ext cx="3718948" cy="214557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636712">
                  <a:extLst>
                    <a:ext uri="{9D8B030D-6E8A-4147-A177-3AD203B41FA5}">
                      <a16:colId xmlns:a16="http://schemas.microsoft.com/office/drawing/2014/main" val="3151593743"/>
                    </a:ext>
                  </a:extLst>
                </a:gridCol>
                <a:gridCol w="2082236">
                  <a:extLst>
                    <a:ext uri="{9D8B030D-6E8A-4147-A177-3AD203B41FA5}">
                      <a16:colId xmlns:a16="http://schemas.microsoft.com/office/drawing/2014/main" val="2002015147"/>
                    </a:ext>
                  </a:extLst>
                </a:gridCol>
              </a:tblGrid>
              <a:tr h="296671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Expresión en C++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s-AR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Resultado</a:t>
                      </a:r>
                    </a:p>
                  </a:txBody>
                  <a:tcPr marL="152192" marR="86830" marT="76096" marB="76096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73638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4 + 2 * 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0564263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23 * 2 / 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9 (división entera)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8191747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23.0 * 2 / 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0216946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3 + 5 * (10 - (2 + 4))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2253899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0.35 + 5.09 - 14.0 / 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5.09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2970804"/>
                  </a:ext>
                </a:extLst>
              </a:tr>
              <a:tr h="29667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2.1 * (1.5 + 3.0 * 4.1)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s-A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28.98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980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86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E250-D174-E5A5-3B2E-2786D5DD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2EE2B6-23A7-954E-E8FC-A09B9BC6F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914400"/>
            <a:r>
              <a:rPr lang="es-ES" sz="3200" kern="1200" noProof="0" dirty="0">
                <a:solidFill>
                  <a:schemeClr val="tx1"/>
                </a:solidFill>
                <a:latin typeface="Google Sans Text"/>
              </a:rPr>
              <a:t>Ejemplo Práctico: </a:t>
            </a:r>
            <a:r>
              <a:rPr lang="es-AR" sz="3200" dirty="0"/>
              <a:t>Verificación de edad</a:t>
            </a:r>
            <a:endParaRPr lang="es-AR" sz="3200" kern="1200" spc="-65" noProof="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506DC9C-4274-127E-1DE1-AF220FD37C6D}"/>
              </a:ext>
            </a:extLst>
          </p:cNvPr>
          <p:cNvSpPr txBox="1"/>
          <p:nvPr/>
        </p:nvSpPr>
        <p:spPr>
          <a:xfrm>
            <a:off x="952500" y="804900"/>
            <a:ext cx="72389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1600" b="1" dirty="0">
                <a:latin typeface="Google Sans Text"/>
              </a:rPr>
              <a:t>Problema</a:t>
            </a:r>
            <a:r>
              <a:rPr lang="es-ES" sz="1600" dirty="0">
                <a:latin typeface="Google Sans Text"/>
              </a:rPr>
              <a:t>: Solicitar al usuario que ingrese su edad, determinar si es mayor de edad (18 años o más) y mostrar un cartel informando si lo es o no.</a:t>
            </a:r>
            <a:endParaRPr lang="en-US" sz="1600" dirty="0">
              <a:latin typeface="Google Sans Tex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E24F1B-3EB1-B820-C558-3653D1796BAE}"/>
              </a:ext>
            </a:extLst>
          </p:cNvPr>
          <p:cNvSpPr txBox="1"/>
          <p:nvPr/>
        </p:nvSpPr>
        <p:spPr>
          <a:xfrm>
            <a:off x="4571999" y="1632248"/>
            <a:ext cx="3221998" cy="1666482"/>
          </a:xfrm>
          <a:prstGeom prst="rect">
            <a:avLst/>
          </a:prstGeom>
          <a:solidFill>
            <a:schemeClr val="tx1"/>
          </a:solidFill>
          <a:ln w="9524">
            <a:solidFill>
              <a:schemeClr val="tx1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edad;</a:t>
            </a:r>
          </a:p>
          <a:p>
            <a:pPr>
              <a:lnSpc>
                <a:spcPts val="1425"/>
              </a:lnSpc>
              <a:buNone/>
            </a:pP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“Ingrese su edad: 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edad;</a:t>
            </a:r>
          </a:p>
          <a:p>
            <a:pPr>
              <a:lnSpc>
                <a:spcPts val="1425"/>
              </a:lnSpc>
              <a:buNone/>
            </a:pPr>
            <a:r>
              <a:rPr lang="es-ES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(edad 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s-ES" sz="1200" dirty="0">
                <a:solidFill>
                  <a:srgbClr val="CCCCCC"/>
                </a:solidFill>
                <a:latin typeface="Consolas" panose="020B0609020204030204" pitchFamily="49" charset="0"/>
              </a:rPr>
              <a:t>   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“Es mayor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s-ES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“No es mayor"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D32C621-81CD-DED9-317D-8B9C2ED0E35A}"/>
              </a:ext>
            </a:extLst>
          </p:cNvPr>
          <p:cNvSpPr txBox="1"/>
          <p:nvPr/>
        </p:nvSpPr>
        <p:spPr>
          <a:xfrm>
            <a:off x="5759242" y="3427826"/>
            <a:ext cx="847512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Google Sans Text"/>
                <a:cs typeface="Roboto"/>
              </a:rPr>
              <a:t>Códig</a:t>
            </a:r>
            <a:r>
              <a:rPr sz="1100" b="1" dirty="0">
                <a:latin typeface="Google Sans Text"/>
                <a:cs typeface="Roboto"/>
              </a:rPr>
              <a:t>o</a:t>
            </a:r>
            <a:r>
              <a:rPr sz="1100" b="1" spc="-5" dirty="0">
                <a:latin typeface="Google Sans Text"/>
                <a:cs typeface="Roboto"/>
              </a:rPr>
              <a:t> </a:t>
            </a:r>
            <a:r>
              <a:rPr sz="1100" b="1" spc="15" dirty="0">
                <a:latin typeface="Google Sans Text"/>
                <a:cs typeface="Roboto"/>
              </a:rPr>
              <a:t>C</a:t>
            </a:r>
            <a:r>
              <a:rPr lang="es-AR" sz="1100" b="1" spc="15" dirty="0">
                <a:latin typeface="Google Sans Text"/>
                <a:cs typeface="Roboto"/>
              </a:rPr>
              <a:t>++</a:t>
            </a:r>
            <a:endParaRPr sz="1100" dirty="0">
              <a:latin typeface="Google Sans Text"/>
              <a:cs typeface="Roboto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4045B8CC-8385-1388-3A28-7A35F5B54F2F}"/>
              </a:ext>
            </a:extLst>
          </p:cNvPr>
          <p:cNvSpPr txBox="1"/>
          <p:nvPr/>
        </p:nvSpPr>
        <p:spPr>
          <a:xfrm>
            <a:off x="2574110" y="3427827"/>
            <a:ext cx="627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Google Sans Text"/>
                <a:cs typeface="Roboto"/>
              </a:rPr>
              <a:t>Diagrama</a:t>
            </a:r>
            <a:endParaRPr sz="1100" dirty="0">
              <a:latin typeface="Google Sans Text"/>
              <a:cs typeface="Roboto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37FFCC3-24B8-F16C-2108-93B8306D4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32248"/>
            <a:ext cx="2880000" cy="17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7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CDD-5402-FD4C-D101-95CDF73C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864E8F-6CE5-B876-19FD-BCD3DB969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27" y="209550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dirty="0"/>
              <a:t>Errores Comunes en C++</a:t>
            </a:r>
            <a:endParaRPr lang="es-AR" spc="-65" dirty="0">
              <a:latin typeface="Google Sans Text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8B8796D8-DA2E-66EF-2B71-CC303B08F8AF}"/>
              </a:ext>
            </a:extLst>
          </p:cNvPr>
          <p:cNvSpPr txBox="1"/>
          <p:nvPr/>
        </p:nvSpPr>
        <p:spPr>
          <a:xfrm>
            <a:off x="609600" y="1086657"/>
            <a:ext cx="7723878" cy="747641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1600" dirty="0">
                <a:latin typeface="Google Sans Text"/>
              </a:rPr>
              <a:t>En C++, el uso de operadores relacionales es el motor de las estructuras de control. Un error aquí no suele romper el programa (compila), pero hace que el software tome decisiones equivocadas.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7AB505-5453-095F-0AFF-4E57C7CFAB56}"/>
              </a:ext>
            </a:extLst>
          </p:cNvPr>
          <p:cNvSpPr txBox="1"/>
          <p:nvPr/>
        </p:nvSpPr>
        <p:spPr>
          <a:xfrm>
            <a:off x="609600" y="2131957"/>
            <a:ext cx="75438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21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ES" sz="1600" b="1" i="0" dirty="0">
                <a:effectLst/>
                <a:latin typeface="Google Sans Text"/>
              </a:rPr>
              <a:t>El error "clásico": = vs ==</a:t>
            </a:r>
          </a:p>
          <a:p>
            <a:pPr algn="l">
              <a:spcAft>
                <a:spcPts val="825"/>
              </a:spcAft>
            </a:pPr>
            <a:r>
              <a:rPr lang="es-ES" sz="1600" b="0" i="0" dirty="0">
                <a:effectLst/>
                <a:latin typeface="Google Sans Text"/>
              </a:rPr>
              <a:t>Es, sin duda, el error más frecuente y difícil de detectar para quienes comienzan en C++.</a:t>
            </a:r>
          </a:p>
          <a:p>
            <a:pPr marL="800100" lvl="1" indent="-342900">
              <a:spcBef>
                <a:spcPts val="600"/>
              </a:spcBef>
              <a:spcAft>
                <a:spcPts val="825"/>
              </a:spcAft>
              <a:buFont typeface="Wingdings" panose="05000000000000000000" pitchFamily="2" charset="2"/>
              <a:buChar char="§"/>
            </a:pPr>
            <a:r>
              <a:rPr lang="es-ES" sz="1600" b="1" i="0" dirty="0">
                <a:effectLst/>
                <a:latin typeface="Google Sans Text"/>
              </a:rPr>
              <a:t>Asignación (</a:t>
            </a:r>
            <a:r>
              <a:rPr lang="es-ES" sz="1600" b="0" i="0" dirty="0">
                <a:effectLst/>
                <a:latin typeface="Google Sans Text"/>
              </a:rPr>
              <a:t>=</a:t>
            </a:r>
            <a:r>
              <a:rPr lang="es-ES" sz="1600" b="1" i="0" dirty="0">
                <a:effectLst/>
                <a:latin typeface="Google Sans Text"/>
              </a:rPr>
              <a:t>):</a:t>
            </a:r>
            <a:r>
              <a:rPr lang="es-ES" sz="1600" b="0" i="0" dirty="0">
                <a:effectLst/>
                <a:latin typeface="Google Sans Text"/>
              </a:rPr>
              <a:t> Modifica el valor de la variable. A = 5 guarda un 5 en A.</a:t>
            </a:r>
          </a:p>
          <a:p>
            <a:pPr marL="800100" lvl="1" indent="-342900">
              <a:spcBef>
                <a:spcPts val="600"/>
              </a:spcBef>
              <a:spcAft>
                <a:spcPts val="825"/>
              </a:spcAft>
              <a:buFont typeface="Wingdings" panose="05000000000000000000" pitchFamily="2" charset="2"/>
              <a:buChar char="§"/>
            </a:pPr>
            <a:r>
              <a:rPr lang="es-ES" sz="1600" b="1" i="0" dirty="0">
                <a:effectLst/>
                <a:latin typeface="Google Sans Text"/>
              </a:rPr>
              <a:t>Comparación (</a:t>
            </a:r>
            <a:r>
              <a:rPr lang="es-ES" sz="1600" b="0" i="0" dirty="0">
                <a:effectLst/>
                <a:latin typeface="Google Sans Text"/>
              </a:rPr>
              <a:t>==</a:t>
            </a:r>
            <a:r>
              <a:rPr lang="es-ES" sz="1600" b="1" i="0" dirty="0">
                <a:effectLst/>
                <a:latin typeface="Google Sans Text"/>
              </a:rPr>
              <a:t>):</a:t>
            </a:r>
            <a:r>
              <a:rPr lang="es-ES" sz="1600" b="0" i="0" dirty="0">
                <a:effectLst/>
                <a:latin typeface="Google Sans Text"/>
              </a:rPr>
              <a:t> Consulta si son iguales. A == 5 devuelve verdadero o falso.</a:t>
            </a:r>
          </a:p>
          <a:p>
            <a:pPr algn="l">
              <a:spcAft>
                <a:spcPts val="825"/>
              </a:spcAft>
            </a:pPr>
            <a:r>
              <a:rPr lang="es-ES" sz="1600" b="1" i="0" dirty="0">
                <a:effectLst/>
                <a:latin typeface="Google Sans Text"/>
              </a:rPr>
              <a:t>¿Por qué es peligroso?</a:t>
            </a:r>
            <a:r>
              <a:rPr lang="es-ES" sz="1600" b="0" i="0" dirty="0">
                <a:effectLst/>
                <a:latin typeface="Google Sans Text"/>
              </a:rPr>
              <a:t> Si escribís </a:t>
            </a:r>
            <a:r>
              <a:rPr lang="es-ES" sz="1600" b="0" i="0" dirty="0" err="1">
                <a:effectLst/>
                <a:latin typeface="Google Sans Text"/>
              </a:rPr>
              <a:t>if</a:t>
            </a:r>
            <a:r>
              <a:rPr lang="es-ES" sz="1600" b="0" i="0" dirty="0">
                <a:effectLst/>
                <a:latin typeface="Google Sans Text"/>
              </a:rPr>
              <a:t> (</a:t>
            </a:r>
            <a:r>
              <a:rPr lang="es-ES" sz="1600" b="0" i="0" dirty="0" err="1">
                <a:effectLst/>
                <a:latin typeface="Google Sans Text"/>
              </a:rPr>
              <a:t>opcion</a:t>
            </a:r>
            <a:r>
              <a:rPr lang="es-ES" sz="1600" b="0" i="0" dirty="0">
                <a:effectLst/>
                <a:latin typeface="Google Sans Text"/>
              </a:rPr>
              <a:t> = 1), C++ </a:t>
            </a:r>
            <a:r>
              <a:rPr lang="es-ES" sz="1600" b="1" i="0" dirty="0">
                <a:effectLst/>
                <a:latin typeface="Google Sans Text"/>
              </a:rPr>
              <a:t>asigna</a:t>
            </a:r>
            <a:r>
              <a:rPr lang="es-ES" sz="1600" b="0" i="0" dirty="0">
                <a:effectLst/>
                <a:latin typeface="Google Sans Text"/>
              </a:rPr>
              <a:t> el 1 a </a:t>
            </a:r>
            <a:r>
              <a:rPr lang="es-ES" sz="1600" b="0" i="0" dirty="0" err="1">
                <a:effectLst/>
                <a:latin typeface="Google Sans Text"/>
              </a:rPr>
              <a:t>opcion</a:t>
            </a:r>
            <a:r>
              <a:rPr lang="es-ES" sz="1600" b="0" i="0" dirty="0">
                <a:effectLst/>
                <a:latin typeface="Google Sans Text"/>
              </a:rPr>
              <a:t>. Como en C++ cualquier valor distinto de cero se considera "verdadero", la condición siempre se cumplirá, sin importar qué valor tenía la variable antes.</a:t>
            </a:r>
          </a:p>
        </p:txBody>
      </p:sp>
    </p:spTree>
    <p:extLst>
      <p:ext uri="{BB962C8B-B14F-4D97-AF65-F5344CB8AC3E}">
        <p14:creationId xmlns:p14="http://schemas.microsoft.com/office/powerpoint/2010/main" val="184255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8B39-56EF-9CDF-D880-2DD1AA9E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551C41-D50C-9F89-DD26-2F7DE8C14E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27" y="209550"/>
            <a:ext cx="91440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dirty="0"/>
              <a:t>Errores Comunes</a:t>
            </a:r>
            <a:endParaRPr lang="es-AR" spc="-65" dirty="0">
              <a:latin typeface="Google Sans Tex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727FD1-D875-F4C2-3CBF-A9FD1CBC1DD2}"/>
              </a:ext>
            </a:extLst>
          </p:cNvPr>
          <p:cNvSpPr txBox="1"/>
          <p:nvPr/>
        </p:nvSpPr>
        <p:spPr>
          <a:xfrm>
            <a:off x="807027" y="730205"/>
            <a:ext cx="7543800" cy="3719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2100"/>
              </a:spcBef>
              <a:spcAft>
                <a:spcPts val="600"/>
              </a:spcAft>
            </a:pPr>
            <a:r>
              <a:rPr lang="es-ES" sz="1600" b="1" dirty="0">
                <a:latin typeface="Google Sans Text"/>
              </a:rPr>
              <a:t>2.    El "Punto y Coma" Traicionero</a:t>
            </a:r>
          </a:p>
          <a:p>
            <a:pPr>
              <a:lnSpc>
                <a:spcPts val="1500"/>
              </a:lnSpc>
              <a:spcAft>
                <a:spcPts val="825"/>
              </a:spcAft>
            </a:pPr>
            <a:r>
              <a:rPr lang="es-ES" sz="1600" dirty="0">
                <a:latin typeface="Google Sans Text"/>
              </a:rPr>
              <a:t>Poner un ; después de la condición anula el efecto del </a:t>
            </a:r>
            <a:r>
              <a:rPr lang="es-ES" sz="1600" dirty="0" err="1">
                <a:latin typeface="Google Sans Text"/>
              </a:rPr>
              <a:t>if</a:t>
            </a:r>
            <a:r>
              <a:rPr lang="es-ES" sz="1600" dirty="0">
                <a:latin typeface="Google Sans Text"/>
              </a:rPr>
              <a:t>.</a:t>
            </a:r>
          </a:p>
          <a:p>
            <a:pPr marL="800100" lvl="1" indent="-342900">
              <a:lnSpc>
                <a:spcPts val="1500"/>
              </a:lnSpc>
              <a:spcBef>
                <a:spcPts val="600"/>
              </a:spcBef>
              <a:spcAft>
                <a:spcPts val="825"/>
              </a:spcAft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</a:rPr>
              <a:t>Error:</a:t>
            </a:r>
            <a:r>
              <a:rPr lang="es-ES" sz="1600" dirty="0">
                <a:latin typeface="Google Sans Text"/>
              </a:rPr>
              <a:t> </a:t>
            </a:r>
            <a:r>
              <a:rPr lang="es-ES" sz="1600" dirty="0" err="1">
                <a:latin typeface="Google Sans Text"/>
              </a:rPr>
              <a:t>if</a:t>
            </a:r>
            <a:r>
              <a:rPr lang="es-ES" sz="1600" dirty="0">
                <a:latin typeface="Google Sans Text"/>
              </a:rPr>
              <a:t> (nota &gt;= 7);</a:t>
            </a:r>
          </a:p>
          <a:p>
            <a:pPr marL="800100" lvl="1" indent="-342900">
              <a:lnSpc>
                <a:spcPts val="1500"/>
              </a:lnSpc>
              <a:spcBef>
                <a:spcPts val="600"/>
              </a:spcBef>
              <a:spcAft>
                <a:spcPts val="825"/>
              </a:spcAft>
              <a:buFont typeface="Wingdings" panose="05000000000000000000" pitchFamily="2" charset="2"/>
              <a:buChar char="§"/>
            </a:pPr>
            <a:r>
              <a:rPr lang="es-ES" sz="1600" b="1" dirty="0">
                <a:latin typeface="Google Sans Text"/>
              </a:rPr>
              <a:t>Resultado:</a:t>
            </a:r>
            <a:r>
              <a:rPr lang="es-ES" sz="1600" dirty="0">
                <a:latin typeface="Google Sans Text"/>
              </a:rPr>
              <a:t> El programa interpreta que el </a:t>
            </a:r>
            <a:r>
              <a:rPr lang="es-ES" sz="1600" dirty="0" err="1">
                <a:latin typeface="Google Sans Text"/>
              </a:rPr>
              <a:t>if</a:t>
            </a:r>
            <a:r>
              <a:rPr lang="es-ES" sz="1600" dirty="0">
                <a:latin typeface="Google Sans Text"/>
              </a:rPr>
              <a:t> termina ahí y no hace nada. El bloque de código que sigue se ejecutará </a:t>
            </a:r>
            <a:r>
              <a:rPr lang="es-ES" sz="1600" b="1" dirty="0">
                <a:latin typeface="Google Sans Text"/>
              </a:rPr>
              <a:t>siempre</a:t>
            </a:r>
            <a:r>
              <a:rPr lang="es-ES" sz="1600" dirty="0">
                <a:latin typeface="Google Sans Text"/>
              </a:rPr>
              <a:t>, ya que quedó fuera de la estructura de decisión.</a:t>
            </a:r>
          </a:p>
          <a:p>
            <a:pPr marL="342900" indent="-342900">
              <a:buAutoNum type="arabicPeriod" startAt="3"/>
            </a:pPr>
            <a:r>
              <a:rPr lang="es-ES" sz="1600" b="1" i="0" dirty="0">
                <a:effectLst/>
                <a:latin typeface="Google Sans Text"/>
              </a:rPr>
              <a:t>Comparaciones Encadenadas (Rangos)</a:t>
            </a:r>
          </a:p>
          <a:p>
            <a:r>
              <a:rPr lang="es-ES" sz="1600" b="0" i="0" dirty="0">
                <a:effectLst/>
                <a:latin typeface="Google Sans Text"/>
              </a:rPr>
              <a:t>En matemática es común escribir 10&lt;</a:t>
            </a:r>
            <a:r>
              <a:rPr lang="es-ES" sz="1600" b="0" i="1" dirty="0">
                <a:effectLst/>
                <a:latin typeface="Google Sans Text"/>
              </a:rPr>
              <a:t>x</a:t>
            </a:r>
            <a:r>
              <a:rPr lang="es-ES" sz="1600" b="0" i="0" dirty="0">
                <a:effectLst/>
                <a:latin typeface="Google Sans Text"/>
              </a:rPr>
              <a:t>&lt;20. En C++, esto </a:t>
            </a:r>
            <a:r>
              <a:rPr lang="es-ES" sz="1600" b="1" i="0" dirty="0">
                <a:effectLst/>
                <a:latin typeface="Google Sans Text"/>
              </a:rPr>
              <a:t>no funciona</a:t>
            </a:r>
            <a:r>
              <a:rPr lang="es-ES" sz="1600" b="0" i="0" dirty="0">
                <a:effectLst/>
                <a:latin typeface="Google Sans Text"/>
              </a:rPr>
              <a:t> como </a:t>
            </a:r>
            <a:r>
              <a:rPr lang="es-ES" sz="1600" b="0" i="0" dirty="0" err="1">
                <a:effectLst/>
                <a:latin typeface="Google Sans Text"/>
              </a:rPr>
              <a:t>esperás</a:t>
            </a:r>
            <a:r>
              <a:rPr lang="es-ES" sz="1600" b="0" i="0" dirty="0">
                <a:effectLst/>
                <a:latin typeface="Google Sans Text"/>
              </a:rPr>
              <a:t>.</a:t>
            </a:r>
          </a:p>
          <a:p>
            <a:pPr marL="800100" lvl="1" indent="-342900">
              <a:lnSpc>
                <a:spcPts val="1500"/>
              </a:lnSpc>
              <a:spcBef>
                <a:spcPts val="600"/>
              </a:spcBef>
              <a:spcAft>
                <a:spcPts val="825"/>
              </a:spcAft>
              <a:buFont typeface="Wingdings" panose="05000000000000000000" pitchFamily="2" charset="2"/>
              <a:buChar char="§"/>
            </a:pPr>
            <a:r>
              <a:rPr lang="es-ES" sz="1600" b="1" i="0" dirty="0">
                <a:effectLst/>
                <a:latin typeface="Google Sans Text"/>
              </a:rPr>
              <a:t>Incorrecto:</a:t>
            </a:r>
            <a:r>
              <a:rPr lang="es-ES" sz="1600" b="0" i="0" dirty="0">
                <a:effectLst/>
                <a:latin typeface="Google Sans Text"/>
              </a:rPr>
              <a:t> </a:t>
            </a:r>
            <a:r>
              <a:rPr lang="es-ES" sz="1600" b="0" i="0" dirty="0" err="1">
                <a:effectLst/>
                <a:latin typeface="Google Sans Text"/>
              </a:rPr>
              <a:t>if</a:t>
            </a:r>
            <a:r>
              <a:rPr lang="es-ES" sz="1600" b="0" i="0" dirty="0">
                <a:effectLst/>
                <a:latin typeface="Google Sans Text"/>
              </a:rPr>
              <a:t> (10 &lt; x &lt; 20)</a:t>
            </a:r>
          </a:p>
          <a:p>
            <a:pPr marL="800100" lvl="1" indent="-342900">
              <a:lnSpc>
                <a:spcPts val="1500"/>
              </a:lnSpc>
              <a:spcBef>
                <a:spcPts val="600"/>
              </a:spcBef>
              <a:spcAft>
                <a:spcPts val="825"/>
              </a:spcAft>
              <a:buFont typeface="Wingdings" panose="05000000000000000000" pitchFamily="2" charset="2"/>
              <a:buChar char="§"/>
            </a:pPr>
            <a:r>
              <a:rPr lang="es-ES" sz="1600" b="1" i="0" dirty="0">
                <a:effectLst/>
                <a:latin typeface="Google Sans Text"/>
              </a:rPr>
              <a:t>Lo que hace C++:</a:t>
            </a:r>
            <a:r>
              <a:rPr lang="es-ES" sz="1600" b="0" i="0" dirty="0">
                <a:effectLst/>
                <a:latin typeface="Google Sans Text"/>
              </a:rPr>
              <a:t> Evalúa 10 &lt; x (da 0 o 1) y luego compara ese 0 o 1 con 20. El resultado será casi siempre verdadero, pero lógicamente erróneo.</a:t>
            </a:r>
          </a:p>
          <a:p>
            <a:pPr marL="800100" lvl="1" indent="-342900">
              <a:lnSpc>
                <a:spcPts val="1500"/>
              </a:lnSpc>
              <a:spcBef>
                <a:spcPts val="600"/>
              </a:spcBef>
              <a:spcAft>
                <a:spcPts val="825"/>
              </a:spcAft>
              <a:buFont typeface="Wingdings" panose="05000000000000000000" pitchFamily="2" charset="2"/>
              <a:buChar char="§"/>
            </a:pPr>
            <a:r>
              <a:rPr lang="es-ES" sz="1600" b="1" i="0" dirty="0">
                <a:effectLst/>
                <a:latin typeface="Google Sans Text"/>
              </a:rPr>
              <a:t>Correcto:</a:t>
            </a:r>
            <a:r>
              <a:rPr lang="es-ES" sz="1600" b="0" i="0" dirty="0">
                <a:effectLst/>
                <a:latin typeface="Google Sans Text"/>
              </a:rPr>
              <a:t> Usar operadores lógicos para unir dos comparaciones: </a:t>
            </a:r>
            <a:r>
              <a:rPr lang="es-ES" sz="1600" b="0" i="0" dirty="0" err="1">
                <a:effectLst/>
                <a:latin typeface="Google Sans Text"/>
              </a:rPr>
              <a:t>if</a:t>
            </a:r>
            <a:r>
              <a:rPr lang="es-ES" sz="1600" b="0" i="0" dirty="0">
                <a:effectLst/>
                <a:latin typeface="Google Sans Text"/>
              </a:rPr>
              <a:t> (x &gt; 10 &amp;&amp; x &lt; 20).</a:t>
            </a:r>
          </a:p>
        </p:txBody>
      </p:sp>
    </p:spTree>
    <p:extLst>
      <p:ext uri="{BB962C8B-B14F-4D97-AF65-F5344CB8AC3E}">
        <p14:creationId xmlns:p14="http://schemas.microsoft.com/office/powerpoint/2010/main" val="35603145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2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</TotalTime>
  <Words>644</Words>
  <Application>Microsoft Office PowerPoint</Application>
  <PresentationFormat>Presentación en pantalla (16:9)</PresentationFormat>
  <Paragraphs>81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Google Sans Text</vt:lpstr>
      <vt:lpstr>Roboto</vt:lpstr>
      <vt:lpstr>Trebuchet MS</vt:lpstr>
      <vt:lpstr>Wingdings</vt:lpstr>
      <vt:lpstr>1_Office Theme</vt:lpstr>
      <vt:lpstr>Presentación de PowerPoint</vt:lpstr>
      <vt:lpstr>Los Operadores Relacionales</vt:lpstr>
      <vt:lpstr>Evaluación de Expresiones</vt:lpstr>
      <vt:lpstr>Prioridad de Operadores Aritméticos en C++</vt:lpstr>
      <vt:lpstr>Ejemplo Práctico: Verificación de edad</vt:lpstr>
      <vt:lpstr>Errores Comunes en C++</vt:lpstr>
      <vt:lpstr>Errores Comunes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LAB1 - Decisión</dc:title>
  <cp:lastModifiedBy>Ariel Sebastian Tapia</cp:lastModifiedBy>
  <cp:revision>46</cp:revision>
  <dcterms:created xsi:type="dcterms:W3CDTF">2024-09-11T15:21:18Z</dcterms:created>
  <dcterms:modified xsi:type="dcterms:W3CDTF">2026-04-05T00:06:03Z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