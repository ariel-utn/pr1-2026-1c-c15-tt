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6" r:id="rId1"/>
  </p:sldMasterIdLst>
  <p:sldIdLst>
    <p:sldId id="256" r:id="rId2"/>
    <p:sldId id="299" r:id="rId3"/>
    <p:sldId id="311" r:id="rId4"/>
    <p:sldId id="318" r:id="rId5"/>
    <p:sldId id="315" r:id="rId6"/>
    <p:sldId id="295" r:id="rId7"/>
    <p:sldId id="316" r:id="rId8"/>
    <p:sldId id="317" r:id="rId9"/>
    <p:sldId id="314" r:id="rId10"/>
  </p:sldIdLst>
  <p:sldSz cx="9144000" cy="5143500" type="screen16x9"/>
  <p:notesSz cx="9144000" cy="51435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84E427A-3D55-4303-BF80-6455036E1DE7}" styleName="Estilo temático 1 - Énfasis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Estilo temático 1 - Énfasis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C2FFA5D-87B4-456A-9821-1D502468CF0F}" styleName="Estilo temático 1 - Énfasis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1FECB4D8-DB02-4DC6-A0A2-4F2EBAE1DC90}" styleName="Estilo medio 1 - Énfasis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9" d="100"/>
          <a:sy n="79" d="100"/>
        </p:scale>
        <p:origin x="108" y="107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2CAE8-F96C-2073-F240-58D203F6C5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1EB685-326D-BF42-9FA8-DBE7935C18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FF85AA-C6B6-0176-2899-9F67F75EF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4C410E-519D-A66F-8517-ECEA92DAA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178098-6905-38A5-2A92-7B8EF03C0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7648628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A6353A-37A7-58CF-A687-D1CF48A75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F41C46-B13F-16C2-3B05-07A88B8118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7FA4F7-2220-1A06-27AD-7ED8577E3E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A5E456-18D3-896F-C7F9-A488CF309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08697D-55E0-8496-47FD-7EA0985AE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0149644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910602-D645-3AC9-9D19-3BAE5D2840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E7C6A8-E18E-4D78-6829-F17C18A0E1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238FC0-3BC1-4B02-9BB8-9344FDF981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02EE21-A18C-0927-6F02-94D3D8F129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4F4FC6-31D8-7275-D2E7-4F770DDE9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7391962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F04C46-1B00-5B94-3721-63A4F48578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7F03A7-B709-5735-AF7C-85D945817E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A1BB35-6E58-1F96-C5FE-D3A75FC399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216884-F52F-3F58-3B4D-49697AED00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6616FB-FD18-83FB-7A68-1E8097CE1E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EDD934-FB1E-FB03-E67F-9809309BE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8432378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5E958-2E17-5607-49A1-575BDD97F5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B7E781-2C4F-F7B9-E5CA-A3DC8837AB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87D54C-D6D8-B2AE-02B4-26A098B648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4B8E0E-11D3-4D36-043D-B49B87F3FA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4E35950-F75A-AA3A-4AF0-66F45AD694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91E08D-C26C-59A1-6FE9-AA8C8091C5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72C3A60-0BA8-FF38-B149-4F1F0F0560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826058-518A-296C-918E-A0C41BD0A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405870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C1B68-1736-5B50-9CCC-021213727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A8465D7-CED5-23FB-E4F9-A65D3CFD68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06A6FC-015A-BB34-E99A-AF820495DA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D3C009-7EC5-4010-6B33-0B1850B5E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2425090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777172F-3DC6-BD6D-96A2-D14D84D93B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9C9EFAD-AACE-C45F-F625-CCB5E7C4FE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32E250-4659-7CEF-132F-F775A0065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0281194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442E55-49CC-5FEF-4CA5-E54436E272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AEDB36-73A9-7816-73DA-2C1CF58DB6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EED33F-CFA9-7CBC-6BAA-C41B034DFA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F387B9-C74E-056C-22A8-21D6D776F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1F53D4-B0C6-F375-1496-CD603553C7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2992E1-5AB8-9249-1452-186F660E2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8444918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29D1F9-6386-2F14-87DD-A02B226C8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639F339-3325-FC35-E15E-14B1384F65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847418-1674-C966-8EC8-CE0909B7B1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300F7E-4333-91A7-4EAD-F9235C297D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D98764-76BA-8E32-8021-B71FA568B3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0DD4C3-603E-69BD-9424-87C09AE6D1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068579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D2849B-77FF-B592-8B81-2ADB83092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D5CF35-3FFF-F18B-D276-F529BBA221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4BEB8B-6C04-26AB-F180-6CD7ECAA1A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2BCD26-286F-8DC9-43D7-33C5C590E4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2F0F16-7C99-D58C-332F-B187B34FE1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8030235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C04AE7-2DDE-AA65-7363-FAD6D319D7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DC4506-C37F-F669-CD59-B47698E4A0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A95F10-AFE3-C119-8A0A-9B2B6C9D15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81FCA6-2B6E-5E0A-F23F-0964164287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EADA82-AC26-4449-C984-042CD6089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4855114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0B5394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55651" y="1389246"/>
            <a:ext cx="3282950" cy="22155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bg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605676" y="1538471"/>
            <a:ext cx="3896995" cy="22155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bg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7842765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791047" y="2234251"/>
            <a:ext cx="1561904" cy="4521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476543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04060D5-61DB-3807-D335-042917A4F0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D7D887-ECD3-E332-3382-46688822DE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36CF68-C4DE-14A6-FA5F-CEF08F20EC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4DC3C9-B55F-9104-7762-E1D3C01F00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39A71E-2F9F-227A-46BD-3910CE8FE5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F15528-21DE-4FAA-801E-634DDDAF4B2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8074326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  <p:sldLayoutId id="2147483679" r:id="rId13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2057400" y="438150"/>
            <a:ext cx="4814485" cy="821378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61594" marR="5080" indent="-49530" algn="ctr">
              <a:lnSpc>
                <a:spcPts val="6230"/>
              </a:lnSpc>
              <a:spcBef>
                <a:spcPts val="204"/>
              </a:spcBef>
            </a:pPr>
            <a:r>
              <a:rPr lang="es-ES" sz="5200" spc="45" dirty="0">
                <a:latin typeface="Google Sans Text"/>
                <a:cs typeface="Trebuchet MS"/>
              </a:rPr>
              <a:t>Programación I</a:t>
            </a:r>
            <a:endParaRPr sz="5200" dirty="0">
              <a:latin typeface="Google Sans Text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62000" y="1789484"/>
            <a:ext cx="7848599" cy="22980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spcBef>
                <a:spcPts val="100"/>
              </a:spcBef>
            </a:pPr>
            <a:r>
              <a:rPr lang="es-AR" sz="2800" b="1" dirty="0"/>
              <a:t>Contadores y Acumuladores</a:t>
            </a:r>
            <a:endParaRPr lang="es-AR" sz="2800" dirty="0"/>
          </a:p>
          <a:p>
            <a:pPr marL="12700" algn="ctr">
              <a:lnSpc>
                <a:spcPct val="100000"/>
              </a:lnSpc>
              <a:spcBef>
                <a:spcPts val="100"/>
              </a:spcBef>
            </a:pPr>
            <a:endParaRPr lang="es-ES" sz="2800" b="1" spc="-20" dirty="0">
              <a:latin typeface="Google Sans Text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es-ES" dirty="0">
              <a:latin typeface="Google Sans Text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dirty="0">
                <a:latin typeface="Google Sans Text"/>
              </a:rPr>
              <a:t>Aprenderemos a gestionar variables que nos permiten llevar la cuenta de sucesos o sumar valores de manera progresiva. Estas herramientas son esenciales cuando necesitamos procesar múltiples datos para obtener resultados como totales o promedios.</a:t>
            </a:r>
            <a:endParaRPr lang="es-ES" sz="2800" dirty="0">
              <a:latin typeface="Google Sans Text"/>
              <a:cs typeface="Roboto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Ref idx="1001">
        <a:schemeClr val="bg2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18A7AD4D-0BA3-262D-00C5-5FC81764F5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140BCE45-CD4B-A752-82A9-7725EDDA1C9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483307"/>
            <a:ext cx="9144000" cy="520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s-AR" dirty="0">
                <a:latin typeface="Google Sans Text"/>
              </a:rPr>
              <a:t>Introducción</a:t>
            </a:r>
            <a:endParaRPr spc="-65" dirty="0">
              <a:latin typeface="Google Sans Text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8826BEB2-3AF1-5FC4-F4ED-A1002505FF86}"/>
              </a:ext>
            </a:extLst>
          </p:cNvPr>
          <p:cNvSpPr txBox="1"/>
          <p:nvPr/>
        </p:nvSpPr>
        <p:spPr>
          <a:xfrm>
            <a:off x="914399" y="1200150"/>
            <a:ext cx="7315201" cy="2224968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r>
              <a:rPr lang="es-ES" dirty="0">
                <a:latin typeface="Google Sans Text"/>
              </a:rPr>
              <a:t>En programación, muchas veces no basta con procesar un dato de forma aislada; necesitamos "recordar" cuántas veces sucedió algo o cuánto suma un conjunto de valores. Para esto utilizamos variables con roles específicos: el </a:t>
            </a:r>
            <a:r>
              <a:rPr lang="es-ES" b="1" dirty="0">
                <a:latin typeface="Google Sans Text"/>
              </a:rPr>
              <a:t>contador</a:t>
            </a:r>
            <a:r>
              <a:rPr lang="es-ES" dirty="0">
                <a:latin typeface="Google Sans Text"/>
              </a:rPr>
              <a:t> y el </a:t>
            </a:r>
            <a:r>
              <a:rPr lang="es-ES" b="1" dirty="0">
                <a:latin typeface="Google Sans Text"/>
              </a:rPr>
              <a:t>acumulador</a:t>
            </a:r>
            <a:r>
              <a:rPr lang="es-ES" dirty="0">
                <a:latin typeface="Google Sans Text"/>
              </a:rPr>
              <a:t>.</a:t>
            </a:r>
          </a:p>
          <a:p>
            <a:endParaRPr lang="es-ES" dirty="0">
              <a:latin typeface="Google Sans Text"/>
            </a:endParaRPr>
          </a:p>
          <a:p>
            <a:r>
              <a:rPr lang="es-ES" dirty="0">
                <a:latin typeface="Google Sans Text"/>
              </a:rPr>
              <a:t>Ambos conceptos se basan en la autorreferencia: la variable aparece a ambos lados del signo de asignación (ej. A = A + 1), lo que permite que el nuevo valor dependa del valor anterior.</a:t>
            </a:r>
          </a:p>
        </p:txBody>
      </p:sp>
    </p:spTree>
    <p:extLst>
      <p:ext uri="{BB962C8B-B14F-4D97-AF65-F5344CB8AC3E}">
        <p14:creationId xmlns:p14="http://schemas.microsoft.com/office/powerpoint/2010/main" val="873448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77BFBF-3AE1-AE92-8775-FE032958D2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6A615D83-C907-A49D-D23C-38D574416F9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222979"/>
            <a:ext cx="9144000" cy="520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s-ES" dirty="0">
                <a:latin typeface="Google Sans Text"/>
              </a:rPr>
              <a:t>Contadores</a:t>
            </a:r>
            <a:endParaRPr spc="-65" dirty="0">
              <a:latin typeface="Google Sans Text"/>
            </a:endParaRPr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EBE0AB5A-2DA9-2CE6-A710-E42BA5797D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6962070"/>
              </p:ext>
            </p:extLst>
          </p:nvPr>
        </p:nvGraphicFramePr>
        <p:xfrm>
          <a:off x="838200" y="3409950"/>
          <a:ext cx="7467600" cy="1102902"/>
        </p:xfrm>
        <a:graphic>
          <a:graphicData uri="http://schemas.openxmlformats.org/drawingml/2006/table">
            <a:tbl>
              <a:tblPr>
                <a:tableStyleId>{1FECB4D8-DB02-4DC6-A0A2-4F2EBAE1DC90}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1602266497"/>
                    </a:ext>
                  </a:extLst>
                </a:gridCol>
                <a:gridCol w="3606800">
                  <a:extLst>
                    <a:ext uri="{9D8B030D-6E8A-4147-A177-3AD203B41FA5}">
                      <a16:colId xmlns:a16="http://schemas.microsoft.com/office/drawing/2014/main" val="3971557696"/>
                    </a:ext>
                  </a:extLst>
                </a:gridCol>
                <a:gridCol w="2489200">
                  <a:extLst>
                    <a:ext uri="{9D8B030D-6E8A-4147-A177-3AD203B41FA5}">
                      <a16:colId xmlns:a16="http://schemas.microsoft.com/office/drawing/2014/main" val="578703172"/>
                    </a:ext>
                  </a:extLst>
                </a:gridCol>
              </a:tblGrid>
              <a:tr h="195903">
                <a:tc>
                  <a:txBody>
                    <a:bodyPr/>
                    <a:lstStyle/>
                    <a:p>
                      <a:pPr marL="0" algn="ctr" defTabSz="685800" rtl="0" eaLnBrk="1" latinLnBrk="0" hangingPunct="1">
                        <a:lnSpc>
                          <a:spcPts val="1875"/>
                        </a:lnSpc>
                        <a:buNone/>
                      </a:pPr>
                      <a:r>
                        <a:rPr lang="es-AR" sz="1400" b="1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oogle Sans Text"/>
                          <a:ea typeface="+mn-ea"/>
                          <a:cs typeface="+mn-cs"/>
                        </a:rPr>
                        <a:t>Herramienta</a:t>
                      </a:r>
                    </a:p>
                  </a:txBody>
                  <a:tcPr marL="67071" marR="111785" marT="69866" marB="69866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>
                        <a:lnSpc>
                          <a:spcPts val="1875"/>
                        </a:lnSpc>
                        <a:buNone/>
                      </a:pPr>
                      <a:r>
                        <a:rPr lang="es-AR" sz="1400" b="1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oogle Sans Text"/>
                          <a:ea typeface="+mn-ea"/>
                          <a:cs typeface="+mn-cs"/>
                        </a:rPr>
                        <a:t>Sintaxis de Incremento</a:t>
                      </a:r>
                    </a:p>
                  </a:txBody>
                  <a:tcPr marL="111785" marR="111785" marT="69866" marB="69866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>
                        <a:lnSpc>
                          <a:spcPts val="1875"/>
                        </a:lnSpc>
                        <a:buNone/>
                      </a:pPr>
                      <a:r>
                        <a:rPr lang="es-AR" sz="1400" b="1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oogle Sans Text"/>
                          <a:ea typeface="+mn-ea"/>
                          <a:cs typeface="+mn-cs"/>
                        </a:rPr>
                        <a:t>Ejemplo</a:t>
                      </a:r>
                    </a:p>
                  </a:txBody>
                  <a:tcPr marL="111785" marR="111785" marT="69866" marB="69866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1220837"/>
                  </a:ext>
                </a:extLst>
              </a:tr>
              <a:tr h="195903">
                <a:tc>
                  <a:txBody>
                    <a:bodyPr/>
                    <a:lstStyle/>
                    <a:p>
                      <a:pPr algn="ctr">
                        <a:lnSpc>
                          <a:spcPts val="1650"/>
                        </a:lnSpc>
                        <a:buNone/>
                      </a:pPr>
                      <a:r>
                        <a:rPr lang="es-AR" sz="1400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Google Sans Text"/>
                        </a:rPr>
                        <a:t>Diagramación</a:t>
                      </a:r>
                    </a:p>
                  </a:txBody>
                  <a:tcPr marL="67071" marR="111785" marT="69866" marB="69866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s-ES" sz="1400" b="1" dirty="0">
                          <a:effectLst/>
                          <a:latin typeface="Google Sans Text"/>
                        </a:rPr>
                        <a:t>cantidad = cantidad + 1</a:t>
                      </a:r>
                    </a:p>
                  </a:txBody>
                  <a:tcPr marL="111785" marR="111785" marT="69866" marB="69866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50"/>
                        </a:lnSpc>
                        <a:buNone/>
                      </a:pPr>
                      <a:r>
                        <a:rPr lang="es-AR" sz="1400" b="1" dirty="0">
                          <a:effectLst/>
                          <a:latin typeface="Google Sans Text"/>
                        </a:rPr>
                        <a:t>alumnos = alumnos + 1</a:t>
                      </a:r>
                    </a:p>
                  </a:txBody>
                  <a:tcPr marL="111785" marR="67071" marT="69866" marB="69866" anchor="ctr"/>
                </a:tc>
                <a:extLst>
                  <a:ext uri="{0D108BD9-81ED-4DB2-BD59-A6C34878D82A}">
                    <a16:rowId xmlns:a16="http://schemas.microsoft.com/office/drawing/2014/main" val="1976221515"/>
                  </a:ext>
                </a:extLst>
              </a:tr>
              <a:tr h="195903">
                <a:tc>
                  <a:txBody>
                    <a:bodyPr/>
                    <a:lstStyle/>
                    <a:p>
                      <a:pPr algn="ctr">
                        <a:lnSpc>
                          <a:spcPts val="1650"/>
                        </a:lnSpc>
                        <a:buNone/>
                      </a:pPr>
                      <a:r>
                        <a:rPr lang="es-AR" sz="1400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Google Sans Text"/>
                        </a:rPr>
                        <a:t>C++</a:t>
                      </a:r>
                    </a:p>
                  </a:txBody>
                  <a:tcPr marL="67071" marR="111785" marT="69866" marB="69866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s-AR" sz="1400" b="1" dirty="0" err="1">
                          <a:effectLst/>
                          <a:latin typeface="Google Sans Text"/>
                        </a:rPr>
                        <a:t>cant</a:t>
                      </a:r>
                      <a:r>
                        <a:rPr lang="es-AR" sz="1400" b="1" dirty="0">
                          <a:effectLst/>
                          <a:latin typeface="Google Sans Text"/>
                        </a:rPr>
                        <a:t>++ </a:t>
                      </a:r>
                      <a:r>
                        <a:rPr lang="es-AR" sz="1400" b="0" dirty="0" err="1">
                          <a:effectLst/>
                          <a:latin typeface="Google Sans Text"/>
                        </a:rPr>
                        <a:t>ó</a:t>
                      </a:r>
                      <a:r>
                        <a:rPr lang="es-AR" sz="1400" b="0" dirty="0">
                          <a:effectLst/>
                          <a:latin typeface="Google Sans Text"/>
                        </a:rPr>
                        <a:t> </a:t>
                      </a:r>
                      <a:r>
                        <a:rPr lang="es-AR" sz="1400" b="1" dirty="0" err="1">
                          <a:effectLst/>
                          <a:latin typeface="Google Sans Text"/>
                        </a:rPr>
                        <a:t>cant</a:t>
                      </a:r>
                      <a:r>
                        <a:rPr lang="es-AR" sz="1400" b="1" dirty="0">
                          <a:effectLst/>
                          <a:latin typeface="Google Sans Text"/>
                        </a:rPr>
                        <a:t> += 1 </a:t>
                      </a:r>
                    </a:p>
                  </a:txBody>
                  <a:tcPr marL="111785" marR="111785" marT="69866" marB="69866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50"/>
                        </a:lnSpc>
                        <a:buNone/>
                      </a:pPr>
                      <a:r>
                        <a:rPr lang="es-AR" sz="1400" b="1" dirty="0">
                          <a:effectLst/>
                          <a:latin typeface="Google Sans Text"/>
                        </a:rPr>
                        <a:t>conteo++</a:t>
                      </a:r>
                    </a:p>
                  </a:txBody>
                  <a:tcPr marL="111785" marR="67071" marT="69866" marB="69866" anchor="ctr"/>
                </a:tc>
                <a:extLst>
                  <a:ext uri="{0D108BD9-81ED-4DB2-BD59-A6C34878D82A}">
                    <a16:rowId xmlns:a16="http://schemas.microsoft.com/office/drawing/2014/main" val="3327146466"/>
                  </a:ext>
                </a:extLst>
              </a:tr>
            </a:tbl>
          </a:graphicData>
        </a:graphic>
      </p:graphicFrame>
      <p:sp>
        <p:nvSpPr>
          <p:cNvPr id="4" name="object 6">
            <a:extLst>
              <a:ext uri="{FF2B5EF4-FFF2-40B4-BE49-F238E27FC236}">
                <a16:creationId xmlns:a16="http://schemas.microsoft.com/office/drawing/2014/main" id="{FDC4BCB5-F24B-FC4E-809E-F763D064E4BA}"/>
              </a:ext>
            </a:extLst>
          </p:cNvPr>
          <p:cNvSpPr txBox="1"/>
          <p:nvPr/>
        </p:nvSpPr>
        <p:spPr>
          <a:xfrm>
            <a:off x="810768" y="906570"/>
            <a:ext cx="7315201" cy="2717411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r>
              <a:rPr lang="es-ES" sz="1600" dirty="0"/>
              <a:t>Un </a:t>
            </a:r>
            <a:r>
              <a:rPr lang="es-ES" sz="1600" b="1" dirty="0"/>
              <a:t>contador</a:t>
            </a:r>
            <a:r>
              <a:rPr lang="es-ES" sz="1600" dirty="0"/>
              <a:t> es una variable cuyo valor se incrementa o decrementa en una </a:t>
            </a:r>
            <a:r>
              <a:rPr lang="es-ES" sz="1600" b="1" dirty="0"/>
              <a:t>cantidad constante </a:t>
            </a:r>
            <a:r>
              <a:rPr lang="es-ES" sz="1600" dirty="0"/>
              <a:t>(generalmente 1) cada vez que ocurre un evento.</a:t>
            </a:r>
          </a:p>
          <a:p>
            <a:endParaRPr lang="es-ES" sz="1600" b="1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s-ES" sz="1600" b="1" dirty="0"/>
              <a:t>Inicialización</a:t>
            </a:r>
            <a:r>
              <a:rPr lang="es-ES" sz="1600" dirty="0"/>
              <a:t>:  Es crítico asignarles un valor inicial (normalmente 0) antes de empezar el conteo.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s-ES" sz="1600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s-ES" sz="1600" b="1" dirty="0"/>
              <a:t>Uso común</a:t>
            </a:r>
            <a:r>
              <a:rPr lang="es-ES" sz="1600" dirty="0"/>
              <a:t>: Contar alumnos presentes, cantidad de ventas, o iteraciones en un bucle.</a:t>
            </a:r>
          </a:p>
          <a:p>
            <a:endParaRPr lang="es-ES" sz="1600" dirty="0"/>
          </a:p>
          <a:p>
            <a:r>
              <a:rPr lang="es-ES" sz="1600" b="1" dirty="0"/>
              <a:t>Implementación</a:t>
            </a:r>
          </a:p>
          <a:p>
            <a:endParaRPr lang="es-ES" sz="1600" dirty="0">
              <a:latin typeface="Google Sans Text"/>
            </a:endParaRPr>
          </a:p>
        </p:txBody>
      </p:sp>
    </p:spTree>
    <p:extLst>
      <p:ext uri="{BB962C8B-B14F-4D97-AF65-F5344CB8AC3E}">
        <p14:creationId xmlns:p14="http://schemas.microsoft.com/office/powerpoint/2010/main" val="26681087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5DF9A1-09D8-31ED-7617-9390D1D0BD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B2328B2E-6D8D-08D3-A1F9-2335DA73A8E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9370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2700" algn="ctr" defTabSz="914400"/>
            <a:r>
              <a:rPr lang="es-ES" sz="3200" kern="1200" noProof="0" dirty="0">
                <a:solidFill>
                  <a:schemeClr val="tx1"/>
                </a:solidFill>
                <a:latin typeface="Google Sans Text"/>
              </a:rPr>
              <a:t>Operaciones de un contador</a:t>
            </a:r>
            <a:endParaRPr lang="es-AR" sz="3200" kern="1200" spc="-65" noProof="0" dirty="0">
              <a:solidFill>
                <a:schemeClr val="tx1"/>
              </a:solidFill>
              <a:latin typeface="Google Sans Text"/>
            </a:endParaRPr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E2CB8B1B-35D9-224F-B436-E52826C28A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7293061"/>
              </p:ext>
            </p:extLst>
          </p:nvPr>
        </p:nvGraphicFramePr>
        <p:xfrm>
          <a:off x="957072" y="1123950"/>
          <a:ext cx="7229856" cy="1096656"/>
        </p:xfrm>
        <a:graphic>
          <a:graphicData uri="http://schemas.openxmlformats.org/drawingml/2006/table">
            <a:tbl>
              <a:tblPr>
                <a:tableStyleId>{1FECB4D8-DB02-4DC6-A0A2-4F2EBAE1DC90}</a:tableStyleId>
              </a:tblPr>
              <a:tblGrid>
                <a:gridCol w="1585032">
                  <a:extLst>
                    <a:ext uri="{9D8B030D-6E8A-4147-A177-3AD203B41FA5}">
                      <a16:colId xmlns:a16="http://schemas.microsoft.com/office/drawing/2014/main" val="3151593743"/>
                    </a:ext>
                  </a:extLst>
                </a:gridCol>
                <a:gridCol w="5644824">
                  <a:extLst>
                    <a:ext uri="{9D8B030D-6E8A-4147-A177-3AD203B41FA5}">
                      <a16:colId xmlns:a16="http://schemas.microsoft.com/office/drawing/2014/main" val="2002015147"/>
                    </a:ext>
                  </a:extLst>
                </a:gridCol>
              </a:tblGrid>
              <a:tr h="296671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s-AR" sz="1400" b="1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oogle Sans Text"/>
                          <a:ea typeface="+mn-ea"/>
                          <a:cs typeface="+mn-cs"/>
                        </a:rPr>
                        <a:t>OPERADOR</a:t>
                      </a:r>
                    </a:p>
                  </a:txBody>
                  <a:tcPr marL="152192" marR="86830" marT="76096" marB="76096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s-AR" sz="1400" b="1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oogle Sans Text"/>
                          <a:ea typeface="+mn-ea"/>
                          <a:cs typeface="+mn-cs"/>
                        </a:rPr>
                        <a:t>SIGNIFICADO</a:t>
                      </a:r>
                    </a:p>
                  </a:txBody>
                  <a:tcPr marL="152192" marR="86830" marT="76096" marB="76096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4551656"/>
                  </a:ext>
                </a:extLst>
              </a:tr>
              <a:tr h="296671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s-AR" sz="1400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Google Sans Text"/>
                        </a:rPr>
                        <a:t>++ </a:t>
                      </a:r>
                    </a:p>
                  </a:txBody>
                  <a:tcPr marL="152192" marR="86830" marT="76096" marB="76096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s-AR" sz="1400" dirty="0"/>
                        <a:t>Aumenta uno a una variable </a:t>
                      </a:r>
                      <a:endParaRPr lang="es-AR" sz="14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Google Sans Text"/>
                      </a:endParaRPr>
                    </a:p>
                  </a:txBody>
                  <a:tcPr marL="152192" marR="86830" marT="76096" marB="76096" anchor="ctr"/>
                </a:tc>
                <a:extLst>
                  <a:ext uri="{0D108BD9-81ED-4DB2-BD59-A6C34878D82A}">
                    <a16:rowId xmlns:a16="http://schemas.microsoft.com/office/drawing/2014/main" val="2630564263"/>
                  </a:ext>
                </a:extLst>
              </a:tr>
              <a:tr h="296671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s-AR" sz="1400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Google Sans Text"/>
                        </a:rPr>
                        <a:t>--</a:t>
                      </a:r>
                    </a:p>
                  </a:txBody>
                  <a:tcPr marL="152192" marR="86830" marT="76096" marB="76096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s-ES" sz="1400" dirty="0"/>
                        <a:t>Disminuye uno en una variable</a:t>
                      </a:r>
                      <a:endParaRPr lang="es-AR" sz="14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Google Sans Text"/>
                      </a:endParaRPr>
                    </a:p>
                  </a:txBody>
                  <a:tcPr marL="152192" marR="86830" marT="76096" marB="76096" anchor="ctr"/>
                </a:tc>
                <a:extLst>
                  <a:ext uri="{0D108BD9-81ED-4DB2-BD59-A6C34878D82A}">
                    <a16:rowId xmlns:a16="http://schemas.microsoft.com/office/drawing/2014/main" val="938191747"/>
                  </a:ext>
                </a:extLst>
              </a:tr>
            </a:tbl>
          </a:graphicData>
        </a:graphic>
      </p:graphicFrame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70230942-31DE-75CD-68D9-21054B41EF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1318786"/>
              </p:ext>
            </p:extLst>
          </p:nvPr>
        </p:nvGraphicFramePr>
        <p:xfrm>
          <a:off x="957073" y="2571750"/>
          <a:ext cx="7229855" cy="1096656"/>
        </p:xfrm>
        <a:graphic>
          <a:graphicData uri="http://schemas.openxmlformats.org/drawingml/2006/table">
            <a:tbl>
              <a:tblPr>
                <a:tableStyleId>{1FECB4D8-DB02-4DC6-A0A2-4F2EBAE1DC90}</a:tableStyleId>
              </a:tblPr>
              <a:tblGrid>
                <a:gridCol w="1585032">
                  <a:extLst>
                    <a:ext uri="{9D8B030D-6E8A-4147-A177-3AD203B41FA5}">
                      <a16:colId xmlns:a16="http://schemas.microsoft.com/office/drawing/2014/main" val="3151593743"/>
                    </a:ext>
                  </a:extLst>
                </a:gridCol>
                <a:gridCol w="5644823">
                  <a:extLst>
                    <a:ext uri="{9D8B030D-6E8A-4147-A177-3AD203B41FA5}">
                      <a16:colId xmlns:a16="http://schemas.microsoft.com/office/drawing/2014/main" val="2002015147"/>
                    </a:ext>
                  </a:extLst>
                </a:gridCol>
              </a:tblGrid>
              <a:tr h="296671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s-AR" sz="1400" b="1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oogle Sans Text"/>
                          <a:ea typeface="+mn-ea"/>
                          <a:cs typeface="+mn-cs"/>
                        </a:rPr>
                        <a:t>OPERACIÓN</a:t>
                      </a:r>
                    </a:p>
                  </a:txBody>
                  <a:tcPr marL="152192" marR="86830" marT="76096" marB="76096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s-AR" sz="1400" b="1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oogle Sans Text"/>
                          <a:ea typeface="+mn-ea"/>
                          <a:cs typeface="+mn-cs"/>
                        </a:rPr>
                        <a:t>EQUIVALENCIA</a:t>
                      </a:r>
                    </a:p>
                  </a:txBody>
                  <a:tcPr marL="152192" marR="86830" marT="76096" marB="76096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898464"/>
                  </a:ext>
                </a:extLst>
              </a:tr>
              <a:tr h="296671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s-AR" sz="1400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Google Sans Text"/>
                        </a:rPr>
                        <a:t>A ++</a:t>
                      </a:r>
                    </a:p>
                  </a:txBody>
                  <a:tcPr marL="152192" marR="86830" marT="76096" marB="76096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s-AR" sz="1400" dirty="0"/>
                        <a:t>A = A + 1</a:t>
                      </a:r>
                      <a:endParaRPr lang="es-AR" sz="14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Google Sans Text"/>
                      </a:endParaRPr>
                    </a:p>
                  </a:txBody>
                  <a:tcPr marL="152192" marR="86830" marT="76096" marB="76096" anchor="ctr"/>
                </a:tc>
                <a:extLst>
                  <a:ext uri="{0D108BD9-81ED-4DB2-BD59-A6C34878D82A}">
                    <a16:rowId xmlns:a16="http://schemas.microsoft.com/office/drawing/2014/main" val="2630564263"/>
                  </a:ext>
                </a:extLst>
              </a:tr>
              <a:tr h="296671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s-AR" sz="1400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Google Sans Text"/>
                        </a:rPr>
                        <a:t>A --</a:t>
                      </a:r>
                    </a:p>
                  </a:txBody>
                  <a:tcPr marL="152192" marR="86830" marT="76096" marB="76096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s-AR" sz="1400" dirty="0"/>
                        <a:t>A = A – 1</a:t>
                      </a:r>
                      <a:endParaRPr lang="es-AR" sz="14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Google Sans Text"/>
                      </a:endParaRPr>
                    </a:p>
                  </a:txBody>
                  <a:tcPr marL="152192" marR="86830" marT="76096" marB="76096" anchor="ctr"/>
                </a:tc>
                <a:extLst>
                  <a:ext uri="{0D108BD9-81ED-4DB2-BD59-A6C34878D82A}">
                    <a16:rowId xmlns:a16="http://schemas.microsoft.com/office/drawing/2014/main" val="9381917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845607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AA7FC5-7B04-D4D1-579D-73593A3C19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137D362A-E288-6DF6-9003-F845F556E8D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222979"/>
            <a:ext cx="9144000" cy="520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s-ES" dirty="0">
                <a:latin typeface="Google Sans Text"/>
              </a:rPr>
              <a:t>Acumuladores</a:t>
            </a:r>
            <a:endParaRPr spc="-65" dirty="0">
              <a:latin typeface="Google Sans Text"/>
            </a:endParaRPr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4E133B05-02C0-3A5D-ED1E-814E2F2371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1578487"/>
              </p:ext>
            </p:extLst>
          </p:nvPr>
        </p:nvGraphicFramePr>
        <p:xfrm>
          <a:off x="838200" y="3409950"/>
          <a:ext cx="7287769" cy="1102902"/>
        </p:xfrm>
        <a:graphic>
          <a:graphicData uri="http://schemas.openxmlformats.org/drawingml/2006/table">
            <a:tbl>
              <a:tblPr>
                <a:tableStyleId>{1FECB4D8-DB02-4DC6-A0A2-4F2EBAE1DC90}</a:tableStyleId>
              </a:tblPr>
              <a:tblGrid>
                <a:gridCol w="1722598">
                  <a:extLst>
                    <a:ext uri="{9D8B030D-6E8A-4147-A177-3AD203B41FA5}">
                      <a16:colId xmlns:a16="http://schemas.microsoft.com/office/drawing/2014/main" val="1602266497"/>
                    </a:ext>
                  </a:extLst>
                </a:gridCol>
                <a:gridCol w="2438975">
                  <a:extLst>
                    <a:ext uri="{9D8B030D-6E8A-4147-A177-3AD203B41FA5}">
                      <a16:colId xmlns:a16="http://schemas.microsoft.com/office/drawing/2014/main" val="3971557696"/>
                    </a:ext>
                  </a:extLst>
                </a:gridCol>
                <a:gridCol w="3126196">
                  <a:extLst>
                    <a:ext uri="{9D8B030D-6E8A-4147-A177-3AD203B41FA5}">
                      <a16:colId xmlns:a16="http://schemas.microsoft.com/office/drawing/2014/main" val="578703172"/>
                    </a:ext>
                  </a:extLst>
                </a:gridCol>
              </a:tblGrid>
              <a:tr h="195903">
                <a:tc>
                  <a:txBody>
                    <a:bodyPr/>
                    <a:lstStyle/>
                    <a:p>
                      <a:pPr marL="0" algn="ctr" defTabSz="685800" rtl="0" eaLnBrk="1" latinLnBrk="0" hangingPunct="1">
                        <a:lnSpc>
                          <a:spcPts val="1875"/>
                        </a:lnSpc>
                        <a:buNone/>
                      </a:pPr>
                      <a:r>
                        <a:rPr lang="es-AR" sz="1400" b="1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oogle Sans Text"/>
                          <a:ea typeface="+mn-ea"/>
                          <a:cs typeface="+mn-cs"/>
                        </a:rPr>
                        <a:t>Herramienta</a:t>
                      </a:r>
                    </a:p>
                  </a:txBody>
                  <a:tcPr marL="67071" marR="111785" marT="69866" marB="69866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>
                        <a:lnSpc>
                          <a:spcPts val="1875"/>
                        </a:lnSpc>
                        <a:buNone/>
                      </a:pPr>
                      <a:r>
                        <a:rPr lang="es-AR" sz="1400" b="1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oogle Sans Text"/>
                          <a:ea typeface="+mn-ea"/>
                          <a:cs typeface="+mn-cs"/>
                        </a:rPr>
                        <a:t>Sintaxis de Incremento</a:t>
                      </a:r>
                    </a:p>
                  </a:txBody>
                  <a:tcPr marL="111785" marR="111785" marT="69866" marB="69866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>
                        <a:lnSpc>
                          <a:spcPts val="1875"/>
                        </a:lnSpc>
                        <a:buNone/>
                      </a:pPr>
                      <a:r>
                        <a:rPr lang="es-AR" sz="1400" b="1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oogle Sans Text"/>
                          <a:ea typeface="+mn-ea"/>
                          <a:cs typeface="+mn-cs"/>
                        </a:rPr>
                        <a:t>Ejemplo</a:t>
                      </a:r>
                    </a:p>
                  </a:txBody>
                  <a:tcPr marL="111785" marR="111785" marT="69866" marB="69866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1220837"/>
                  </a:ext>
                </a:extLst>
              </a:tr>
              <a:tr h="195903">
                <a:tc>
                  <a:txBody>
                    <a:bodyPr/>
                    <a:lstStyle/>
                    <a:p>
                      <a:pPr algn="ctr">
                        <a:lnSpc>
                          <a:spcPts val="1650"/>
                        </a:lnSpc>
                        <a:buNone/>
                      </a:pPr>
                      <a:r>
                        <a:rPr lang="es-AR" sz="1400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Google Sans Text"/>
                        </a:rPr>
                        <a:t>Diagramación</a:t>
                      </a:r>
                    </a:p>
                  </a:txBody>
                  <a:tcPr marL="67071" marR="111785" marT="69866" marB="69866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s-ES" sz="1400" b="1" dirty="0" err="1">
                          <a:effectLst/>
                          <a:latin typeface="Google Sans Text"/>
                        </a:rPr>
                        <a:t>acum</a:t>
                      </a:r>
                      <a:r>
                        <a:rPr lang="es-ES" sz="1400" b="1" dirty="0">
                          <a:effectLst/>
                          <a:latin typeface="Google Sans Text"/>
                        </a:rPr>
                        <a:t> = </a:t>
                      </a:r>
                      <a:r>
                        <a:rPr lang="es-ES" sz="1400" b="1" dirty="0" err="1">
                          <a:effectLst/>
                          <a:latin typeface="Google Sans Text"/>
                        </a:rPr>
                        <a:t>acum</a:t>
                      </a:r>
                      <a:r>
                        <a:rPr lang="es-ES" sz="1400" b="1" dirty="0">
                          <a:effectLst/>
                          <a:latin typeface="Google Sans Text"/>
                        </a:rPr>
                        <a:t> + valor</a:t>
                      </a:r>
                    </a:p>
                  </a:txBody>
                  <a:tcPr marL="111785" marR="111785" marT="69866" marB="69866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50"/>
                        </a:lnSpc>
                        <a:buNone/>
                      </a:pPr>
                      <a:r>
                        <a:rPr lang="es-AR" sz="1400" b="1" dirty="0" err="1">
                          <a:effectLst/>
                          <a:latin typeface="Google Sans Text"/>
                        </a:rPr>
                        <a:t>totalSueldos</a:t>
                      </a:r>
                      <a:r>
                        <a:rPr lang="es-AR" sz="1400" b="1" dirty="0">
                          <a:effectLst/>
                          <a:latin typeface="Google Sans Text"/>
                        </a:rPr>
                        <a:t> = </a:t>
                      </a:r>
                      <a:r>
                        <a:rPr lang="es-AR" sz="1400" b="1" dirty="0" err="1">
                          <a:effectLst/>
                          <a:latin typeface="Google Sans Text"/>
                        </a:rPr>
                        <a:t>totalSueldos</a:t>
                      </a:r>
                      <a:r>
                        <a:rPr lang="es-AR" sz="1400" b="1" dirty="0">
                          <a:effectLst/>
                          <a:latin typeface="Google Sans Text"/>
                        </a:rPr>
                        <a:t> + sueldo</a:t>
                      </a:r>
                    </a:p>
                  </a:txBody>
                  <a:tcPr marL="111785" marR="67071" marT="69866" marB="69866" anchor="ctr"/>
                </a:tc>
                <a:extLst>
                  <a:ext uri="{0D108BD9-81ED-4DB2-BD59-A6C34878D82A}">
                    <a16:rowId xmlns:a16="http://schemas.microsoft.com/office/drawing/2014/main" val="1976221515"/>
                  </a:ext>
                </a:extLst>
              </a:tr>
              <a:tr h="195903">
                <a:tc>
                  <a:txBody>
                    <a:bodyPr/>
                    <a:lstStyle/>
                    <a:p>
                      <a:pPr algn="ctr">
                        <a:lnSpc>
                          <a:spcPts val="1650"/>
                        </a:lnSpc>
                        <a:buNone/>
                      </a:pPr>
                      <a:r>
                        <a:rPr lang="es-AR" sz="1400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Google Sans Text"/>
                        </a:rPr>
                        <a:t>C++</a:t>
                      </a:r>
                    </a:p>
                  </a:txBody>
                  <a:tcPr marL="67071" marR="111785" marT="69866" marB="69866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s-AR" sz="1400" b="1" dirty="0" err="1">
                          <a:effectLst/>
                          <a:latin typeface="Google Sans Text"/>
                        </a:rPr>
                        <a:t>acum</a:t>
                      </a:r>
                      <a:r>
                        <a:rPr lang="es-AR" sz="1400" b="1" dirty="0">
                          <a:effectLst/>
                          <a:latin typeface="Google Sans Text"/>
                        </a:rPr>
                        <a:t> += valor</a:t>
                      </a:r>
                    </a:p>
                  </a:txBody>
                  <a:tcPr marL="111785" marR="111785" marT="69866" marB="69866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50"/>
                        </a:lnSpc>
                        <a:buNone/>
                      </a:pPr>
                      <a:r>
                        <a:rPr lang="es-AR" sz="1400" b="1" dirty="0" err="1">
                          <a:effectLst/>
                          <a:latin typeface="Google Sans Text"/>
                        </a:rPr>
                        <a:t>totalSueldos</a:t>
                      </a:r>
                      <a:r>
                        <a:rPr lang="es-AR" sz="1400" b="1" dirty="0">
                          <a:effectLst/>
                          <a:latin typeface="Google Sans Text"/>
                        </a:rPr>
                        <a:t> += sueldo</a:t>
                      </a:r>
                    </a:p>
                  </a:txBody>
                  <a:tcPr marL="111785" marR="67071" marT="69866" marB="69866" anchor="ctr"/>
                </a:tc>
                <a:extLst>
                  <a:ext uri="{0D108BD9-81ED-4DB2-BD59-A6C34878D82A}">
                    <a16:rowId xmlns:a16="http://schemas.microsoft.com/office/drawing/2014/main" val="3327146466"/>
                  </a:ext>
                </a:extLst>
              </a:tr>
            </a:tbl>
          </a:graphicData>
        </a:graphic>
      </p:graphicFrame>
      <p:sp>
        <p:nvSpPr>
          <p:cNvPr id="4" name="object 6">
            <a:extLst>
              <a:ext uri="{FF2B5EF4-FFF2-40B4-BE49-F238E27FC236}">
                <a16:creationId xmlns:a16="http://schemas.microsoft.com/office/drawing/2014/main" id="{14FAAAA9-97CB-EA50-AB5B-363132266270}"/>
              </a:ext>
            </a:extLst>
          </p:cNvPr>
          <p:cNvSpPr txBox="1"/>
          <p:nvPr/>
        </p:nvSpPr>
        <p:spPr>
          <a:xfrm>
            <a:off x="810768" y="906570"/>
            <a:ext cx="7315201" cy="2717411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r>
              <a:rPr lang="es-ES" sz="1600" dirty="0"/>
              <a:t>Un </a:t>
            </a:r>
            <a:r>
              <a:rPr lang="es-ES" sz="1600" b="1" dirty="0"/>
              <a:t>acumulador</a:t>
            </a:r>
            <a:r>
              <a:rPr lang="es-ES" sz="1600" dirty="0"/>
              <a:t> es una variable que aumenta o disminuye en </a:t>
            </a:r>
            <a:r>
              <a:rPr lang="es-ES" sz="1600" b="1" dirty="0"/>
              <a:t>una cantidad variable</a:t>
            </a:r>
            <a:r>
              <a:rPr lang="es-ES" sz="1600" dirty="0"/>
              <a:t>. Se utiliza para obtener totales de una serie de valores.</a:t>
            </a:r>
          </a:p>
          <a:p>
            <a:endParaRPr lang="es-ES" sz="1600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s-ES" sz="1600" b="1" dirty="0"/>
              <a:t>Diferencia clave</a:t>
            </a:r>
            <a:r>
              <a:rPr lang="es-ES" sz="1600" dirty="0"/>
              <a:t>: Mientras el contador siempre suma "1", el acumulador suma el valor de otra variable (ej. un precio, una nota, un peso).</a:t>
            </a:r>
          </a:p>
          <a:p>
            <a:endParaRPr lang="es-ES" sz="1600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s-ES" sz="1600" b="1" dirty="0"/>
              <a:t>Inicialización</a:t>
            </a:r>
            <a:r>
              <a:rPr lang="es-ES" sz="1600" dirty="0"/>
              <a:t>: Al igual que el contador, debe arrancar en 0 para no sumar valores basura.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s-ES" sz="1600" dirty="0"/>
          </a:p>
          <a:p>
            <a:r>
              <a:rPr lang="es-ES" sz="1600" b="1" dirty="0"/>
              <a:t>Implementación</a:t>
            </a:r>
          </a:p>
          <a:p>
            <a:endParaRPr lang="es-ES" sz="1600" dirty="0">
              <a:latin typeface="Google Sans Text"/>
            </a:endParaRPr>
          </a:p>
        </p:txBody>
      </p:sp>
    </p:spTree>
    <p:extLst>
      <p:ext uri="{BB962C8B-B14F-4D97-AF65-F5344CB8AC3E}">
        <p14:creationId xmlns:p14="http://schemas.microsoft.com/office/powerpoint/2010/main" val="41164293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35DA9512-7901-298F-47C9-4B14578E2D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F864FCEC-D6ED-4845-A35C-44429A6FFE4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9370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2700" algn="ctr" defTabSz="914400"/>
            <a:r>
              <a:rPr lang="es-ES" sz="3200" kern="1200" noProof="0" dirty="0">
                <a:solidFill>
                  <a:schemeClr val="tx1"/>
                </a:solidFill>
                <a:latin typeface="Google Sans Text"/>
              </a:rPr>
              <a:t>Operaciones de un Acumulador</a:t>
            </a:r>
            <a:endParaRPr lang="es-AR" sz="3200" kern="1200" spc="-65" noProof="0" dirty="0">
              <a:solidFill>
                <a:schemeClr val="tx1"/>
              </a:solidFill>
              <a:latin typeface="Google Sans Text"/>
            </a:endParaRPr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D8D1986E-7975-56F4-1A13-258483C8F9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5215235"/>
              </p:ext>
            </p:extLst>
          </p:nvPr>
        </p:nvGraphicFramePr>
        <p:xfrm>
          <a:off x="957072" y="898730"/>
          <a:ext cx="7229856" cy="1827760"/>
        </p:xfrm>
        <a:graphic>
          <a:graphicData uri="http://schemas.openxmlformats.org/drawingml/2006/table">
            <a:tbl>
              <a:tblPr>
                <a:tableStyleId>{1FECB4D8-DB02-4DC6-A0A2-4F2EBAE1DC90}</a:tableStyleId>
              </a:tblPr>
              <a:tblGrid>
                <a:gridCol w="1585032">
                  <a:extLst>
                    <a:ext uri="{9D8B030D-6E8A-4147-A177-3AD203B41FA5}">
                      <a16:colId xmlns:a16="http://schemas.microsoft.com/office/drawing/2014/main" val="3151593743"/>
                    </a:ext>
                  </a:extLst>
                </a:gridCol>
                <a:gridCol w="5644824">
                  <a:extLst>
                    <a:ext uri="{9D8B030D-6E8A-4147-A177-3AD203B41FA5}">
                      <a16:colId xmlns:a16="http://schemas.microsoft.com/office/drawing/2014/main" val="2002015147"/>
                    </a:ext>
                  </a:extLst>
                </a:gridCol>
              </a:tblGrid>
              <a:tr h="296671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s-AR" sz="1400" b="1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oogle Sans Text"/>
                          <a:ea typeface="+mn-ea"/>
                          <a:cs typeface="+mn-cs"/>
                        </a:rPr>
                        <a:t>OPERADOR</a:t>
                      </a:r>
                    </a:p>
                  </a:txBody>
                  <a:tcPr marL="152192" marR="86830" marT="76096" marB="76096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s-AR" sz="1400" b="1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oogle Sans Text"/>
                          <a:ea typeface="+mn-ea"/>
                          <a:cs typeface="+mn-cs"/>
                        </a:rPr>
                        <a:t>SIGNIFICADO</a:t>
                      </a:r>
                    </a:p>
                  </a:txBody>
                  <a:tcPr marL="152192" marR="86830" marT="76096" marB="76096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4551656"/>
                  </a:ext>
                </a:extLst>
              </a:tr>
              <a:tr h="296671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s-AR" sz="1400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Google Sans Text"/>
                        </a:rPr>
                        <a:t>+= </a:t>
                      </a:r>
                    </a:p>
                  </a:txBody>
                  <a:tcPr marL="152192" marR="86830" marT="76096" marB="76096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s-AR" sz="1400" dirty="0"/>
                        <a:t>Aumenta una cantidad a una variable </a:t>
                      </a:r>
                      <a:endParaRPr lang="es-AR" sz="14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Google Sans Text"/>
                      </a:endParaRPr>
                    </a:p>
                  </a:txBody>
                  <a:tcPr marL="152192" marR="86830" marT="76096" marB="76096" anchor="ctr"/>
                </a:tc>
                <a:extLst>
                  <a:ext uri="{0D108BD9-81ED-4DB2-BD59-A6C34878D82A}">
                    <a16:rowId xmlns:a16="http://schemas.microsoft.com/office/drawing/2014/main" val="2630564263"/>
                  </a:ext>
                </a:extLst>
              </a:tr>
              <a:tr h="296671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s-AR" sz="1400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Google Sans Text"/>
                        </a:rPr>
                        <a:t>-= </a:t>
                      </a:r>
                    </a:p>
                  </a:txBody>
                  <a:tcPr marL="152192" marR="86830" marT="76096" marB="76096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s-ES" sz="1400" dirty="0"/>
                        <a:t>Disminuye una cantidad a una variable </a:t>
                      </a:r>
                      <a:endParaRPr lang="es-AR" sz="14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Google Sans Text"/>
                      </a:endParaRPr>
                    </a:p>
                  </a:txBody>
                  <a:tcPr marL="152192" marR="86830" marT="76096" marB="76096" anchor="ctr"/>
                </a:tc>
                <a:extLst>
                  <a:ext uri="{0D108BD9-81ED-4DB2-BD59-A6C34878D82A}">
                    <a16:rowId xmlns:a16="http://schemas.microsoft.com/office/drawing/2014/main" val="938191747"/>
                  </a:ext>
                </a:extLst>
              </a:tr>
              <a:tr h="296671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s-AR" sz="1400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Google Sans Text"/>
                        </a:rPr>
                        <a:t>*= </a:t>
                      </a:r>
                    </a:p>
                  </a:txBody>
                  <a:tcPr marL="152192" marR="86830" marT="76096" marB="76096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s-ES" sz="1400" dirty="0"/>
                        <a:t>Multiplica por una cantidad a una variable </a:t>
                      </a:r>
                      <a:endParaRPr lang="es-AR" sz="14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Google Sans Text"/>
                      </a:endParaRPr>
                    </a:p>
                  </a:txBody>
                  <a:tcPr marL="152192" marR="86830" marT="76096" marB="76096" anchor="ctr"/>
                </a:tc>
                <a:extLst>
                  <a:ext uri="{0D108BD9-81ED-4DB2-BD59-A6C34878D82A}">
                    <a16:rowId xmlns:a16="http://schemas.microsoft.com/office/drawing/2014/main" val="1490216946"/>
                  </a:ext>
                </a:extLst>
              </a:tr>
              <a:tr h="296671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s-AR" sz="1400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Google Sans Text"/>
                        </a:rPr>
                        <a:t>/= </a:t>
                      </a:r>
                    </a:p>
                  </a:txBody>
                  <a:tcPr marL="152192" marR="86830" marT="76096" marB="76096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s-ES" sz="1400" dirty="0"/>
                        <a:t>Divide por una cantidad a una variable </a:t>
                      </a:r>
                      <a:endParaRPr lang="es-AR" sz="14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Google Sans Text"/>
                      </a:endParaRPr>
                    </a:p>
                  </a:txBody>
                  <a:tcPr marL="152192" marR="86830" marT="76096" marB="76096" anchor="ctr"/>
                </a:tc>
                <a:extLst>
                  <a:ext uri="{0D108BD9-81ED-4DB2-BD59-A6C34878D82A}">
                    <a16:rowId xmlns:a16="http://schemas.microsoft.com/office/drawing/2014/main" val="834862849"/>
                  </a:ext>
                </a:extLst>
              </a:tr>
            </a:tbl>
          </a:graphicData>
        </a:graphic>
      </p:graphicFrame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C4B9263F-232E-4983-B384-A17E0806B8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8290218"/>
              </p:ext>
            </p:extLst>
          </p:nvPr>
        </p:nvGraphicFramePr>
        <p:xfrm>
          <a:off x="957073" y="2952750"/>
          <a:ext cx="7229855" cy="1827760"/>
        </p:xfrm>
        <a:graphic>
          <a:graphicData uri="http://schemas.openxmlformats.org/drawingml/2006/table">
            <a:tbl>
              <a:tblPr>
                <a:tableStyleId>{1FECB4D8-DB02-4DC6-A0A2-4F2EBAE1DC90}</a:tableStyleId>
              </a:tblPr>
              <a:tblGrid>
                <a:gridCol w="1585032">
                  <a:extLst>
                    <a:ext uri="{9D8B030D-6E8A-4147-A177-3AD203B41FA5}">
                      <a16:colId xmlns:a16="http://schemas.microsoft.com/office/drawing/2014/main" val="3151593743"/>
                    </a:ext>
                  </a:extLst>
                </a:gridCol>
                <a:gridCol w="5644823">
                  <a:extLst>
                    <a:ext uri="{9D8B030D-6E8A-4147-A177-3AD203B41FA5}">
                      <a16:colId xmlns:a16="http://schemas.microsoft.com/office/drawing/2014/main" val="2002015147"/>
                    </a:ext>
                  </a:extLst>
                </a:gridCol>
              </a:tblGrid>
              <a:tr h="296671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s-AR" sz="1400" b="1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oogle Sans Text"/>
                          <a:ea typeface="+mn-ea"/>
                          <a:cs typeface="+mn-cs"/>
                        </a:rPr>
                        <a:t>OPERACIÓN</a:t>
                      </a:r>
                    </a:p>
                  </a:txBody>
                  <a:tcPr marL="152192" marR="86830" marT="76096" marB="76096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s-AR" sz="1400" b="1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oogle Sans Text"/>
                          <a:ea typeface="+mn-ea"/>
                          <a:cs typeface="+mn-cs"/>
                        </a:rPr>
                        <a:t>EQUIVALENCIA</a:t>
                      </a:r>
                    </a:p>
                  </a:txBody>
                  <a:tcPr marL="152192" marR="86830" marT="76096" marB="76096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898464"/>
                  </a:ext>
                </a:extLst>
              </a:tr>
              <a:tr h="296671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s-AR" sz="1400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Google Sans Text"/>
                        </a:rPr>
                        <a:t>A += B</a:t>
                      </a:r>
                    </a:p>
                  </a:txBody>
                  <a:tcPr marL="152192" marR="86830" marT="76096" marB="76096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s-AR" sz="1400" dirty="0"/>
                        <a:t>A = A + B</a:t>
                      </a:r>
                      <a:endParaRPr lang="es-AR" sz="14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Google Sans Text"/>
                      </a:endParaRPr>
                    </a:p>
                  </a:txBody>
                  <a:tcPr marL="152192" marR="86830" marT="76096" marB="76096" anchor="ctr"/>
                </a:tc>
                <a:extLst>
                  <a:ext uri="{0D108BD9-81ED-4DB2-BD59-A6C34878D82A}">
                    <a16:rowId xmlns:a16="http://schemas.microsoft.com/office/drawing/2014/main" val="2630564263"/>
                  </a:ext>
                </a:extLst>
              </a:tr>
              <a:tr h="296671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s-AR" sz="1400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Google Sans Text"/>
                        </a:rPr>
                        <a:t>A -= B</a:t>
                      </a:r>
                    </a:p>
                  </a:txBody>
                  <a:tcPr marL="152192" marR="86830" marT="76096" marB="76096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s-AR" sz="1400" dirty="0"/>
                        <a:t>A = A – B</a:t>
                      </a:r>
                      <a:endParaRPr lang="es-AR" sz="14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Google Sans Text"/>
                      </a:endParaRPr>
                    </a:p>
                  </a:txBody>
                  <a:tcPr marL="152192" marR="86830" marT="76096" marB="76096" anchor="ctr"/>
                </a:tc>
                <a:extLst>
                  <a:ext uri="{0D108BD9-81ED-4DB2-BD59-A6C34878D82A}">
                    <a16:rowId xmlns:a16="http://schemas.microsoft.com/office/drawing/2014/main" val="938191747"/>
                  </a:ext>
                </a:extLst>
              </a:tr>
              <a:tr h="296671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s-AR" sz="1400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Google Sans Text"/>
                        </a:rPr>
                        <a:t>A *= B</a:t>
                      </a:r>
                    </a:p>
                  </a:txBody>
                  <a:tcPr marL="152192" marR="86830" marT="76096" marB="76096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s-AR" sz="1400" dirty="0"/>
                        <a:t>A = A * B</a:t>
                      </a:r>
                      <a:endParaRPr lang="es-AR" sz="14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Google Sans Text"/>
                      </a:endParaRPr>
                    </a:p>
                  </a:txBody>
                  <a:tcPr marL="152192" marR="86830" marT="76096" marB="76096" anchor="ctr"/>
                </a:tc>
                <a:extLst>
                  <a:ext uri="{0D108BD9-81ED-4DB2-BD59-A6C34878D82A}">
                    <a16:rowId xmlns:a16="http://schemas.microsoft.com/office/drawing/2014/main" val="1490216946"/>
                  </a:ext>
                </a:extLst>
              </a:tr>
              <a:tr h="296671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s-AR" sz="1400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Google Sans Text"/>
                        </a:rPr>
                        <a:t>A /= B</a:t>
                      </a:r>
                    </a:p>
                  </a:txBody>
                  <a:tcPr marL="152192" marR="86830" marT="76096" marB="76096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s-AR" sz="1400" dirty="0"/>
                        <a:t>A = A / B</a:t>
                      </a:r>
                      <a:endParaRPr lang="es-AR" sz="14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Google Sans Text"/>
                      </a:endParaRPr>
                    </a:p>
                  </a:txBody>
                  <a:tcPr marL="152192" marR="86830" marT="76096" marB="76096" anchor="ctr"/>
                </a:tc>
                <a:extLst>
                  <a:ext uri="{0D108BD9-81ED-4DB2-BD59-A6C34878D82A}">
                    <a16:rowId xmlns:a16="http://schemas.microsoft.com/office/drawing/2014/main" val="8348628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962567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4DE250-D174-E5A5-3B2E-2786D5DD6B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7F2EE2B6-23A7-954E-E8FC-A09B9BC6F28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9370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2700" algn="ctr" defTabSz="914400"/>
            <a:r>
              <a:rPr lang="es-ES" sz="3200" kern="1200" noProof="0" dirty="0">
                <a:solidFill>
                  <a:schemeClr val="tx1"/>
                </a:solidFill>
                <a:latin typeface="Google Sans Text"/>
              </a:rPr>
              <a:t>Ejemplo Práctico: Cuantos números son cero</a:t>
            </a:r>
            <a:endParaRPr lang="es-AR" sz="3200" kern="1200" spc="-65" noProof="0" dirty="0">
              <a:solidFill>
                <a:schemeClr val="tx1"/>
              </a:solidFill>
              <a:latin typeface="Google Sans Text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4506DC9C-4274-127E-1DE1-AF220FD37C6D}"/>
              </a:ext>
            </a:extLst>
          </p:cNvPr>
          <p:cNvSpPr txBox="1"/>
          <p:nvPr/>
        </p:nvSpPr>
        <p:spPr>
          <a:xfrm>
            <a:off x="952500" y="594145"/>
            <a:ext cx="7238999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s-ES" sz="1600" dirty="0">
                <a:latin typeface="Google Sans Text"/>
              </a:rPr>
              <a:t>Problema: Ingresar 3 números y mostrar cuantos son ceros.</a:t>
            </a:r>
            <a:endParaRPr lang="en-US" sz="1600" dirty="0">
              <a:latin typeface="Google Sans Text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4AE24F1B-3EB1-B820-C558-3653D1796BAE}"/>
              </a:ext>
            </a:extLst>
          </p:cNvPr>
          <p:cNvSpPr txBox="1"/>
          <p:nvPr/>
        </p:nvSpPr>
        <p:spPr>
          <a:xfrm>
            <a:off x="4114800" y="1199072"/>
            <a:ext cx="4129794" cy="2923236"/>
          </a:xfrm>
          <a:prstGeom prst="rect">
            <a:avLst/>
          </a:prstGeom>
          <a:solidFill>
            <a:schemeClr val="tx1"/>
          </a:solidFill>
          <a:ln w="9524">
            <a:solidFill>
              <a:schemeClr val="tx1"/>
            </a:solidFill>
          </a:ln>
        </p:spPr>
        <p:txBody>
          <a:bodyPr vert="horz" wrap="square" lIns="0" tIns="50165" rIns="0" bIns="0" rtlCol="0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s-AR" sz="12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s-A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A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n1</a:t>
            </a:r>
            <a:r>
              <a:rPr lang="es-A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A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n2</a:t>
            </a:r>
            <a:r>
              <a:rPr lang="es-A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AR" sz="1200" dirty="0">
                <a:solidFill>
                  <a:srgbClr val="9CDCFE"/>
                </a:solidFill>
                <a:latin typeface="Consolas" panose="020B0609020204030204" pitchFamily="49" charset="0"/>
              </a:rPr>
              <a:t>n3</a:t>
            </a:r>
            <a:r>
              <a:rPr lang="es-A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s-AR" sz="1200" dirty="0" err="1">
                <a:solidFill>
                  <a:srgbClr val="569CD6"/>
                </a:solidFill>
                <a:latin typeface="Consolas" panose="020B0609020204030204" pitchFamily="49" charset="0"/>
              </a:rPr>
              <a:t>int</a:t>
            </a:r>
            <a:r>
              <a:rPr lang="es-AR" sz="12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s-AR" sz="1200" dirty="0">
                <a:solidFill>
                  <a:srgbClr val="9CDCFE"/>
                </a:solidFill>
                <a:latin typeface="Consolas" panose="020B0609020204030204" pitchFamily="49" charset="0"/>
              </a:rPr>
              <a:t>contar</a:t>
            </a:r>
            <a:r>
              <a:rPr lang="es-A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A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A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A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s-A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s-A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// El contador se inicializa en 0</a:t>
            </a:r>
            <a:endParaRPr lang="es-AR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s-A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s-A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AR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s-A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AR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"Ingrese tres </a:t>
            </a:r>
            <a:r>
              <a:rPr lang="es-AR" sz="12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numeros</a:t>
            </a:r>
            <a:r>
              <a:rPr lang="es-AR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: "</a:t>
            </a:r>
            <a:r>
              <a:rPr lang="es-A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s-A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cin</a:t>
            </a:r>
            <a:r>
              <a:rPr lang="es-A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AR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&gt;&gt;</a:t>
            </a:r>
            <a:r>
              <a:rPr lang="es-A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A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n1</a:t>
            </a:r>
            <a:r>
              <a:rPr lang="es-A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s-A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cin</a:t>
            </a:r>
            <a:r>
              <a:rPr lang="es-A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AR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&gt;&gt;</a:t>
            </a:r>
            <a:r>
              <a:rPr lang="es-A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A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n2</a:t>
            </a:r>
            <a:r>
              <a:rPr lang="es-A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s-A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cin</a:t>
            </a:r>
            <a:r>
              <a:rPr lang="es-A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AR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&gt;&gt;</a:t>
            </a:r>
            <a:r>
              <a:rPr lang="es-A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A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n3</a:t>
            </a:r>
            <a:r>
              <a:rPr lang="es-A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s-AR" sz="120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s-A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s-AR" sz="1200" dirty="0">
                <a:solidFill>
                  <a:srgbClr val="9CDCFE"/>
                </a:solidFill>
                <a:latin typeface="Consolas" panose="020B0609020204030204" pitchFamily="49" charset="0"/>
              </a:rPr>
              <a:t>n1</a:t>
            </a:r>
            <a:r>
              <a:rPr lang="es-A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A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s-A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A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s-A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ts val="1425"/>
              </a:lnSpc>
              <a:buNone/>
            </a:pPr>
            <a:r>
              <a:rPr lang="es-AR" sz="1200" dirty="0">
                <a:solidFill>
                  <a:srgbClr val="CCCCCC"/>
                </a:solidFill>
                <a:latin typeface="Consolas" panose="020B0609020204030204" pitchFamily="49" charset="0"/>
              </a:rPr>
              <a:t>    </a:t>
            </a:r>
            <a:r>
              <a:rPr lang="es-AR" sz="1200" dirty="0">
                <a:solidFill>
                  <a:srgbClr val="9CDCFE"/>
                </a:solidFill>
                <a:latin typeface="Consolas" panose="020B0609020204030204" pitchFamily="49" charset="0"/>
              </a:rPr>
              <a:t>contar</a:t>
            </a:r>
            <a:r>
              <a:rPr lang="es-A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A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++</a:t>
            </a:r>
            <a:r>
              <a:rPr lang="es-A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s-A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// Incremento en 1</a:t>
            </a:r>
            <a:endParaRPr lang="es-AR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s-A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425"/>
              </a:lnSpc>
              <a:buNone/>
            </a:pPr>
            <a:r>
              <a:rPr lang="es-AR" sz="1200" dirty="0" err="1">
                <a:solidFill>
                  <a:srgbClr val="C586C0"/>
                </a:solidFill>
                <a:latin typeface="Consolas" panose="020B0609020204030204" pitchFamily="49" charset="0"/>
              </a:rPr>
              <a:t>if</a:t>
            </a:r>
            <a:r>
              <a:rPr lang="es-AR" sz="1200" dirty="0">
                <a:solidFill>
                  <a:srgbClr val="CCCCCC"/>
                </a:solidFill>
                <a:latin typeface="Consolas" panose="020B0609020204030204" pitchFamily="49" charset="0"/>
              </a:rPr>
              <a:t> (</a:t>
            </a:r>
            <a:r>
              <a:rPr lang="es-AR" sz="1200" dirty="0">
                <a:solidFill>
                  <a:srgbClr val="9CDCFE"/>
                </a:solidFill>
                <a:latin typeface="Consolas" panose="020B0609020204030204" pitchFamily="49" charset="0"/>
              </a:rPr>
              <a:t>n2</a:t>
            </a:r>
            <a:r>
              <a:rPr lang="es-AR" sz="12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s-AR" sz="1200" dirty="0">
                <a:solidFill>
                  <a:srgbClr val="D4D4D4"/>
                </a:solidFill>
                <a:latin typeface="Consolas" panose="020B0609020204030204" pitchFamily="49" charset="0"/>
              </a:rPr>
              <a:t>==</a:t>
            </a:r>
            <a:r>
              <a:rPr lang="es-AR" sz="12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s-AR" sz="1200" dirty="0">
                <a:solidFill>
                  <a:srgbClr val="B5CEA8"/>
                </a:solidFill>
                <a:latin typeface="Consolas" panose="020B0609020204030204" pitchFamily="49" charset="0"/>
              </a:rPr>
              <a:t>0</a:t>
            </a:r>
            <a:r>
              <a:rPr lang="es-AR" sz="1200" dirty="0">
                <a:solidFill>
                  <a:srgbClr val="CCCCCC"/>
                </a:solidFill>
                <a:latin typeface="Consolas" panose="020B0609020204030204" pitchFamily="49" charset="0"/>
              </a:rPr>
              <a:t>) {</a:t>
            </a:r>
          </a:p>
          <a:p>
            <a:pPr>
              <a:lnSpc>
                <a:spcPts val="1425"/>
              </a:lnSpc>
              <a:buNone/>
            </a:pPr>
            <a:r>
              <a:rPr lang="es-AR" sz="1200" dirty="0">
                <a:solidFill>
                  <a:srgbClr val="CCCCCC"/>
                </a:solidFill>
                <a:latin typeface="Consolas" panose="020B0609020204030204" pitchFamily="49" charset="0"/>
              </a:rPr>
              <a:t>    </a:t>
            </a:r>
            <a:r>
              <a:rPr lang="es-AR" sz="1200" dirty="0">
                <a:solidFill>
                  <a:srgbClr val="9CDCFE"/>
                </a:solidFill>
                <a:latin typeface="Consolas" panose="020B0609020204030204" pitchFamily="49" charset="0"/>
              </a:rPr>
              <a:t>contar</a:t>
            </a:r>
            <a:r>
              <a:rPr lang="es-AR" sz="12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s-AR" sz="1200" dirty="0">
                <a:solidFill>
                  <a:srgbClr val="D4D4D4"/>
                </a:solidFill>
                <a:latin typeface="Consolas" panose="020B0609020204030204" pitchFamily="49" charset="0"/>
              </a:rPr>
              <a:t>++</a:t>
            </a:r>
            <a:r>
              <a:rPr lang="es-AR" sz="1200" dirty="0">
                <a:solidFill>
                  <a:srgbClr val="CCCCCC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s-AR" sz="1200" dirty="0">
                <a:solidFill>
                  <a:srgbClr val="CCCCCC"/>
                </a:solidFill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425"/>
              </a:lnSpc>
              <a:buNone/>
            </a:pPr>
            <a:r>
              <a:rPr lang="es-AR" sz="1200" dirty="0" err="1">
                <a:solidFill>
                  <a:srgbClr val="C586C0"/>
                </a:solidFill>
                <a:latin typeface="Consolas" panose="020B0609020204030204" pitchFamily="49" charset="0"/>
              </a:rPr>
              <a:t>if</a:t>
            </a:r>
            <a:r>
              <a:rPr lang="es-AR" sz="1200" dirty="0">
                <a:solidFill>
                  <a:srgbClr val="CCCCCC"/>
                </a:solidFill>
                <a:latin typeface="Consolas" panose="020B0609020204030204" pitchFamily="49" charset="0"/>
              </a:rPr>
              <a:t> (</a:t>
            </a:r>
            <a:r>
              <a:rPr lang="es-AR" sz="1200" dirty="0">
                <a:solidFill>
                  <a:srgbClr val="9CDCFE"/>
                </a:solidFill>
                <a:latin typeface="Consolas" panose="020B0609020204030204" pitchFamily="49" charset="0"/>
              </a:rPr>
              <a:t>n3</a:t>
            </a:r>
            <a:r>
              <a:rPr lang="es-AR" sz="12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s-AR" sz="1200" dirty="0">
                <a:solidFill>
                  <a:srgbClr val="D4D4D4"/>
                </a:solidFill>
                <a:latin typeface="Consolas" panose="020B0609020204030204" pitchFamily="49" charset="0"/>
              </a:rPr>
              <a:t>==</a:t>
            </a:r>
            <a:r>
              <a:rPr lang="es-AR" sz="12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s-AR" sz="1200" dirty="0">
                <a:solidFill>
                  <a:srgbClr val="B5CEA8"/>
                </a:solidFill>
                <a:latin typeface="Consolas" panose="020B0609020204030204" pitchFamily="49" charset="0"/>
              </a:rPr>
              <a:t>0</a:t>
            </a:r>
            <a:r>
              <a:rPr lang="es-AR" sz="1200" dirty="0">
                <a:solidFill>
                  <a:srgbClr val="CCCCCC"/>
                </a:solidFill>
                <a:latin typeface="Consolas" panose="020B0609020204030204" pitchFamily="49" charset="0"/>
              </a:rPr>
              <a:t>) {</a:t>
            </a:r>
          </a:p>
          <a:p>
            <a:pPr>
              <a:lnSpc>
                <a:spcPts val="1425"/>
              </a:lnSpc>
              <a:buNone/>
            </a:pPr>
            <a:r>
              <a:rPr lang="es-AR" sz="1200" dirty="0">
                <a:solidFill>
                  <a:srgbClr val="CCCCCC"/>
                </a:solidFill>
                <a:latin typeface="Consolas" panose="020B0609020204030204" pitchFamily="49" charset="0"/>
              </a:rPr>
              <a:t>    </a:t>
            </a:r>
            <a:r>
              <a:rPr lang="es-AR" sz="1200" dirty="0">
                <a:solidFill>
                  <a:srgbClr val="9CDCFE"/>
                </a:solidFill>
                <a:latin typeface="Consolas" panose="020B0609020204030204" pitchFamily="49" charset="0"/>
              </a:rPr>
              <a:t>contar</a:t>
            </a:r>
            <a:r>
              <a:rPr lang="es-AR" sz="12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s-AR" sz="1200" dirty="0">
                <a:solidFill>
                  <a:srgbClr val="D4D4D4"/>
                </a:solidFill>
                <a:latin typeface="Consolas" panose="020B0609020204030204" pitchFamily="49" charset="0"/>
              </a:rPr>
              <a:t>++</a:t>
            </a:r>
            <a:r>
              <a:rPr lang="es-AR" sz="1200" dirty="0">
                <a:solidFill>
                  <a:srgbClr val="CCCCCC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s-AR" sz="1200" dirty="0">
                <a:solidFill>
                  <a:srgbClr val="CCCCCC"/>
                </a:solidFill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425"/>
              </a:lnSpc>
              <a:buNone/>
            </a:pPr>
            <a:r>
              <a:rPr lang="es-A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s-A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AR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s-A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AR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“El total de ceros es: "</a:t>
            </a:r>
            <a:r>
              <a:rPr lang="es-A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A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s-A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AR" sz="1200" dirty="0">
                <a:solidFill>
                  <a:srgbClr val="9CDCFE"/>
                </a:solidFill>
                <a:latin typeface="Consolas" panose="020B0609020204030204" pitchFamily="49" charset="0"/>
              </a:rPr>
              <a:t>suma</a:t>
            </a:r>
            <a:r>
              <a:rPr lang="es-A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11" name="object 9">
            <a:extLst>
              <a:ext uri="{FF2B5EF4-FFF2-40B4-BE49-F238E27FC236}">
                <a16:creationId xmlns:a16="http://schemas.microsoft.com/office/drawing/2014/main" id="{AD32C621-81CD-DED9-317D-8B9C2ED0E35A}"/>
              </a:ext>
            </a:extLst>
          </p:cNvPr>
          <p:cNvSpPr txBox="1"/>
          <p:nvPr/>
        </p:nvSpPr>
        <p:spPr>
          <a:xfrm>
            <a:off x="4038600" y="4190111"/>
            <a:ext cx="847512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1100" b="1" spc="-5" dirty="0">
                <a:latin typeface="Google Sans Text"/>
                <a:cs typeface="Roboto"/>
              </a:rPr>
              <a:t>Códig</a:t>
            </a:r>
            <a:r>
              <a:rPr sz="1100" b="1" dirty="0">
                <a:latin typeface="Google Sans Text"/>
                <a:cs typeface="Roboto"/>
              </a:rPr>
              <a:t>o</a:t>
            </a:r>
            <a:r>
              <a:rPr sz="1100" b="1" spc="-5" dirty="0">
                <a:latin typeface="Google Sans Text"/>
                <a:cs typeface="Roboto"/>
              </a:rPr>
              <a:t> </a:t>
            </a:r>
            <a:r>
              <a:rPr sz="1100" b="1" spc="15" dirty="0">
                <a:latin typeface="Google Sans Text"/>
                <a:cs typeface="Roboto"/>
              </a:rPr>
              <a:t>C</a:t>
            </a:r>
            <a:r>
              <a:rPr lang="es-AR" sz="1100" b="1" spc="15" dirty="0">
                <a:latin typeface="Google Sans Text"/>
                <a:cs typeface="Roboto"/>
              </a:rPr>
              <a:t>++</a:t>
            </a:r>
            <a:endParaRPr sz="1100" dirty="0">
              <a:latin typeface="Google Sans Text"/>
              <a:cs typeface="Roboto"/>
            </a:endParaRP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4C5536AF-A551-4B1C-56FB-B5FF66255B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0344" y="1199072"/>
            <a:ext cx="2589154" cy="3668400"/>
          </a:xfrm>
          <a:prstGeom prst="rect">
            <a:avLst/>
          </a:prstGeom>
        </p:spPr>
      </p:pic>
      <p:sp>
        <p:nvSpPr>
          <p:cNvPr id="10" name="object 8">
            <a:extLst>
              <a:ext uri="{FF2B5EF4-FFF2-40B4-BE49-F238E27FC236}">
                <a16:creationId xmlns:a16="http://schemas.microsoft.com/office/drawing/2014/main" id="{4045B8CC-8385-1388-3A28-7A35F5B54F2F}"/>
              </a:ext>
            </a:extLst>
          </p:cNvPr>
          <p:cNvSpPr txBox="1"/>
          <p:nvPr/>
        </p:nvSpPr>
        <p:spPr>
          <a:xfrm>
            <a:off x="1170344" y="1215184"/>
            <a:ext cx="627380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1100" b="1" spc="-10" dirty="0">
                <a:latin typeface="Google Sans Text"/>
                <a:cs typeface="Roboto"/>
              </a:rPr>
              <a:t>Diagrama</a:t>
            </a:r>
            <a:endParaRPr sz="1100" dirty="0">
              <a:latin typeface="Google Sans Text"/>
              <a:cs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13059739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905FA8-3269-B378-75A7-6D29FBCA1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02052A1-A374-286B-86CD-0263BA9074C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9370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2700" algn="ctr" defTabSz="914400"/>
            <a:r>
              <a:rPr lang="es-ES" sz="3200" kern="1200" noProof="0" dirty="0">
                <a:solidFill>
                  <a:schemeClr val="tx1"/>
                </a:solidFill>
                <a:latin typeface="Google Sans Text"/>
              </a:rPr>
              <a:t>Ejemplo Práctico: Suma de Números Pares</a:t>
            </a:r>
            <a:endParaRPr lang="es-AR" sz="3200" kern="1200" spc="-65" noProof="0" dirty="0">
              <a:solidFill>
                <a:schemeClr val="tx1"/>
              </a:solidFill>
              <a:latin typeface="Google Sans Text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2B61CA25-8939-DB8D-D161-24B81BFD81E8}"/>
              </a:ext>
            </a:extLst>
          </p:cNvPr>
          <p:cNvSpPr txBox="1"/>
          <p:nvPr/>
        </p:nvSpPr>
        <p:spPr>
          <a:xfrm>
            <a:off x="952500" y="594145"/>
            <a:ext cx="7238999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s-ES" sz="1600" dirty="0">
                <a:latin typeface="Google Sans Text"/>
              </a:rPr>
              <a:t>Problema: Ingresar 3 números y mostrar la suma de aquellos que sean pares.</a:t>
            </a:r>
            <a:endParaRPr lang="en-US" sz="1600" dirty="0">
              <a:latin typeface="Google Sans Text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E672B287-26BF-566F-342D-87292AA01749}"/>
              </a:ext>
            </a:extLst>
          </p:cNvPr>
          <p:cNvSpPr txBox="1"/>
          <p:nvPr/>
        </p:nvSpPr>
        <p:spPr>
          <a:xfrm>
            <a:off x="4114800" y="1199072"/>
            <a:ext cx="4129794" cy="2923236"/>
          </a:xfrm>
          <a:prstGeom prst="rect">
            <a:avLst/>
          </a:prstGeom>
          <a:solidFill>
            <a:schemeClr val="tx1"/>
          </a:solidFill>
          <a:ln w="9524">
            <a:solidFill>
              <a:schemeClr val="tx1"/>
            </a:solidFill>
          </a:ln>
        </p:spPr>
        <p:txBody>
          <a:bodyPr vert="horz" wrap="square" lIns="0" tIns="50165" rIns="0" bIns="0" rtlCol="0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s-AR" sz="12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s-A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A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n1</a:t>
            </a:r>
            <a:r>
              <a:rPr lang="es-A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A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n2</a:t>
            </a:r>
            <a:r>
              <a:rPr lang="es-A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AR" sz="1200" dirty="0">
                <a:solidFill>
                  <a:srgbClr val="9CDCFE"/>
                </a:solidFill>
                <a:latin typeface="Consolas" panose="020B0609020204030204" pitchFamily="49" charset="0"/>
              </a:rPr>
              <a:t>n3</a:t>
            </a:r>
            <a:r>
              <a:rPr lang="es-A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s-AR" sz="1200" dirty="0" err="1">
                <a:solidFill>
                  <a:srgbClr val="569CD6"/>
                </a:solidFill>
                <a:latin typeface="Consolas" panose="020B0609020204030204" pitchFamily="49" charset="0"/>
              </a:rPr>
              <a:t>int</a:t>
            </a:r>
            <a:r>
              <a:rPr lang="es-AR" sz="12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s-AR" sz="1200" dirty="0">
                <a:solidFill>
                  <a:srgbClr val="9CDCFE"/>
                </a:solidFill>
                <a:latin typeface="Consolas" panose="020B0609020204030204" pitchFamily="49" charset="0"/>
              </a:rPr>
              <a:t>suma</a:t>
            </a:r>
            <a:r>
              <a:rPr lang="es-A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A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A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A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s-A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s-A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// El acumulador se inicializa en 0</a:t>
            </a:r>
            <a:endParaRPr lang="es-AR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s-A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s-A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AR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s-A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AR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"Ingrese tres </a:t>
            </a:r>
            <a:r>
              <a:rPr lang="es-AR" sz="12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numeros</a:t>
            </a:r>
            <a:r>
              <a:rPr lang="es-AR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: "</a:t>
            </a:r>
            <a:r>
              <a:rPr lang="es-A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s-A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cin</a:t>
            </a:r>
            <a:r>
              <a:rPr lang="es-A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AR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&gt;&gt;</a:t>
            </a:r>
            <a:r>
              <a:rPr lang="es-A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A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n1</a:t>
            </a:r>
            <a:r>
              <a:rPr lang="es-A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s-A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cin</a:t>
            </a:r>
            <a:r>
              <a:rPr lang="es-A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AR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&gt;&gt;</a:t>
            </a:r>
            <a:r>
              <a:rPr lang="es-A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A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n2</a:t>
            </a:r>
            <a:r>
              <a:rPr lang="es-A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s-A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cin</a:t>
            </a:r>
            <a:r>
              <a:rPr lang="es-A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AR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&gt;&gt;</a:t>
            </a:r>
            <a:r>
              <a:rPr lang="es-A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A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n3</a:t>
            </a:r>
            <a:r>
              <a:rPr lang="es-A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s-AR" sz="120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s-A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s-AR" sz="1200" dirty="0">
                <a:solidFill>
                  <a:srgbClr val="9CDCFE"/>
                </a:solidFill>
                <a:latin typeface="Consolas" panose="020B0609020204030204" pitchFamily="49" charset="0"/>
              </a:rPr>
              <a:t>n1</a:t>
            </a:r>
            <a:r>
              <a:rPr lang="es-A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A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%</a:t>
            </a:r>
            <a:r>
              <a:rPr lang="es-A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A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s-A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A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s-A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A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s-A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ts val="1425"/>
              </a:lnSpc>
              <a:buNone/>
            </a:pPr>
            <a:r>
              <a:rPr lang="es-AR" sz="1200" dirty="0">
                <a:solidFill>
                  <a:srgbClr val="CCCCCC"/>
                </a:solidFill>
                <a:latin typeface="Consolas" panose="020B0609020204030204" pitchFamily="49" charset="0"/>
              </a:rPr>
              <a:t>    </a:t>
            </a:r>
            <a:r>
              <a:rPr lang="es-AR" sz="1200" dirty="0">
                <a:solidFill>
                  <a:srgbClr val="9CDCFE"/>
                </a:solidFill>
                <a:latin typeface="Consolas" panose="020B0609020204030204" pitchFamily="49" charset="0"/>
              </a:rPr>
              <a:t>suma</a:t>
            </a:r>
            <a:r>
              <a:rPr lang="es-A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A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+=</a:t>
            </a:r>
            <a:r>
              <a:rPr lang="es-A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AR" sz="1200" dirty="0">
                <a:solidFill>
                  <a:srgbClr val="9CDCFE"/>
                </a:solidFill>
                <a:latin typeface="Consolas" panose="020B0609020204030204" pitchFamily="49" charset="0"/>
              </a:rPr>
              <a:t>n1</a:t>
            </a:r>
            <a:r>
              <a:rPr lang="es-A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s-A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// Uso de asignación compuesta</a:t>
            </a:r>
            <a:endParaRPr lang="es-AR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s-A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425"/>
              </a:lnSpc>
              <a:buNone/>
            </a:pPr>
            <a:r>
              <a:rPr lang="es-AR" sz="1200" dirty="0" err="1">
                <a:solidFill>
                  <a:srgbClr val="C586C0"/>
                </a:solidFill>
                <a:latin typeface="Consolas" panose="020B0609020204030204" pitchFamily="49" charset="0"/>
              </a:rPr>
              <a:t>if</a:t>
            </a:r>
            <a:r>
              <a:rPr lang="es-AR" sz="1200" dirty="0">
                <a:solidFill>
                  <a:srgbClr val="CCCCCC"/>
                </a:solidFill>
                <a:latin typeface="Consolas" panose="020B0609020204030204" pitchFamily="49" charset="0"/>
              </a:rPr>
              <a:t> (</a:t>
            </a:r>
            <a:r>
              <a:rPr lang="es-AR" sz="1200" dirty="0">
                <a:solidFill>
                  <a:srgbClr val="9CDCFE"/>
                </a:solidFill>
                <a:latin typeface="Consolas" panose="020B0609020204030204" pitchFamily="49" charset="0"/>
              </a:rPr>
              <a:t>n2</a:t>
            </a:r>
            <a:r>
              <a:rPr lang="es-AR" sz="12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s-AR" sz="1200" dirty="0">
                <a:solidFill>
                  <a:srgbClr val="D4D4D4"/>
                </a:solidFill>
                <a:latin typeface="Consolas" panose="020B0609020204030204" pitchFamily="49" charset="0"/>
              </a:rPr>
              <a:t>%</a:t>
            </a:r>
            <a:r>
              <a:rPr lang="es-AR" sz="12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s-AR" sz="1200" dirty="0">
                <a:solidFill>
                  <a:srgbClr val="B5CEA8"/>
                </a:solidFill>
                <a:latin typeface="Consolas" panose="020B0609020204030204" pitchFamily="49" charset="0"/>
              </a:rPr>
              <a:t>2</a:t>
            </a:r>
            <a:r>
              <a:rPr lang="es-AR" sz="12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s-AR" sz="1200" dirty="0">
                <a:solidFill>
                  <a:srgbClr val="D4D4D4"/>
                </a:solidFill>
                <a:latin typeface="Consolas" panose="020B0609020204030204" pitchFamily="49" charset="0"/>
              </a:rPr>
              <a:t>==</a:t>
            </a:r>
            <a:r>
              <a:rPr lang="es-AR" sz="12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s-AR" sz="1200" dirty="0">
                <a:solidFill>
                  <a:srgbClr val="B5CEA8"/>
                </a:solidFill>
                <a:latin typeface="Consolas" panose="020B0609020204030204" pitchFamily="49" charset="0"/>
              </a:rPr>
              <a:t>0</a:t>
            </a:r>
            <a:r>
              <a:rPr lang="es-AR" sz="1200" dirty="0">
                <a:solidFill>
                  <a:srgbClr val="CCCCCC"/>
                </a:solidFill>
                <a:latin typeface="Consolas" panose="020B0609020204030204" pitchFamily="49" charset="0"/>
              </a:rPr>
              <a:t>) {</a:t>
            </a:r>
          </a:p>
          <a:p>
            <a:pPr>
              <a:lnSpc>
                <a:spcPts val="1425"/>
              </a:lnSpc>
              <a:buNone/>
            </a:pPr>
            <a:r>
              <a:rPr lang="es-AR" sz="1200" dirty="0">
                <a:solidFill>
                  <a:srgbClr val="CCCCCC"/>
                </a:solidFill>
                <a:latin typeface="Consolas" panose="020B0609020204030204" pitchFamily="49" charset="0"/>
              </a:rPr>
              <a:t>    </a:t>
            </a:r>
            <a:r>
              <a:rPr lang="es-AR" sz="1200" dirty="0">
                <a:solidFill>
                  <a:srgbClr val="9CDCFE"/>
                </a:solidFill>
                <a:latin typeface="Consolas" panose="020B0609020204030204" pitchFamily="49" charset="0"/>
              </a:rPr>
              <a:t>suma</a:t>
            </a:r>
            <a:r>
              <a:rPr lang="es-AR" sz="12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s-AR" sz="1200" dirty="0">
                <a:solidFill>
                  <a:srgbClr val="D4D4D4"/>
                </a:solidFill>
                <a:latin typeface="Consolas" panose="020B0609020204030204" pitchFamily="49" charset="0"/>
              </a:rPr>
              <a:t>+=</a:t>
            </a:r>
            <a:r>
              <a:rPr lang="es-AR" sz="12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s-AR" sz="1200" dirty="0">
                <a:solidFill>
                  <a:srgbClr val="9CDCFE"/>
                </a:solidFill>
                <a:latin typeface="Consolas" panose="020B0609020204030204" pitchFamily="49" charset="0"/>
              </a:rPr>
              <a:t>n2</a:t>
            </a:r>
            <a:r>
              <a:rPr lang="es-AR" sz="1200" dirty="0">
                <a:solidFill>
                  <a:srgbClr val="CCCCCC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s-AR" sz="1200" dirty="0">
                <a:solidFill>
                  <a:srgbClr val="CCCCCC"/>
                </a:solidFill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425"/>
              </a:lnSpc>
              <a:buNone/>
            </a:pPr>
            <a:r>
              <a:rPr lang="es-AR" sz="1200" dirty="0" err="1">
                <a:solidFill>
                  <a:srgbClr val="C586C0"/>
                </a:solidFill>
                <a:latin typeface="Consolas" panose="020B0609020204030204" pitchFamily="49" charset="0"/>
              </a:rPr>
              <a:t>if</a:t>
            </a:r>
            <a:r>
              <a:rPr lang="es-AR" sz="1200" dirty="0">
                <a:solidFill>
                  <a:srgbClr val="CCCCCC"/>
                </a:solidFill>
                <a:latin typeface="Consolas" panose="020B0609020204030204" pitchFamily="49" charset="0"/>
              </a:rPr>
              <a:t> (</a:t>
            </a:r>
            <a:r>
              <a:rPr lang="es-AR" sz="1200" dirty="0">
                <a:solidFill>
                  <a:srgbClr val="9CDCFE"/>
                </a:solidFill>
                <a:latin typeface="Consolas" panose="020B0609020204030204" pitchFamily="49" charset="0"/>
              </a:rPr>
              <a:t>n3</a:t>
            </a:r>
            <a:r>
              <a:rPr lang="es-AR" sz="12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s-AR" sz="1200" dirty="0">
                <a:solidFill>
                  <a:srgbClr val="D4D4D4"/>
                </a:solidFill>
                <a:latin typeface="Consolas" panose="020B0609020204030204" pitchFamily="49" charset="0"/>
              </a:rPr>
              <a:t>%</a:t>
            </a:r>
            <a:r>
              <a:rPr lang="es-AR" sz="12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s-AR" sz="1200" dirty="0">
                <a:solidFill>
                  <a:srgbClr val="B5CEA8"/>
                </a:solidFill>
                <a:latin typeface="Consolas" panose="020B0609020204030204" pitchFamily="49" charset="0"/>
              </a:rPr>
              <a:t>2</a:t>
            </a:r>
            <a:r>
              <a:rPr lang="es-AR" sz="12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s-AR" sz="1200" dirty="0">
                <a:solidFill>
                  <a:srgbClr val="D4D4D4"/>
                </a:solidFill>
                <a:latin typeface="Consolas" panose="020B0609020204030204" pitchFamily="49" charset="0"/>
              </a:rPr>
              <a:t>==</a:t>
            </a:r>
            <a:r>
              <a:rPr lang="es-AR" sz="12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s-AR" sz="1200" dirty="0">
                <a:solidFill>
                  <a:srgbClr val="B5CEA8"/>
                </a:solidFill>
                <a:latin typeface="Consolas" panose="020B0609020204030204" pitchFamily="49" charset="0"/>
              </a:rPr>
              <a:t>0</a:t>
            </a:r>
            <a:r>
              <a:rPr lang="es-AR" sz="1200" dirty="0">
                <a:solidFill>
                  <a:srgbClr val="CCCCCC"/>
                </a:solidFill>
                <a:latin typeface="Consolas" panose="020B0609020204030204" pitchFamily="49" charset="0"/>
              </a:rPr>
              <a:t>) {</a:t>
            </a:r>
          </a:p>
          <a:p>
            <a:pPr>
              <a:lnSpc>
                <a:spcPts val="1425"/>
              </a:lnSpc>
              <a:buNone/>
            </a:pPr>
            <a:r>
              <a:rPr lang="es-AR" sz="1200" dirty="0">
                <a:solidFill>
                  <a:srgbClr val="CCCCCC"/>
                </a:solidFill>
                <a:latin typeface="Consolas" panose="020B0609020204030204" pitchFamily="49" charset="0"/>
              </a:rPr>
              <a:t>    </a:t>
            </a:r>
            <a:r>
              <a:rPr lang="es-AR" sz="1200" dirty="0">
                <a:solidFill>
                  <a:srgbClr val="9CDCFE"/>
                </a:solidFill>
                <a:latin typeface="Consolas" panose="020B0609020204030204" pitchFamily="49" charset="0"/>
              </a:rPr>
              <a:t>suma</a:t>
            </a:r>
            <a:r>
              <a:rPr lang="es-AR" sz="12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s-AR" sz="1200" dirty="0">
                <a:solidFill>
                  <a:srgbClr val="D4D4D4"/>
                </a:solidFill>
                <a:latin typeface="Consolas" panose="020B0609020204030204" pitchFamily="49" charset="0"/>
              </a:rPr>
              <a:t>+=</a:t>
            </a:r>
            <a:r>
              <a:rPr lang="es-AR" sz="12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s-AR" sz="1200" dirty="0">
                <a:solidFill>
                  <a:srgbClr val="9CDCFE"/>
                </a:solidFill>
                <a:latin typeface="Consolas" panose="020B0609020204030204" pitchFamily="49" charset="0"/>
              </a:rPr>
              <a:t>n3</a:t>
            </a:r>
            <a:r>
              <a:rPr lang="es-AR" sz="1200" dirty="0">
                <a:solidFill>
                  <a:srgbClr val="CCCCCC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s-AR" sz="1200" dirty="0">
                <a:solidFill>
                  <a:srgbClr val="CCCCCC"/>
                </a:solidFill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425"/>
              </a:lnSpc>
              <a:buNone/>
            </a:pPr>
            <a:r>
              <a:rPr lang="es-A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s-A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AR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s-A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AR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"La suma de los pares es: "</a:t>
            </a:r>
            <a:r>
              <a:rPr lang="es-A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A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s-A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AR" sz="1200" dirty="0">
                <a:solidFill>
                  <a:srgbClr val="9CDCFE"/>
                </a:solidFill>
                <a:latin typeface="Consolas" panose="020B0609020204030204" pitchFamily="49" charset="0"/>
              </a:rPr>
              <a:t>suma</a:t>
            </a:r>
            <a:r>
              <a:rPr lang="es-A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9C5E48B4-EE24-62E3-EDC2-A18E02DD06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7800" y="1199072"/>
            <a:ext cx="2375939" cy="3668117"/>
          </a:xfrm>
          <a:prstGeom prst="rect">
            <a:avLst/>
          </a:prstGeom>
        </p:spPr>
      </p:pic>
      <p:sp>
        <p:nvSpPr>
          <p:cNvPr id="10" name="object 8">
            <a:extLst>
              <a:ext uri="{FF2B5EF4-FFF2-40B4-BE49-F238E27FC236}">
                <a16:creationId xmlns:a16="http://schemas.microsoft.com/office/drawing/2014/main" id="{846D8922-4B18-DF79-5273-0C0E6ECE4A80}"/>
              </a:ext>
            </a:extLst>
          </p:cNvPr>
          <p:cNvSpPr txBox="1"/>
          <p:nvPr/>
        </p:nvSpPr>
        <p:spPr>
          <a:xfrm>
            <a:off x="1447800" y="1180022"/>
            <a:ext cx="627380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1100" b="1" spc="-10" dirty="0">
                <a:latin typeface="Google Sans Text"/>
                <a:cs typeface="Roboto"/>
              </a:rPr>
              <a:t>Diagrama</a:t>
            </a:r>
            <a:endParaRPr sz="1100" dirty="0">
              <a:latin typeface="Google Sans Text"/>
              <a:cs typeface="Roboto"/>
            </a:endParaRPr>
          </a:p>
        </p:txBody>
      </p:sp>
      <p:sp>
        <p:nvSpPr>
          <p:cNvPr id="11" name="object 9">
            <a:extLst>
              <a:ext uri="{FF2B5EF4-FFF2-40B4-BE49-F238E27FC236}">
                <a16:creationId xmlns:a16="http://schemas.microsoft.com/office/drawing/2014/main" id="{3BFA0790-97D1-E750-5B20-7B7D209BA4F4}"/>
              </a:ext>
            </a:extLst>
          </p:cNvPr>
          <p:cNvSpPr txBox="1"/>
          <p:nvPr/>
        </p:nvSpPr>
        <p:spPr>
          <a:xfrm>
            <a:off x="4038600" y="4190111"/>
            <a:ext cx="847512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1100" b="1" spc="-5" dirty="0">
                <a:latin typeface="Google Sans Text"/>
                <a:cs typeface="Roboto"/>
              </a:rPr>
              <a:t>Códig</a:t>
            </a:r>
            <a:r>
              <a:rPr sz="1100" b="1" dirty="0">
                <a:latin typeface="Google Sans Text"/>
                <a:cs typeface="Roboto"/>
              </a:rPr>
              <a:t>o</a:t>
            </a:r>
            <a:r>
              <a:rPr sz="1100" b="1" spc="-5" dirty="0">
                <a:latin typeface="Google Sans Text"/>
                <a:cs typeface="Roboto"/>
              </a:rPr>
              <a:t> </a:t>
            </a:r>
            <a:r>
              <a:rPr sz="1100" b="1" spc="15" dirty="0">
                <a:latin typeface="Google Sans Text"/>
                <a:cs typeface="Roboto"/>
              </a:rPr>
              <a:t>C</a:t>
            </a:r>
            <a:r>
              <a:rPr lang="es-AR" sz="1100" b="1" spc="15" dirty="0">
                <a:latin typeface="Google Sans Text"/>
                <a:cs typeface="Roboto"/>
              </a:rPr>
              <a:t>++</a:t>
            </a:r>
            <a:endParaRPr sz="1100" dirty="0">
              <a:latin typeface="Google Sans Text"/>
              <a:cs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9049645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D39CDD-5402-FD4C-D101-95CDF73CA7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74864E8F-6CE5-B876-19FD-BCD3DB969AE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167583"/>
            <a:ext cx="9144000" cy="520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s-AR" spc="-65" dirty="0">
                <a:latin typeface="Google Sans Text"/>
              </a:rPr>
              <a:t>Errores comunes</a:t>
            </a:r>
            <a:endParaRPr spc="-65" dirty="0">
              <a:latin typeface="Google Sans Text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77170078-28DF-A2CC-11BE-2A6350990049}"/>
              </a:ext>
            </a:extLst>
          </p:cNvPr>
          <p:cNvSpPr txBox="1"/>
          <p:nvPr/>
        </p:nvSpPr>
        <p:spPr>
          <a:xfrm>
            <a:off x="609600" y="976789"/>
            <a:ext cx="8021659" cy="2548133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s-ES" sz="1600" b="1" dirty="0"/>
              <a:t>Olvidar la Inicialización</a:t>
            </a:r>
            <a:r>
              <a:rPr lang="es-ES" sz="1600" dirty="0"/>
              <a:t>: Si no igualas el contador o acumulador a 0 al principio, el programa sumará sobre un valor desconocido ("basura" en memoria), dando resultados incorrectos.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s-ES" sz="1600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s-ES" sz="1600" b="1" dirty="0"/>
              <a:t>Confundir el Rol</a:t>
            </a:r>
            <a:r>
              <a:rPr lang="es-ES" sz="1600" dirty="0"/>
              <a:t>: Usar un contador (c = c + 1) cuando se requiere sumar montos variables (c = c + precio).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s-ES" sz="1600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s-ES" sz="1600" b="1" dirty="0"/>
              <a:t>Ubicación Incorrecta</a:t>
            </a:r>
            <a:r>
              <a:rPr lang="es-ES" sz="1600" dirty="0"/>
              <a:t>: Colocar la inicialización dentro de un bucle, lo que provoca que la variable se reinicie a cero en cada vuelta y nunca progrese.</a:t>
            </a:r>
          </a:p>
          <a:p>
            <a:endParaRPr sz="2100" dirty="0">
              <a:latin typeface="Google Sans Text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1842555333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Blue Green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Blue Green">
    <a:dk1>
      <a:sysClr val="windowText" lastClr="000000"/>
    </a:dk1>
    <a:lt1>
      <a:sysClr val="window" lastClr="FFFFFF"/>
    </a:lt1>
    <a:dk2>
      <a:srgbClr val="373545"/>
    </a:dk2>
    <a:lt2>
      <a:srgbClr val="CEDBE6"/>
    </a:lt2>
    <a:accent1>
      <a:srgbClr val="3494BA"/>
    </a:accent1>
    <a:accent2>
      <a:srgbClr val="58B6C0"/>
    </a:accent2>
    <a:accent3>
      <a:srgbClr val="75BDA7"/>
    </a:accent3>
    <a:accent4>
      <a:srgbClr val="7A8C8E"/>
    </a:accent4>
    <a:accent5>
      <a:srgbClr val="84ACB6"/>
    </a:accent5>
    <a:accent6>
      <a:srgbClr val="2683C6"/>
    </a:accent6>
    <a:hlink>
      <a:srgbClr val="6B9F25"/>
    </a:hlink>
    <a:folHlink>
      <a:srgbClr val="9F6715"/>
    </a:folHlink>
  </a:clrScheme>
</a:themeOverride>
</file>

<file path=ppt/theme/themeOverride2.xml><?xml version="1.0" encoding="utf-8"?>
<a:themeOverride xmlns:a="http://schemas.openxmlformats.org/drawingml/2006/main">
  <a:clrScheme name="Blue Green">
    <a:dk1>
      <a:sysClr val="windowText" lastClr="000000"/>
    </a:dk1>
    <a:lt1>
      <a:sysClr val="window" lastClr="FFFFFF"/>
    </a:lt1>
    <a:dk2>
      <a:srgbClr val="373545"/>
    </a:dk2>
    <a:lt2>
      <a:srgbClr val="CEDBE6"/>
    </a:lt2>
    <a:accent1>
      <a:srgbClr val="3494BA"/>
    </a:accent1>
    <a:accent2>
      <a:srgbClr val="58B6C0"/>
    </a:accent2>
    <a:accent3>
      <a:srgbClr val="75BDA7"/>
    </a:accent3>
    <a:accent4>
      <a:srgbClr val="7A8C8E"/>
    </a:accent4>
    <a:accent5>
      <a:srgbClr val="84ACB6"/>
    </a:accent5>
    <a:accent6>
      <a:srgbClr val="2683C6"/>
    </a:accent6>
    <a:hlink>
      <a:srgbClr val="6B9F25"/>
    </a:hlink>
    <a:folHlink>
      <a:srgbClr val="9F6715"/>
    </a:folHlink>
  </a:clrScheme>
</a:themeOverride>
</file>

<file path=ppt/theme/themeOverride3.xml><?xml version="1.0" encoding="utf-8"?>
<a:themeOverride xmlns:a="http://schemas.openxmlformats.org/drawingml/2006/main">
  <a:clrScheme name="Blue Green">
    <a:dk1>
      <a:sysClr val="windowText" lastClr="000000"/>
    </a:dk1>
    <a:lt1>
      <a:sysClr val="window" lastClr="FFFFFF"/>
    </a:lt1>
    <a:dk2>
      <a:srgbClr val="373545"/>
    </a:dk2>
    <a:lt2>
      <a:srgbClr val="CEDBE6"/>
    </a:lt2>
    <a:accent1>
      <a:srgbClr val="3494BA"/>
    </a:accent1>
    <a:accent2>
      <a:srgbClr val="58B6C0"/>
    </a:accent2>
    <a:accent3>
      <a:srgbClr val="75BDA7"/>
    </a:accent3>
    <a:accent4>
      <a:srgbClr val="7A8C8E"/>
    </a:accent4>
    <a:accent5>
      <a:srgbClr val="84ACB6"/>
    </a:accent5>
    <a:accent6>
      <a:srgbClr val="2683C6"/>
    </a:accent6>
    <a:hlink>
      <a:srgbClr val="6B9F25"/>
    </a:hlink>
    <a:folHlink>
      <a:srgbClr val="9F6715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441</TotalTime>
  <Words>747</Words>
  <Application>Microsoft Office PowerPoint</Application>
  <PresentationFormat>Presentación en pantalla (16:9)</PresentationFormat>
  <Paragraphs>123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8" baseType="lpstr">
      <vt:lpstr>Aptos</vt:lpstr>
      <vt:lpstr>Aptos Display</vt:lpstr>
      <vt:lpstr>Arial</vt:lpstr>
      <vt:lpstr>Consolas</vt:lpstr>
      <vt:lpstr>Google Sans Text</vt:lpstr>
      <vt:lpstr>Roboto</vt:lpstr>
      <vt:lpstr>Trebuchet MS</vt:lpstr>
      <vt:lpstr>Wingdings</vt:lpstr>
      <vt:lpstr>1_Office Theme</vt:lpstr>
      <vt:lpstr>Presentación de PowerPoint</vt:lpstr>
      <vt:lpstr>Introducción</vt:lpstr>
      <vt:lpstr>Contadores</vt:lpstr>
      <vt:lpstr>Operaciones de un contador</vt:lpstr>
      <vt:lpstr>Acumuladores</vt:lpstr>
      <vt:lpstr>Operaciones de un Acumulador</vt:lpstr>
      <vt:lpstr>Ejemplo Práctico: Cuantos números son cero</vt:lpstr>
      <vt:lpstr>Ejemplo Práctico: Suma de Números Pares</vt:lpstr>
      <vt:lpstr>Errores comunes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LAB1 - Decisión</dc:title>
  <cp:lastModifiedBy>Ariel Sebastian Tapia</cp:lastModifiedBy>
  <cp:revision>32</cp:revision>
  <dcterms:created xsi:type="dcterms:W3CDTF">2024-09-11T15:21:18Z</dcterms:created>
  <dcterms:modified xsi:type="dcterms:W3CDTF">2026-04-03T21:08:17Z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or">
    <vt:lpwstr>Google</vt:lpwstr>
  </property>
</Properties>
</file>