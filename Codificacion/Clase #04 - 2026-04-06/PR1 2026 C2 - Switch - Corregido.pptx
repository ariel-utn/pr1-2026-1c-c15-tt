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256" r:id="rId2"/>
    <p:sldId id="300" r:id="rId3"/>
    <p:sldId id="312" r:id="rId4"/>
    <p:sldId id="314" r:id="rId5"/>
    <p:sldId id="313" r:id="rId6"/>
  </p:sldIdLst>
  <p:sldSz cx="9144000" cy="5143500" type="screen16x9"/>
  <p:notesSz cx="9144000" cy="51435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33" d="100"/>
          <a:sy n="133" d="100"/>
        </p:scale>
        <p:origin x="906" y="1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2CAE8-F96C-2073-F240-58D203F6C59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81EB685-326D-BF42-9FA8-DBE7935C18FC}"/>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5FF85AA-C6B6-0176-2899-9F67F75EF162}"/>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5" name="Footer Placeholder 4">
            <a:extLst>
              <a:ext uri="{FF2B5EF4-FFF2-40B4-BE49-F238E27FC236}">
                <a16:creationId xmlns:a16="http://schemas.microsoft.com/office/drawing/2014/main" id="{934C410E-519D-A66F-8517-ECEA92DAA0A4}"/>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87178098-6905-38A5-2A92-7B8EF03C039E}"/>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2764862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6353A-37A7-58CF-A687-D1CF48A75F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F41C46-B13F-16C2-3B05-07A88B8118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7FA4F7-2220-1A06-27AD-7ED8577E3E74}"/>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5" name="Footer Placeholder 4">
            <a:extLst>
              <a:ext uri="{FF2B5EF4-FFF2-40B4-BE49-F238E27FC236}">
                <a16:creationId xmlns:a16="http://schemas.microsoft.com/office/drawing/2014/main" id="{20A5E456-18D3-896F-C7F9-A488CF309893}"/>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0508697D-55E0-8496-47FD-7EA0985AE868}"/>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2014964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10602-D645-3AC9-9D19-3BAE5D284073}"/>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2E7C6A8-E18E-4D78-6829-F17C18A0E118}"/>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238FC0-3BC1-4B02-9BB8-9344FDF981CC}"/>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5" name="Footer Placeholder 4">
            <a:extLst>
              <a:ext uri="{FF2B5EF4-FFF2-40B4-BE49-F238E27FC236}">
                <a16:creationId xmlns:a16="http://schemas.microsoft.com/office/drawing/2014/main" id="{2F02EE21-A18C-0927-6F02-94D3D8F12911}"/>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C84F4FC6-31D8-7275-D2E7-4F770DDE9A9A}"/>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739196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4C46-1B00-5B94-3721-63A4F48578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7F03A7-B709-5735-AF7C-85D945817E91}"/>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A1BB35-6E58-1F96-C5FE-D3A75FC39963}"/>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216884-F52F-3F58-3B4D-49697AED0037}"/>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6" name="Footer Placeholder 5">
            <a:extLst>
              <a:ext uri="{FF2B5EF4-FFF2-40B4-BE49-F238E27FC236}">
                <a16:creationId xmlns:a16="http://schemas.microsoft.com/office/drawing/2014/main" id="{EA6616FB-FD18-83FB-7A68-1E8097CE1EE7}"/>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7FEDD934-FB1E-FB03-E67F-9809309BEB17}"/>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2843237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E958-2E17-5607-49A1-575BDD97F591}"/>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B7E781-2C4F-F7B9-E5CA-A3DC8837ABED}"/>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987D54C-D6D8-B2AE-02B4-26A098B648E4}"/>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4B8E0E-11D3-4D36-043D-B49B87F3FAE6}"/>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4E35950-F75A-AA3A-4AF0-66F45AD6947B}"/>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91E08D-C26C-59A1-6FE9-AA8C8091C588}"/>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8" name="Footer Placeholder 7">
            <a:extLst>
              <a:ext uri="{FF2B5EF4-FFF2-40B4-BE49-F238E27FC236}">
                <a16:creationId xmlns:a16="http://schemas.microsoft.com/office/drawing/2014/main" id="{672C3A60-0BA8-FF38-B149-4F1F0F0560A2}"/>
              </a:ext>
            </a:extLst>
          </p:cNvPr>
          <p:cNvSpPr>
            <a:spLocks noGrp="1"/>
          </p:cNvSpPr>
          <p:nvPr>
            <p:ph type="ftr" sz="quarter" idx="11"/>
          </p:nvPr>
        </p:nvSpPr>
        <p:spPr/>
        <p:txBody>
          <a:bodyPr/>
          <a:lstStyle/>
          <a:p>
            <a:endParaRPr lang="es-AR"/>
          </a:p>
        </p:txBody>
      </p:sp>
      <p:sp>
        <p:nvSpPr>
          <p:cNvPr id="9" name="Slide Number Placeholder 8">
            <a:extLst>
              <a:ext uri="{FF2B5EF4-FFF2-40B4-BE49-F238E27FC236}">
                <a16:creationId xmlns:a16="http://schemas.microsoft.com/office/drawing/2014/main" id="{4A826058-518A-296C-918E-A0C41BD0A9F3}"/>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44058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C1B68-1736-5B50-9CCC-0212137274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8465D7-CED5-23FB-E4F9-A65D3CFD6856}"/>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4" name="Footer Placeholder 3">
            <a:extLst>
              <a:ext uri="{FF2B5EF4-FFF2-40B4-BE49-F238E27FC236}">
                <a16:creationId xmlns:a16="http://schemas.microsoft.com/office/drawing/2014/main" id="{2006A6FC-015A-BB34-E99A-AF820495DA35}"/>
              </a:ext>
            </a:extLst>
          </p:cNvPr>
          <p:cNvSpPr>
            <a:spLocks noGrp="1"/>
          </p:cNvSpPr>
          <p:nvPr>
            <p:ph type="ftr" sz="quarter" idx="11"/>
          </p:nvPr>
        </p:nvSpPr>
        <p:spPr/>
        <p:txBody>
          <a:bodyPr/>
          <a:lstStyle/>
          <a:p>
            <a:endParaRPr lang="es-AR"/>
          </a:p>
        </p:txBody>
      </p:sp>
      <p:sp>
        <p:nvSpPr>
          <p:cNvPr id="5" name="Slide Number Placeholder 4">
            <a:extLst>
              <a:ext uri="{FF2B5EF4-FFF2-40B4-BE49-F238E27FC236}">
                <a16:creationId xmlns:a16="http://schemas.microsoft.com/office/drawing/2014/main" id="{B8D3C009-7EC5-4010-6B33-0B1850B5EB62}"/>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1242509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77172F-3DC6-BD6D-96A2-D14D84D93BD3}"/>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3" name="Footer Placeholder 2">
            <a:extLst>
              <a:ext uri="{FF2B5EF4-FFF2-40B4-BE49-F238E27FC236}">
                <a16:creationId xmlns:a16="http://schemas.microsoft.com/office/drawing/2014/main" id="{69C9EFAD-AACE-C45F-F625-CCB5E7C4FE90}"/>
              </a:ext>
            </a:extLst>
          </p:cNvPr>
          <p:cNvSpPr>
            <a:spLocks noGrp="1"/>
          </p:cNvSpPr>
          <p:nvPr>
            <p:ph type="ftr" sz="quarter" idx="11"/>
          </p:nvPr>
        </p:nvSpPr>
        <p:spPr/>
        <p:txBody>
          <a:bodyPr/>
          <a:lstStyle/>
          <a:p>
            <a:endParaRPr lang="es-AR"/>
          </a:p>
        </p:txBody>
      </p:sp>
      <p:sp>
        <p:nvSpPr>
          <p:cNvPr id="4" name="Slide Number Placeholder 3">
            <a:extLst>
              <a:ext uri="{FF2B5EF4-FFF2-40B4-BE49-F238E27FC236}">
                <a16:creationId xmlns:a16="http://schemas.microsoft.com/office/drawing/2014/main" id="{2132E250-4659-7CEF-132F-F775A0065CC8}"/>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202811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42E55-49CC-5FEF-4CA5-E54436E2722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BEAEDB36-73A9-7816-73DA-2C1CF58DB69D}"/>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EED33F-CFA9-7CBC-6BAA-C41B034DFA0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6F387B9-C74E-056C-22A8-21D6D776F16E}"/>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6" name="Footer Placeholder 5">
            <a:extLst>
              <a:ext uri="{FF2B5EF4-FFF2-40B4-BE49-F238E27FC236}">
                <a16:creationId xmlns:a16="http://schemas.microsoft.com/office/drawing/2014/main" id="{921F53D4-B0C6-F375-1496-CD603553C7C8}"/>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6B2992E1-5AB8-9249-1452-186F660E25E4}"/>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844491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9D1F9-6386-2F14-87DD-A02B226C8DB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639F339-3325-FC35-E15E-14B1384F65D1}"/>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C847418-1674-C966-8EC8-CE0909B7B1A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6300F7E-4333-91A7-4EAD-F9235C297DF8}"/>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6" name="Footer Placeholder 5">
            <a:extLst>
              <a:ext uri="{FF2B5EF4-FFF2-40B4-BE49-F238E27FC236}">
                <a16:creationId xmlns:a16="http://schemas.microsoft.com/office/drawing/2014/main" id="{3DD98764-76BA-8E32-8021-B71FA568B3D3}"/>
              </a:ext>
            </a:extLst>
          </p:cNvPr>
          <p:cNvSpPr>
            <a:spLocks noGrp="1"/>
          </p:cNvSpPr>
          <p:nvPr>
            <p:ph type="ftr" sz="quarter" idx="11"/>
          </p:nvPr>
        </p:nvSpPr>
        <p:spPr/>
        <p:txBody>
          <a:bodyPr/>
          <a:lstStyle/>
          <a:p>
            <a:endParaRPr lang="es-AR"/>
          </a:p>
        </p:txBody>
      </p:sp>
      <p:sp>
        <p:nvSpPr>
          <p:cNvPr id="7" name="Slide Number Placeholder 6">
            <a:extLst>
              <a:ext uri="{FF2B5EF4-FFF2-40B4-BE49-F238E27FC236}">
                <a16:creationId xmlns:a16="http://schemas.microsoft.com/office/drawing/2014/main" id="{8D0DD4C3-603E-69BD-9424-87C09AE6D1B4}"/>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106857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849B-77FF-B592-8B81-2ADB830929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D5CF35-3FFF-F18B-D276-F529BBA221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4BEB8B-6C04-26AB-F180-6CD7ECAA1A34}"/>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5" name="Footer Placeholder 4">
            <a:extLst>
              <a:ext uri="{FF2B5EF4-FFF2-40B4-BE49-F238E27FC236}">
                <a16:creationId xmlns:a16="http://schemas.microsoft.com/office/drawing/2014/main" id="{362BCD26-286F-8DC9-43D7-33C5C590E423}"/>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0E2F0F16-7C99-D58C-332F-B187B34FE115}"/>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3803023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C04AE7-2DDE-AA65-7363-FAD6D319D70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DC4506-C37F-F669-CD59-B47698E4A067}"/>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A95F10-AFE3-C119-8A0A-9B2B6C9D1595}"/>
              </a:ext>
            </a:extLst>
          </p:cNvPr>
          <p:cNvSpPr>
            <a:spLocks noGrp="1"/>
          </p:cNvSpPr>
          <p:nvPr>
            <p:ph type="dt" sz="half" idx="10"/>
          </p:nvPr>
        </p:nvSpPr>
        <p:spPr/>
        <p:txBody>
          <a:bodyPr/>
          <a:lstStyle/>
          <a:p>
            <a:fld id="{1D8BD707-D9CF-40AE-B4C6-C98DA3205C09}" type="datetimeFigureOut">
              <a:rPr lang="en-US" smtClean="0"/>
              <a:t>4/4/2026</a:t>
            </a:fld>
            <a:endParaRPr lang="en-US"/>
          </a:p>
        </p:txBody>
      </p:sp>
      <p:sp>
        <p:nvSpPr>
          <p:cNvPr id="5" name="Footer Placeholder 4">
            <a:extLst>
              <a:ext uri="{FF2B5EF4-FFF2-40B4-BE49-F238E27FC236}">
                <a16:creationId xmlns:a16="http://schemas.microsoft.com/office/drawing/2014/main" id="{F281FCA6-2B6E-5E0A-F23F-0964164287CF}"/>
              </a:ext>
            </a:extLst>
          </p:cNvPr>
          <p:cNvSpPr>
            <a:spLocks noGrp="1"/>
          </p:cNvSpPr>
          <p:nvPr>
            <p:ph type="ftr" sz="quarter" idx="11"/>
          </p:nvPr>
        </p:nvSpPr>
        <p:spPr/>
        <p:txBody>
          <a:bodyPr/>
          <a:lstStyle/>
          <a:p>
            <a:endParaRPr lang="es-AR"/>
          </a:p>
        </p:txBody>
      </p:sp>
      <p:sp>
        <p:nvSpPr>
          <p:cNvPr id="6" name="Slide Number Placeholder 5">
            <a:extLst>
              <a:ext uri="{FF2B5EF4-FFF2-40B4-BE49-F238E27FC236}">
                <a16:creationId xmlns:a16="http://schemas.microsoft.com/office/drawing/2014/main" id="{05EADA82-AC26-4449-C984-042CD6089346}"/>
              </a:ext>
            </a:extLst>
          </p:cNvPr>
          <p:cNvSpPr>
            <a:spLocks noGrp="1"/>
          </p:cNvSpPr>
          <p:nvPr>
            <p:ph type="sldNum" sz="quarter" idx="12"/>
          </p:nvPr>
        </p:nvSpPr>
        <p:spPr/>
        <p:txBody>
          <a:bodyPr/>
          <a:lstStyle/>
          <a:p>
            <a:fld id="{B6F15528-21DE-4FAA-801E-634DDDAF4B2B}" type="slidenum">
              <a:rPr lang="es-AR" smtClean="0"/>
              <a:t>‹Nº›</a:t>
            </a:fld>
            <a:endParaRPr lang="es-AR"/>
          </a:p>
        </p:txBody>
      </p:sp>
    </p:spTree>
    <p:extLst>
      <p:ext uri="{BB962C8B-B14F-4D97-AF65-F5344CB8AC3E}">
        <p14:creationId xmlns:p14="http://schemas.microsoft.com/office/powerpoint/2010/main" val="3485511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B5394"/>
                </a:solidFill>
                <a:latin typeface="Trebuchet MS"/>
                <a:cs typeface="Trebuchet MS"/>
              </a:defRPr>
            </a:lvl1pPr>
          </a:lstStyle>
          <a:p>
            <a:endParaRPr/>
          </a:p>
        </p:txBody>
      </p:sp>
      <p:sp>
        <p:nvSpPr>
          <p:cNvPr id="3" name="Holder 3"/>
          <p:cNvSpPr>
            <a:spLocks noGrp="1"/>
          </p:cNvSpPr>
          <p:nvPr>
            <p:ph sz="half" idx="2"/>
          </p:nvPr>
        </p:nvSpPr>
        <p:spPr>
          <a:xfrm>
            <a:off x="555651" y="1389246"/>
            <a:ext cx="3282950" cy="221552"/>
          </a:xfrm>
          <a:prstGeom prst="rect">
            <a:avLst/>
          </a:prstGeom>
        </p:spPr>
        <p:txBody>
          <a:bodyPr wrap="square" lIns="0" tIns="0" rIns="0" bIns="0">
            <a:spAutoFit/>
          </a:bodyPr>
          <a:lstStyle>
            <a:lvl1pPr>
              <a:defRPr sz="1600" b="0" i="0">
                <a:solidFill>
                  <a:schemeClr val="bg1"/>
                </a:solidFill>
                <a:latin typeface="Roboto"/>
                <a:cs typeface="Roboto"/>
              </a:defRPr>
            </a:lvl1pPr>
          </a:lstStyle>
          <a:p>
            <a:endParaRPr/>
          </a:p>
        </p:txBody>
      </p:sp>
      <p:sp>
        <p:nvSpPr>
          <p:cNvPr id="4" name="Holder 4"/>
          <p:cNvSpPr>
            <a:spLocks noGrp="1"/>
          </p:cNvSpPr>
          <p:nvPr>
            <p:ph sz="half" idx="3"/>
          </p:nvPr>
        </p:nvSpPr>
        <p:spPr>
          <a:xfrm>
            <a:off x="4605676" y="1538471"/>
            <a:ext cx="3896995" cy="221552"/>
          </a:xfrm>
          <a:prstGeom prst="rect">
            <a:avLst/>
          </a:prstGeom>
        </p:spPr>
        <p:txBody>
          <a:bodyPr wrap="square" lIns="0" tIns="0" rIns="0" bIns="0">
            <a:spAutoFit/>
          </a:bodyPr>
          <a:lstStyle>
            <a:lvl1pPr>
              <a:defRPr sz="1600" b="0" i="0">
                <a:solidFill>
                  <a:schemeClr val="bg1"/>
                </a:solidFill>
                <a:latin typeface="Roboto"/>
                <a:cs typeface="Roboto"/>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es-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4/4/2026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s-AR" smtClean="0"/>
              <a:t>‹Nº›</a:t>
            </a:fld>
            <a:endParaRPr lang="es-AR"/>
          </a:p>
        </p:txBody>
      </p:sp>
    </p:spTree>
    <p:extLst>
      <p:ext uri="{BB962C8B-B14F-4D97-AF65-F5344CB8AC3E}">
        <p14:creationId xmlns:p14="http://schemas.microsoft.com/office/powerpoint/2010/main" val="7842765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791047" y="2234251"/>
            <a:ext cx="1561904" cy="452119"/>
          </a:xfrm>
          <a:prstGeom prst="rect">
            <a:avLst/>
          </a:prstGeom>
        </p:spPr>
        <p:txBody>
          <a:bodyPr wrap="square" lIns="0" tIns="0" rIns="0" bIns="0">
            <a:spAutoFit/>
          </a:bodyPr>
          <a:lstStyle>
            <a:lvl1pPr>
              <a:defRPr sz="2800" b="1" i="0">
                <a:solidFill>
                  <a:schemeClr val="bg1"/>
                </a:solidFill>
                <a:latin typeface="Trebuchet MS"/>
                <a:cs typeface="Trebuchet MS"/>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838875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4060D5-61DB-3807-D335-042917A4F0E3}"/>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7D887-ECD3-E332-3382-46688822DE5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36CF68-C4DE-14A6-FA5F-CEF08F20ECB4}"/>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D8BD707-D9CF-40AE-B4C6-C98DA3205C09}" type="datetimeFigureOut">
              <a:rPr lang="en-US" smtClean="0"/>
              <a:t>4/4/2026</a:t>
            </a:fld>
            <a:endParaRPr lang="en-US"/>
          </a:p>
        </p:txBody>
      </p:sp>
      <p:sp>
        <p:nvSpPr>
          <p:cNvPr id="5" name="Footer Placeholder 4">
            <a:extLst>
              <a:ext uri="{FF2B5EF4-FFF2-40B4-BE49-F238E27FC236}">
                <a16:creationId xmlns:a16="http://schemas.microsoft.com/office/drawing/2014/main" id="{854DC3C9-B55F-9104-7762-E1D3C01F008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s-AR"/>
          </a:p>
        </p:txBody>
      </p:sp>
      <p:sp>
        <p:nvSpPr>
          <p:cNvPr id="6" name="Slide Number Placeholder 5">
            <a:extLst>
              <a:ext uri="{FF2B5EF4-FFF2-40B4-BE49-F238E27FC236}">
                <a16:creationId xmlns:a16="http://schemas.microsoft.com/office/drawing/2014/main" id="{A439A71E-2F9F-227A-46BD-3910CE8FE5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B6F15528-21DE-4FAA-801E-634DDDAF4B2B}" type="slidenum">
              <a:rPr lang="es-AR" smtClean="0"/>
              <a:t>‹Nº›</a:t>
            </a:fld>
            <a:endParaRPr lang="es-AR"/>
          </a:p>
        </p:txBody>
      </p:sp>
    </p:spTree>
    <p:extLst>
      <p:ext uri="{BB962C8B-B14F-4D97-AF65-F5344CB8AC3E}">
        <p14:creationId xmlns:p14="http://schemas.microsoft.com/office/powerpoint/2010/main" val="80743267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057400" y="438150"/>
            <a:ext cx="4814485" cy="821378"/>
          </a:xfrm>
          <a:prstGeom prst="rect">
            <a:avLst/>
          </a:prstGeom>
        </p:spPr>
        <p:txBody>
          <a:bodyPr vert="horz" wrap="square" lIns="0" tIns="26034" rIns="0" bIns="0" rtlCol="0">
            <a:spAutoFit/>
          </a:bodyPr>
          <a:lstStyle/>
          <a:p>
            <a:pPr marL="61594" marR="5080" indent="-49530" algn="ctr">
              <a:lnSpc>
                <a:spcPts val="6230"/>
              </a:lnSpc>
              <a:spcBef>
                <a:spcPts val="204"/>
              </a:spcBef>
            </a:pPr>
            <a:r>
              <a:rPr lang="es-ES" sz="5200" spc="45" dirty="0">
                <a:latin typeface="Google Sans Text"/>
                <a:cs typeface="Trebuchet MS"/>
              </a:rPr>
              <a:t>Programación I</a:t>
            </a:r>
            <a:endParaRPr sz="5200" dirty="0">
              <a:latin typeface="Google Sans Text"/>
              <a:cs typeface="Trebuchet MS"/>
            </a:endParaRPr>
          </a:p>
        </p:txBody>
      </p:sp>
      <p:sp>
        <p:nvSpPr>
          <p:cNvPr id="6" name="object 6"/>
          <p:cNvSpPr txBox="1"/>
          <p:nvPr/>
        </p:nvSpPr>
        <p:spPr>
          <a:xfrm>
            <a:off x="762000" y="1789484"/>
            <a:ext cx="7848599" cy="1854354"/>
          </a:xfrm>
          <a:prstGeom prst="rect">
            <a:avLst/>
          </a:prstGeom>
        </p:spPr>
        <p:txBody>
          <a:bodyPr vert="horz" wrap="square" lIns="0" tIns="12700" rIns="0" bIns="0" rtlCol="0">
            <a:spAutoFit/>
          </a:bodyPr>
          <a:lstStyle/>
          <a:p>
            <a:pPr marL="12700" algn="ctr">
              <a:spcBef>
                <a:spcPts val="100"/>
              </a:spcBef>
            </a:pPr>
            <a:r>
              <a:rPr lang="es-ES" sz="2800" b="1" dirty="0">
                <a:latin typeface="Google Sans Text"/>
              </a:rPr>
              <a:t>Decisión Múltiple: La Estructura Switch</a:t>
            </a:r>
            <a:endParaRPr lang="es-ES" sz="2800" b="1" spc="-20" dirty="0">
              <a:latin typeface="Google Sans Text"/>
              <a:cs typeface="Roboto"/>
            </a:endParaRPr>
          </a:p>
          <a:p>
            <a:pPr marL="12700">
              <a:lnSpc>
                <a:spcPct val="100000"/>
              </a:lnSpc>
              <a:spcBef>
                <a:spcPts val="100"/>
              </a:spcBef>
            </a:pPr>
            <a:endParaRPr lang="es-ES" dirty="0">
              <a:latin typeface="Google Sans Text"/>
            </a:endParaRPr>
          </a:p>
          <a:p>
            <a:pPr marL="12700">
              <a:lnSpc>
                <a:spcPct val="100000"/>
              </a:lnSpc>
              <a:spcBef>
                <a:spcPts val="100"/>
              </a:spcBef>
            </a:pPr>
            <a:r>
              <a:rPr lang="es-ES" dirty="0">
                <a:latin typeface="Google Sans Text"/>
              </a:rPr>
              <a:t>La estructura switch es una herramienta de control que permite seleccionar uno de entre varios caminos posibles basándose en el valor de una única variable (denominada selector). Es la alternativa ideal al uso de múltiples </a:t>
            </a:r>
            <a:r>
              <a:rPr lang="es-ES" dirty="0" err="1">
                <a:latin typeface="Google Sans Text"/>
              </a:rPr>
              <a:t>if-else</a:t>
            </a:r>
            <a:r>
              <a:rPr lang="es-ES" dirty="0">
                <a:latin typeface="Google Sans Text"/>
              </a:rPr>
              <a:t> anidados cuando necesitamos comparar una variable contra varios valores constantes.</a:t>
            </a:r>
            <a:endParaRPr lang="es-ES" sz="2800" dirty="0">
              <a:latin typeface="Google Sans Text"/>
              <a:cs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F9528-7271-0749-9FD8-C4729FCC04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2CD906-48AF-AB7B-B80C-8620D2128D14}"/>
              </a:ext>
            </a:extLst>
          </p:cNvPr>
          <p:cNvSpPr txBox="1">
            <a:spLocks noGrp="1"/>
          </p:cNvSpPr>
          <p:nvPr>
            <p:ph type="title"/>
          </p:nvPr>
        </p:nvSpPr>
        <p:spPr>
          <a:xfrm>
            <a:off x="0" y="438149"/>
            <a:ext cx="9144000" cy="533401"/>
          </a:xfrm>
          <a:prstGeom prst="rect">
            <a:avLst/>
          </a:prstGeom>
        </p:spPr>
        <p:txBody>
          <a:bodyPr vert="horz" lIns="91440" tIns="45720" rIns="91440" bIns="45720" rtlCol="0" anchor="ctr">
            <a:normAutofit/>
          </a:bodyPr>
          <a:lstStyle/>
          <a:p>
            <a:pPr marL="12700" algn="ctr" defTabSz="914400"/>
            <a:r>
              <a:rPr lang="es-AR" sz="3200" kern="1200" noProof="0" dirty="0">
                <a:solidFill>
                  <a:schemeClr val="tx1"/>
                </a:solidFill>
                <a:latin typeface="Google Sans Text"/>
              </a:rPr>
              <a:t>Introducción: ¿Cómo funciona?</a:t>
            </a:r>
            <a:endParaRPr lang="es-AR" sz="3200" kern="1200" spc="-65" noProof="0" dirty="0">
              <a:solidFill>
                <a:schemeClr val="tx1"/>
              </a:solidFill>
              <a:latin typeface="Google Sans Text"/>
            </a:endParaRPr>
          </a:p>
        </p:txBody>
      </p:sp>
      <p:sp>
        <p:nvSpPr>
          <p:cNvPr id="5" name="CuadroTexto 4">
            <a:extLst>
              <a:ext uri="{FF2B5EF4-FFF2-40B4-BE49-F238E27FC236}">
                <a16:creationId xmlns:a16="http://schemas.microsoft.com/office/drawing/2014/main" id="{83039759-3620-9875-33DF-BFD1BE2507C3}"/>
              </a:ext>
            </a:extLst>
          </p:cNvPr>
          <p:cNvSpPr txBox="1"/>
          <p:nvPr/>
        </p:nvSpPr>
        <p:spPr>
          <a:xfrm>
            <a:off x="1066800" y="1276350"/>
            <a:ext cx="7010400" cy="3003386"/>
          </a:xfrm>
          <a:prstGeom prst="rect">
            <a:avLst/>
          </a:prstGeom>
          <a:noFill/>
        </p:spPr>
        <p:txBody>
          <a:bodyPr wrap="square">
            <a:spAutoFit/>
          </a:bodyPr>
          <a:lstStyle/>
          <a:p>
            <a:pPr algn="l">
              <a:lnSpc>
                <a:spcPts val="1500"/>
              </a:lnSpc>
              <a:spcAft>
                <a:spcPts val="825"/>
              </a:spcAft>
              <a:buNone/>
            </a:pPr>
            <a:r>
              <a:rPr lang="es-ES" sz="1600" b="0" i="0" dirty="0">
                <a:effectLst/>
                <a:latin typeface="Google Sans Flex"/>
              </a:rPr>
              <a:t>El switch evalúa el contenido de una variable y dirige el flujo del programa directamente al caso (case) que coincida con ese valor. Funciona de manera similar a un </a:t>
            </a:r>
            <a:r>
              <a:rPr lang="es-ES" sz="1600" b="1" i="0" dirty="0">
                <a:effectLst/>
                <a:latin typeface="Google Sans Flex"/>
              </a:rPr>
              <a:t>menú de opciones</a:t>
            </a:r>
            <a:r>
              <a:rPr lang="es-ES" sz="1600" b="0" i="0" dirty="0">
                <a:effectLst/>
                <a:latin typeface="Google Sans Flex"/>
              </a:rPr>
              <a:t>.</a:t>
            </a:r>
          </a:p>
          <a:p>
            <a:pPr marL="285750" indent="-285750" algn="l">
              <a:lnSpc>
                <a:spcPts val="1500"/>
              </a:lnSpc>
              <a:spcBef>
                <a:spcPts val="600"/>
              </a:spcBef>
              <a:spcAft>
                <a:spcPts val="825"/>
              </a:spcAft>
              <a:buFont typeface="Wingdings" panose="05000000000000000000" pitchFamily="2" charset="2"/>
              <a:buChar char="§"/>
            </a:pPr>
            <a:r>
              <a:rPr lang="es-ES" sz="1600" b="1" i="0" dirty="0">
                <a:effectLst/>
                <a:latin typeface="Google Sans Flex"/>
              </a:rPr>
              <a:t>Selector:</a:t>
            </a:r>
            <a:r>
              <a:rPr lang="es-ES" sz="1600" b="0" i="0" dirty="0">
                <a:effectLst/>
                <a:latin typeface="Google Sans Flex"/>
              </a:rPr>
              <a:t> Debe ser una variable de tipo </a:t>
            </a:r>
            <a:r>
              <a:rPr lang="es-ES" sz="1600" b="1" i="0" dirty="0">
                <a:effectLst/>
                <a:latin typeface="Google Sans Flex"/>
              </a:rPr>
              <a:t>ordinal</a:t>
            </a:r>
            <a:r>
              <a:rPr lang="es-ES" sz="1600" b="0" i="0" dirty="0">
                <a:effectLst/>
                <a:latin typeface="Google Sans Flex"/>
              </a:rPr>
              <a:t> (en C++: </a:t>
            </a:r>
            <a:r>
              <a:rPr lang="es-ES" sz="1600" b="0" i="0" dirty="0" err="1">
                <a:effectLst/>
                <a:latin typeface="Google Sans Flex"/>
              </a:rPr>
              <a:t>int</a:t>
            </a:r>
            <a:r>
              <a:rPr lang="es-ES" sz="1600" b="0" i="0" dirty="0">
                <a:effectLst/>
                <a:latin typeface="Google Sans Flex"/>
              </a:rPr>
              <a:t>, </a:t>
            </a:r>
            <a:r>
              <a:rPr lang="es-ES" sz="1600" b="0" i="0" dirty="0" err="1">
                <a:effectLst/>
                <a:latin typeface="Google Sans Flex"/>
              </a:rPr>
              <a:t>char</a:t>
            </a:r>
            <a:r>
              <a:rPr lang="es-ES" sz="1600" b="0" i="0" dirty="0">
                <a:effectLst/>
                <a:latin typeface="Google Sans Flex"/>
              </a:rPr>
              <a:t>, </a:t>
            </a:r>
            <a:r>
              <a:rPr lang="es-ES" sz="1600" b="0" i="0" dirty="0" err="1">
                <a:effectLst/>
                <a:latin typeface="Google Sans Flex"/>
              </a:rPr>
              <a:t>bool</a:t>
            </a:r>
            <a:r>
              <a:rPr lang="es-ES" sz="1600" b="0" i="0" dirty="0">
                <a:effectLst/>
                <a:latin typeface="Google Sans Flex"/>
              </a:rPr>
              <a:t>, pero </a:t>
            </a:r>
            <a:r>
              <a:rPr lang="es-ES" sz="1600" b="1" i="0" dirty="0">
                <a:effectLst/>
                <a:latin typeface="Google Sans Flex"/>
              </a:rPr>
              <a:t>no</a:t>
            </a:r>
            <a:r>
              <a:rPr lang="es-ES" sz="1600" b="0" i="0" dirty="0">
                <a:effectLst/>
                <a:latin typeface="Google Sans Flex"/>
              </a:rPr>
              <a:t> </a:t>
            </a:r>
            <a:r>
              <a:rPr lang="es-ES" sz="1600" b="0" i="0" dirty="0" err="1">
                <a:effectLst/>
                <a:latin typeface="Google Sans Flex"/>
              </a:rPr>
              <a:t>float</a:t>
            </a:r>
            <a:r>
              <a:rPr lang="es-ES" sz="1600" b="0" i="0" dirty="0">
                <a:effectLst/>
                <a:latin typeface="Google Sans Flex"/>
              </a:rPr>
              <a:t> o </a:t>
            </a:r>
            <a:r>
              <a:rPr lang="es-ES" sz="1600" b="0" i="0" dirty="0" err="1">
                <a:effectLst/>
                <a:latin typeface="Google Sans Flex"/>
              </a:rPr>
              <a:t>string</a:t>
            </a:r>
            <a:r>
              <a:rPr lang="es-ES" sz="1600" b="0" i="0" dirty="0">
                <a:effectLst/>
                <a:latin typeface="Google Sans Flex"/>
              </a:rPr>
              <a:t>).</a:t>
            </a:r>
          </a:p>
          <a:p>
            <a:pPr marL="285750" indent="-285750" algn="l">
              <a:spcBef>
                <a:spcPts val="600"/>
              </a:spcBef>
              <a:spcAft>
                <a:spcPts val="825"/>
              </a:spcAft>
              <a:buFont typeface="Wingdings" panose="05000000000000000000" pitchFamily="2" charset="2"/>
              <a:buChar char="§"/>
            </a:pPr>
            <a:r>
              <a:rPr lang="es-ES" sz="1600" b="1" i="0" dirty="0">
                <a:effectLst/>
                <a:latin typeface="Google Sans Flex"/>
              </a:rPr>
              <a:t>Case:</a:t>
            </a:r>
            <a:r>
              <a:rPr lang="es-ES" sz="1600" b="0" i="0" dirty="0">
                <a:effectLst/>
                <a:latin typeface="Google Sans Flex"/>
              </a:rPr>
              <a:t> Define un valor específico a comparar.</a:t>
            </a:r>
          </a:p>
          <a:p>
            <a:pPr marL="285750" indent="-285750" algn="l">
              <a:spcBef>
                <a:spcPts val="600"/>
              </a:spcBef>
              <a:spcAft>
                <a:spcPts val="825"/>
              </a:spcAft>
              <a:buFont typeface="Wingdings" panose="05000000000000000000" pitchFamily="2" charset="2"/>
              <a:buChar char="§"/>
            </a:pPr>
            <a:r>
              <a:rPr lang="es-ES" sz="1600" b="1" i="0" dirty="0">
                <a:effectLst/>
                <a:latin typeface="Google Sans Flex"/>
              </a:rPr>
              <a:t>Break:</a:t>
            </a:r>
            <a:r>
              <a:rPr lang="es-ES" sz="1600" b="0" i="0" dirty="0">
                <a:effectLst/>
                <a:latin typeface="Google Sans Flex"/>
              </a:rPr>
              <a:t> Es fundamental para "romper" la ejecución y salir del bloque; de lo contrario, el programa seguirá ejecutando los casos siguientes.</a:t>
            </a:r>
          </a:p>
          <a:p>
            <a:pPr marL="285750" indent="-285750" algn="l">
              <a:spcBef>
                <a:spcPts val="600"/>
              </a:spcBef>
              <a:spcAft>
                <a:spcPts val="825"/>
              </a:spcAft>
              <a:buFont typeface="Wingdings" panose="05000000000000000000" pitchFamily="2" charset="2"/>
              <a:buChar char="§"/>
            </a:pPr>
            <a:r>
              <a:rPr lang="es-ES" sz="1600" b="1" i="0" dirty="0">
                <a:effectLst/>
                <a:latin typeface="Google Sans Flex"/>
              </a:rPr>
              <a:t>Default:</a:t>
            </a:r>
            <a:r>
              <a:rPr lang="es-ES" sz="1600" b="0" i="0" dirty="0">
                <a:effectLst/>
                <a:latin typeface="Google Sans Flex"/>
              </a:rPr>
              <a:t> Es opcional y actúa como una "red de seguridad" si ningún caso anterior coincide.</a:t>
            </a:r>
          </a:p>
        </p:txBody>
      </p:sp>
    </p:spTree>
    <p:extLst>
      <p:ext uri="{BB962C8B-B14F-4D97-AF65-F5344CB8AC3E}">
        <p14:creationId xmlns:p14="http://schemas.microsoft.com/office/powerpoint/2010/main" val="845261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98F33-BC0B-B660-90DC-5C4F7D9439A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5D7DAFA-DECC-6E4B-F744-F94AD753A620}"/>
              </a:ext>
            </a:extLst>
          </p:cNvPr>
          <p:cNvSpPr txBox="1">
            <a:spLocks noGrp="1"/>
          </p:cNvSpPr>
          <p:nvPr>
            <p:ph type="title"/>
          </p:nvPr>
        </p:nvSpPr>
        <p:spPr>
          <a:xfrm>
            <a:off x="0" y="167583"/>
            <a:ext cx="9144000" cy="520655"/>
          </a:xfrm>
          <a:prstGeom prst="rect">
            <a:avLst/>
          </a:prstGeom>
        </p:spPr>
        <p:txBody>
          <a:bodyPr vert="horz" wrap="square" lIns="0" tIns="12700" rIns="0" bIns="0" rtlCol="0">
            <a:spAutoFit/>
          </a:bodyPr>
          <a:lstStyle/>
          <a:p>
            <a:pPr marL="12700" algn="ctr">
              <a:lnSpc>
                <a:spcPct val="100000"/>
              </a:lnSpc>
              <a:spcBef>
                <a:spcPts val="100"/>
              </a:spcBef>
            </a:pPr>
            <a:r>
              <a:rPr lang="es-AR" spc="-65" dirty="0">
                <a:latin typeface="Google Sans Text"/>
              </a:rPr>
              <a:t>Decisión Múltiple</a:t>
            </a:r>
            <a:endParaRPr spc="-65" dirty="0">
              <a:latin typeface="Google Sans Text"/>
            </a:endParaRPr>
          </a:p>
        </p:txBody>
      </p:sp>
      <p:sp>
        <p:nvSpPr>
          <p:cNvPr id="6" name="object 6">
            <a:extLst>
              <a:ext uri="{FF2B5EF4-FFF2-40B4-BE49-F238E27FC236}">
                <a16:creationId xmlns:a16="http://schemas.microsoft.com/office/drawing/2014/main" id="{20029653-068B-D82F-B4B0-E76E4978A6A0}"/>
              </a:ext>
            </a:extLst>
          </p:cNvPr>
          <p:cNvSpPr txBox="1"/>
          <p:nvPr/>
        </p:nvSpPr>
        <p:spPr>
          <a:xfrm>
            <a:off x="609600" y="976789"/>
            <a:ext cx="8021659" cy="993862"/>
          </a:xfrm>
          <a:prstGeom prst="rect">
            <a:avLst/>
          </a:prstGeom>
        </p:spPr>
        <p:txBody>
          <a:bodyPr vert="horz" wrap="square" lIns="0" tIns="8890" rIns="0" bIns="0" rtlCol="0">
            <a:spAutoFit/>
          </a:bodyPr>
          <a:lstStyle/>
          <a:p>
            <a:r>
              <a:rPr lang="es-ES" sz="1600" dirty="0"/>
              <a:t>El </a:t>
            </a:r>
            <a:r>
              <a:rPr lang="es-ES" sz="1600" dirty="0">
                <a:solidFill>
                  <a:schemeClr val="accent6">
                    <a:lumMod val="75000"/>
                  </a:schemeClr>
                </a:solidFill>
              </a:rPr>
              <a:t>switch</a:t>
            </a:r>
            <a:r>
              <a:rPr lang="es-ES" sz="1600" dirty="0"/>
              <a:t> implementa una </a:t>
            </a:r>
            <a:r>
              <a:rPr lang="es-ES" sz="1600" b="1" dirty="0"/>
              <a:t>selección múltiple</a:t>
            </a:r>
            <a:r>
              <a:rPr lang="es-ES" sz="1600" dirty="0"/>
              <a:t> basada en la igualdad. Evalúa </a:t>
            </a:r>
            <a:r>
              <a:rPr lang="es-ES" sz="1600" b="1" dirty="0"/>
              <a:t>una sola variable </a:t>
            </a:r>
            <a:r>
              <a:rPr lang="es-ES" sz="1600" dirty="0"/>
              <a:t>y dirige el flujo directamente al </a:t>
            </a:r>
            <a:r>
              <a:rPr lang="es-ES" sz="1600" b="1" dirty="0">
                <a:solidFill>
                  <a:schemeClr val="accent6">
                    <a:lumMod val="75000"/>
                  </a:schemeClr>
                </a:solidFill>
              </a:rPr>
              <a:t>case</a:t>
            </a:r>
            <a:r>
              <a:rPr lang="es-ES" sz="1600" dirty="0"/>
              <a:t> que coincida con su valor. Podríamos decir que funciona como un </a:t>
            </a:r>
            <a:r>
              <a:rPr lang="es-ES" sz="1600" b="1" dirty="0"/>
              <a:t>menú de opciones</a:t>
            </a:r>
            <a:r>
              <a:rPr lang="es-ES" sz="1600" dirty="0"/>
              <a:t>: el </a:t>
            </a:r>
            <a:r>
              <a:rPr lang="es-ES" sz="1600" b="1" dirty="0">
                <a:solidFill>
                  <a:schemeClr val="accent6">
                    <a:lumMod val="75000"/>
                  </a:schemeClr>
                </a:solidFill>
              </a:rPr>
              <a:t>break</a:t>
            </a:r>
            <a:r>
              <a:rPr lang="es-ES" sz="1600" dirty="0"/>
              <a:t> evita que se ejecuten los casos siguientes y el </a:t>
            </a:r>
            <a:r>
              <a:rPr lang="es-ES" sz="1600" b="1" dirty="0">
                <a:solidFill>
                  <a:schemeClr val="accent6">
                    <a:lumMod val="75000"/>
                  </a:schemeClr>
                </a:solidFill>
              </a:rPr>
              <a:t>default</a:t>
            </a:r>
            <a:r>
              <a:rPr lang="es-ES" sz="1600" dirty="0"/>
              <a:t> actúa como una red de seguridad si ninguna opción coincide.</a:t>
            </a:r>
            <a:endParaRPr sz="2000" dirty="0">
              <a:latin typeface="Google Sans Text"/>
              <a:cs typeface="Trebuchet MS"/>
            </a:endParaRPr>
          </a:p>
        </p:txBody>
      </p:sp>
      <p:sp>
        <p:nvSpPr>
          <p:cNvPr id="8" name="object 8">
            <a:extLst>
              <a:ext uri="{FF2B5EF4-FFF2-40B4-BE49-F238E27FC236}">
                <a16:creationId xmlns:a16="http://schemas.microsoft.com/office/drawing/2014/main" id="{AF609E6F-55C9-1D5C-36F3-F982A2CB5B55}"/>
              </a:ext>
            </a:extLst>
          </p:cNvPr>
          <p:cNvSpPr txBox="1"/>
          <p:nvPr/>
        </p:nvSpPr>
        <p:spPr>
          <a:xfrm>
            <a:off x="2138289" y="4464293"/>
            <a:ext cx="627380" cy="182101"/>
          </a:xfrm>
          <a:prstGeom prst="rect">
            <a:avLst/>
          </a:prstGeom>
        </p:spPr>
        <p:txBody>
          <a:bodyPr vert="horz" wrap="square" lIns="0" tIns="12700" rIns="0" bIns="0" rtlCol="0">
            <a:spAutoFit/>
          </a:bodyPr>
          <a:lstStyle/>
          <a:p>
            <a:pPr marL="12700" algn="ctr">
              <a:lnSpc>
                <a:spcPct val="100000"/>
              </a:lnSpc>
              <a:spcBef>
                <a:spcPts val="100"/>
              </a:spcBef>
            </a:pPr>
            <a:r>
              <a:rPr sz="1100" b="1" spc="-10" dirty="0">
                <a:latin typeface="Google Sans Text"/>
                <a:cs typeface="Roboto"/>
              </a:rPr>
              <a:t>Diagrama</a:t>
            </a:r>
            <a:endParaRPr sz="1100" dirty="0">
              <a:latin typeface="Google Sans Text"/>
              <a:cs typeface="Roboto"/>
            </a:endParaRPr>
          </a:p>
        </p:txBody>
      </p:sp>
      <p:sp>
        <p:nvSpPr>
          <p:cNvPr id="9" name="object 9">
            <a:extLst>
              <a:ext uri="{FF2B5EF4-FFF2-40B4-BE49-F238E27FC236}">
                <a16:creationId xmlns:a16="http://schemas.microsoft.com/office/drawing/2014/main" id="{C3BE9352-3E52-1564-2223-49633EADBB3D}"/>
              </a:ext>
            </a:extLst>
          </p:cNvPr>
          <p:cNvSpPr txBox="1"/>
          <p:nvPr/>
        </p:nvSpPr>
        <p:spPr>
          <a:xfrm>
            <a:off x="6128244" y="4585096"/>
            <a:ext cx="847512" cy="182101"/>
          </a:xfrm>
          <a:prstGeom prst="rect">
            <a:avLst/>
          </a:prstGeom>
        </p:spPr>
        <p:txBody>
          <a:bodyPr vert="horz" wrap="square" lIns="0" tIns="12700" rIns="0" bIns="0" rtlCol="0">
            <a:spAutoFit/>
          </a:bodyPr>
          <a:lstStyle/>
          <a:p>
            <a:pPr marL="12700" algn="ctr">
              <a:lnSpc>
                <a:spcPct val="100000"/>
              </a:lnSpc>
              <a:spcBef>
                <a:spcPts val="100"/>
              </a:spcBef>
            </a:pPr>
            <a:r>
              <a:rPr sz="1100" b="1" spc="-5" dirty="0">
                <a:latin typeface="Google Sans Text"/>
                <a:cs typeface="Roboto"/>
              </a:rPr>
              <a:t>Códig</a:t>
            </a:r>
            <a:r>
              <a:rPr sz="1100" b="1" dirty="0">
                <a:latin typeface="Google Sans Text"/>
                <a:cs typeface="Roboto"/>
              </a:rPr>
              <a:t>o</a:t>
            </a:r>
            <a:r>
              <a:rPr sz="1100" b="1" spc="-5" dirty="0">
                <a:latin typeface="Google Sans Text"/>
                <a:cs typeface="Roboto"/>
              </a:rPr>
              <a:t> </a:t>
            </a:r>
            <a:r>
              <a:rPr sz="1100" b="1" spc="15" dirty="0">
                <a:latin typeface="Google Sans Text"/>
                <a:cs typeface="Roboto"/>
              </a:rPr>
              <a:t>C</a:t>
            </a:r>
            <a:r>
              <a:rPr lang="es-AR" sz="1100" b="1" spc="15" dirty="0">
                <a:latin typeface="Google Sans Text"/>
                <a:cs typeface="Roboto"/>
              </a:rPr>
              <a:t>++</a:t>
            </a:r>
            <a:endParaRPr sz="1100" dirty="0">
              <a:latin typeface="Google Sans Text"/>
              <a:cs typeface="Roboto"/>
            </a:endParaRPr>
          </a:p>
        </p:txBody>
      </p:sp>
      <p:sp>
        <p:nvSpPr>
          <p:cNvPr id="3" name="object 7">
            <a:extLst>
              <a:ext uri="{FF2B5EF4-FFF2-40B4-BE49-F238E27FC236}">
                <a16:creationId xmlns:a16="http://schemas.microsoft.com/office/drawing/2014/main" id="{9C880519-63D4-935C-0FEC-17F7631EC8B7}"/>
              </a:ext>
            </a:extLst>
          </p:cNvPr>
          <p:cNvSpPr txBox="1"/>
          <p:nvPr/>
        </p:nvSpPr>
        <p:spPr>
          <a:xfrm>
            <a:off x="4572000" y="2259202"/>
            <a:ext cx="3960000" cy="2205091"/>
          </a:xfrm>
          <a:prstGeom prst="rect">
            <a:avLst/>
          </a:prstGeom>
          <a:solidFill>
            <a:schemeClr val="tx1"/>
          </a:solidFill>
          <a:ln w="9524">
            <a:solidFill>
              <a:schemeClr val="tx1"/>
            </a:solidFill>
          </a:ln>
        </p:spPr>
        <p:txBody>
          <a:bodyPr vert="horz" wrap="square" lIns="0" tIns="50165" rIns="0" bIns="0" rtlCol="0">
            <a:spAutoFit/>
          </a:bodyPr>
          <a:lstStyle/>
          <a:p>
            <a:pPr>
              <a:lnSpc>
                <a:spcPts val="1425"/>
              </a:lnSpc>
              <a:buNone/>
            </a:pPr>
            <a:r>
              <a:rPr lang="es-ES" sz="1200" b="0" dirty="0" err="1">
                <a:solidFill>
                  <a:srgbClr val="569CD6"/>
                </a:solidFill>
                <a:effectLst/>
                <a:latin typeface="Consolas" panose="020B0609020204030204" pitchFamily="49" charset="0"/>
              </a:rPr>
              <a:t>int</a:t>
            </a:r>
            <a:r>
              <a:rPr lang="es-ES" sz="1200" b="0" dirty="0">
                <a:solidFill>
                  <a:srgbClr val="CCCCCC"/>
                </a:solidFill>
                <a:effectLst/>
                <a:latin typeface="Consolas" panose="020B0609020204030204" pitchFamily="49" charset="0"/>
              </a:rPr>
              <a:t> </a:t>
            </a:r>
            <a:r>
              <a:rPr lang="es-ES" sz="1200" b="0" dirty="0" err="1">
                <a:solidFill>
                  <a:srgbClr val="9CDCFE"/>
                </a:solidFill>
                <a:effectLst/>
                <a:latin typeface="Consolas" panose="020B0609020204030204" pitchFamily="49" charset="0"/>
              </a:rPr>
              <a:t>var</a:t>
            </a:r>
            <a:endParaRPr lang="es-ES" sz="1200" b="0" dirty="0">
              <a:solidFill>
                <a:srgbClr val="CCCCCC"/>
              </a:solidFill>
              <a:effectLst/>
              <a:latin typeface="Consolas" panose="020B0609020204030204" pitchFamily="49" charset="0"/>
            </a:endParaRPr>
          </a:p>
          <a:p>
            <a:pPr>
              <a:lnSpc>
                <a:spcPts val="1425"/>
              </a:lnSpc>
              <a:buNone/>
            </a:pPr>
            <a:r>
              <a:rPr lang="es-ES" sz="1200" b="0" dirty="0">
                <a:solidFill>
                  <a:srgbClr val="C586C0"/>
                </a:solidFill>
                <a:effectLst/>
                <a:latin typeface="Consolas" panose="020B0609020204030204" pitchFamily="49" charset="0"/>
              </a:rPr>
              <a:t>switch</a:t>
            </a:r>
            <a:r>
              <a:rPr lang="es-ES" sz="1200" b="0" dirty="0">
                <a:solidFill>
                  <a:srgbClr val="CCCCCC"/>
                </a:solidFill>
                <a:effectLst/>
                <a:latin typeface="Consolas" panose="020B0609020204030204" pitchFamily="49" charset="0"/>
              </a:rPr>
              <a:t>(</a:t>
            </a:r>
            <a:r>
              <a:rPr lang="es-ES" sz="1200" b="0" dirty="0" err="1">
                <a:solidFill>
                  <a:srgbClr val="CCCCCC"/>
                </a:solidFill>
                <a:effectLst/>
                <a:latin typeface="Consolas" panose="020B0609020204030204" pitchFamily="49" charset="0"/>
              </a:rPr>
              <a:t>var</a:t>
            </a:r>
            <a:r>
              <a:rPr lang="es-ES" sz="1200" b="0" dirty="0">
                <a:solidFill>
                  <a:srgbClr val="CCCCCC"/>
                </a:solidFill>
                <a:effectLst/>
                <a:latin typeface="Consolas" panose="020B0609020204030204" pitchFamily="49" charset="0"/>
              </a:rPr>
              <a:t>){</a:t>
            </a:r>
          </a:p>
          <a:p>
            <a:pPr>
              <a:lnSpc>
                <a:spcPts val="1425"/>
              </a:lnSpc>
              <a:buNone/>
            </a:pPr>
            <a:r>
              <a:rPr lang="es-ES" sz="1200" b="0" dirty="0">
                <a:solidFill>
                  <a:srgbClr val="CCCCCC"/>
                </a:solidFill>
                <a:effectLst/>
                <a:latin typeface="Consolas" panose="020B0609020204030204" pitchFamily="49" charset="0"/>
              </a:rPr>
              <a:t>    </a:t>
            </a:r>
            <a:r>
              <a:rPr lang="es-ES" sz="1200" b="0" dirty="0">
                <a:solidFill>
                  <a:srgbClr val="C586C0"/>
                </a:solidFill>
                <a:effectLst/>
                <a:latin typeface="Consolas" panose="020B0609020204030204" pitchFamily="49" charset="0"/>
              </a:rPr>
              <a:t>case</a:t>
            </a:r>
            <a:r>
              <a:rPr lang="es-ES" sz="1200" b="0" dirty="0">
                <a:solidFill>
                  <a:srgbClr val="CCCCCC"/>
                </a:solidFill>
                <a:effectLst/>
                <a:latin typeface="Consolas" panose="020B0609020204030204" pitchFamily="49" charset="0"/>
              </a:rPr>
              <a:t> </a:t>
            </a:r>
            <a:r>
              <a:rPr lang="es-ES" sz="1200" b="0" dirty="0">
                <a:solidFill>
                  <a:srgbClr val="B5CEA8"/>
                </a:solidFill>
                <a:effectLst/>
                <a:latin typeface="Consolas" panose="020B0609020204030204" pitchFamily="49" charset="0"/>
              </a:rPr>
              <a:t>1</a:t>
            </a:r>
            <a:r>
              <a:rPr lang="es-ES" sz="1200" b="0" dirty="0">
                <a:solidFill>
                  <a:srgbClr val="CCCCCC"/>
                </a:solidFill>
                <a:effectLst/>
                <a:latin typeface="Consolas" panose="020B0609020204030204" pitchFamily="49" charset="0"/>
              </a:rPr>
              <a:t>:</a:t>
            </a:r>
          </a:p>
          <a:p>
            <a:pPr>
              <a:lnSpc>
                <a:spcPts val="1425"/>
              </a:lnSpc>
              <a:buNone/>
            </a:pPr>
            <a:r>
              <a:rPr lang="es-ES" sz="1200" b="0" dirty="0">
                <a:solidFill>
                  <a:srgbClr val="6A9955"/>
                </a:solidFill>
                <a:effectLst/>
                <a:latin typeface="Consolas" panose="020B0609020204030204" pitchFamily="49" charset="0"/>
              </a:rPr>
              <a:t>    // Instrucciones si  </a:t>
            </a:r>
            <a:r>
              <a:rPr lang="es-ES" sz="1200" b="0" dirty="0" err="1">
                <a:solidFill>
                  <a:srgbClr val="6A9955"/>
                </a:solidFill>
                <a:effectLst/>
                <a:latin typeface="Consolas" panose="020B0609020204030204" pitchFamily="49" charset="0"/>
              </a:rPr>
              <a:t>var</a:t>
            </a:r>
            <a:r>
              <a:rPr lang="es-ES" sz="1200" b="0" dirty="0">
                <a:solidFill>
                  <a:srgbClr val="6A9955"/>
                </a:solidFill>
                <a:effectLst/>
                <a:latin typeface="Consolas" panose="020B0609020204030204" pitchFamily="49" charset="0"/>
              </a:rPr>
              <a:t> es igual a 1</a:t>
            </a:r>
            <a:endParaRPr lang="es-ES" sz="1200" b="0" dirty="0">
              <a:solidFill>
                <a:srgbClr val="CCCCCC"/>
              </a:solidFill>
              <a:effectLst/>
              <a:latin typeface="Consolas" panose="020B0609020204030204" pitchFamily="49" charset="0"/>
            </a:endParaRPr>
          </a:p>
          <a:p>
            <a:pPr>
              <a:lnSpc>
                <a:spcPts val="1425"/>
              </a:lnSpc>
              <a:buNone/>
            </a:pPr>
            <a:r>
              <a:rPr lang="es-ES" sz="1200" b="0" dirty="0">
                <a:solidFill>
                  <a:srgbClr val="C586C0"/>
                </a:solidFill>
                <a:effectLst/>
                <a:latin typeface="Consolas" panose="020B0609020204030204" pitchFamily="49" charset="0"/>
              </a:rPr>
              <a:t>break</a:t>
            </a:r>
            <a:r>
              <a:rPr lang="es-ES" sz="1200" b="0" dirty="0">
                <a:solidFill>
                  <a:srgbClr val="CCCCCC"/>
                </a:solidFill>
                <a:effectLst/>
                <a:latin typeface="Consolas" panose="020B0609020204030204" pitchFamily="49" charset="0"/>
              </a:rPr>
              <a:t>;</a:t>
            </a:r>
          </a:p>
          <a:p>
            <a:pPr>
              <a:lnSpc>
                <a:spcPts val="1425"/>
              </a:lnSpc>
              <a:buNone/>
            </a:pPr>
            <a:r>
              <a:rPr lang="es-ES" sz="1200" b="0" dirty="0">
                <a:solidFill>
                  <a:srgbClr val="CCCCCC"/>
                </a:solidFill>
                <a:effectLst/>
                <a:latin typeface="Consolas" panose="020B0609020204030204" pitchFamily="49" charset="0"/>
              </a:rPr>
              <a:t>    </a:t>
            </a:r>
            <a:r>
              <a:rPr lang="es-ES" sz="1200" b="0" dirty="0">
                <a:solidFill>
                  <a:srgbClr val="C586C0"/>
                </a:solidFill>
                <a:effectLst/>
                <a:latin typeface="Consolas" panose="020B0609020204030204" pitchFamily="49" charset="0"/>
              </a:rPr>
              <a:t>case</a:t>
            </a:r>
            <a:r>
              <a:rPr lang="es-ES" sz="1200" b="0" dirty="0">
                <a:solidFill>
                  <a:srgbClr val="CCCCCC"/>
                </a:solidFill>
                <a:effectLst/>
                <a:latin typeface="Consolas" panose="020B0609020204030204" pitchFamily="49" charset="0"/>
              </a:rPr>
              <a:t> </a:t>
            </a:r>
            <a:r>
              <a:rPr lang="es-ES" sz="1200" b="0" dirty="0">
                <a:solidFill>
                  <a:srgbClr val="B5CEA8"/>
                </a:solidFill>
                <a:effectLst/>
                <a:latin typeface="Consolas" panose="020B0609020204030204" pitchFamily="49" charset="0"/>
              </a:rPr>
              <a:t>2</a:t>
            </a:r>
            <a:r>
              <a:rPr lang="es-ES" sz="1200" b="0" dirty="0">
                <a:solidFill>
                  <a:srgbClr val="CCCCCC"/>
                </a:solidFill>
                <a:effectLst/>
                <a:latin typeface="Consolas" panose="020B0609020204030204" pitchFamily="49" charset="0"/>
              </a:rPr>
              <a:t>:</a:t>
            </a:r>
          </a:p>
          <a:p>
            <a:pPr>
              <a:lnSpc>
                <a:spcPts val="1425"/>
              </a:lnSpc>
              <a:buNone/>
            </a:pPr>
            <a:r>
              <a:rPr lang="es-ES" sz="1200" b="0" dirty="0">
                <a:solidFill>
                  <a:srgbClr val="6A9955"/>
                </a:solidFill>
                <a:effectLst/>
                <a:latin typeface="Consolas" panose="020B0609020204030204" pitchFamily="49" charset="0"/>
              </a:rPr>
              <a:t>    // Instrucciones si  </a:t>
            </a:r>
            <a:r>
              <a:rPr lang="es-ES" sz="1200" b="0" dirty="0" err="1">
                <a:solidFill>
                  <a:srgbClr val="6A9955"/>
                </a:solidFill>
                <a:effectLst/>
                <a:latin typeface="Consolas" panose="020B0609020204030204" pitchFamily="49" charset="0"/>
              </a:rPr>
              <a:t>var</a:t>
            </a:r>
            <a:r>
              <a:rPr lang="es-ES" sz="1200" b="0" dirty="0">
                <a:solidFill>
                  <a:srgbClr val="6A9955"/>
                </a:solidFill>
                <a:effectLst/>
                <a:latin typeface="Consolas" panose="020B0609020204030204" pitchFamily="49" charset="0"/>
              </a:rPr>
              <a:t> es igual a 2</a:t>
            </a:r>
            <a:endParaRPr lang="es-ES" sz="1200" b="0" dirty="0">
              <a:solidFill>
                <a:srgbClr val="CCCCCC"/>
              </a:solidFill>
              <a:effectLst/>
              <a:latin typeface="Consolas" panose="020B0609020204030204" pitchFamily="49" charset="0"/>
            </a:endParaRPr>
          </a:p>
          <a:p>
            <a:pPr>
              <a:lnSpc>
                <a:spcPts val="1425"/>
              </a:lnSpc>
              <a:buNone/>
            </a:pPr>
            <a:r>
              <a:rPr lang="es-ES" sz="1200" b="0" dirty="0">
                <a:solidFill>
                  <a:srgbClr val="C586C0"/>
                </a:solidFill>
                <a:effectLst/>
                <a:latin typeface="Consolas" panose="020B0609020204030204" pitchFamily="49" charset="0"/>
              </a:rPr>
              <a:t>break</a:t>
            </a:r>
            <a:r>
              <a:rPr lang="es-ES" sz="1200" b="0" dirty="0">
                <a:solidFill>
                  <a:srgbClr val="CCCCCC"/>
                </a:solidFill>
                <a:effectLst/>
                <a:latin typeface="Consolas" panose="020B0609020204030204" pitchFamily="49" charset="0"/>
              </a:rPr>
              <a:t>;</a:t>
            </a:r>
          </a:p>
          <a:p>
            <a:pPr>
              <a:lnSpc>
                <a:spcPts val="1425"/>
              </a:lnSpc>
              <a:buNone/>
            </a:pPr>
            <a:r>
              <a:rPr lang="es-ES" sz="1200" b="0" dirty="0">
                <a:solidFill>
                  <a:srgbClr val="C586C0"/>
                </a:solidFill>
                <a:effectLst/>
                <a:latin typeface="Consolas" panose="020B0609020204030204" pitchFamily="49" charset="0"/>
              </a:rPr>
              <a:t>default</a:t>
            </a:r>
            <a:r>
              <a:rPr lang="es-ES" sz="1200" b="0" dirty="0">
                <a:solidFill>
                  <a:srgbClr val="CCCCCC"/>
                </a:solidFill>
                <a:effectLst/>
                <a:latin typeface="Consolas" panose="020B0609020204030204" pitchFamily="49" charset="0"/>
              </a:rPr>
              <a:t>:</a:t>
            </a:r>
          </a:p>
          <a:p>
            <a:pPr>
              <a:lnSpc>
                <a:spcPts val="1425"/>
              </a:lnSpc>
              <a:buNone/>
            </a:pPr>
            <a:r>
              <a:rPr lang="es-ES" sz="1200" b="0" dirty="0">
                <a:solidFill>
                  <a:srgbClr val="6A9955"/>
                </a:solidFill>
                <a:effectLst/>
                <a:latin typeface="Consolas" panose="020B0609020204030204" pitchFamily="49" charset="0"/>
              </a:rPr>
              <a:t>    // Instrucciones si  ningún caso se cumple</a:t>
            </a:r>
            <a:endParaRPr lang="es-ES" sz="1200" b="0" dirty="0">
              <a:solidFill>
                <a:srgbClr val="CCCCCC"/>
              </a:solidFill>
              <a:effectLst/>
              <a:latin typeface="Consolas" panose="020B0609020204030204" pitchFamily="49" charset="0"/>
            </a:endParaRPr>
          </a:p>
          <a:p>
            <a:pPr>
              <a:lnSpc>
                <a:spcPts val="1425"/>
              </a:lnSpc>
              <a:buNone/>
            </a:pPr>
            <a:r>
              <a:rPr lang="es-ES" sz="1200" b="0" dirty="0">
                <a:solidFill>
                  <a:srgbClr val="C586C0"/>
                </a:solidFill>
                <a:effectLst/>
                <a:latin typeface="Consolas" panose="020B0609020204030204" pitchFamily="49" charset="0"/>
              </a:rPr>
              <a:t>break</a:t>
            </a:r>
            <a:r>
              <a:rPr lang="es-ES" sz="1200" b="0" dirty="0">
                <a:solidFill>
                  <a:srgbClr val="CCCCCC"/>
                </a:solidFill>
                <a:effectLst/>
                <a:latin typeface="Consolas" panose="020B0609020204030204" pitchFamily="49" charset="0"/>
              </a:rPr>
              <a:t>;</a:t>
            </a:r>
          </a:p>
          <a:p>
            <a:pPr>
              <a:lnSpc>
                <a:spcPts val="1425"/>
              </a:lnSpc>
              <a:buNone/>
            </a:pPr>
            <a:r>
              <a:rPr lang="es-ES" sz="1200" b="0" dirty="0">
                <a:solidFill>
                  <a:srgbClr val="CCCCCC"/>
                </a:solidFill>
                <a:effectLst/>
                <a:latin typeface="Consolas" panose="020B0609020204030204" pitchFamily="49" charset="0"/>
              </a:rPr>
              <a:t>}</a:t>
            </a:r>
          </a:p>
        </p:txBody>
      </p:sp>
      <p:pic>
        <p:nvPicPr>
          <p:cNvPr id="11" name="Imagen 10">
            <a:extLst>
              <a:ext uri="{FF2B5EF4-FFF2-40B4-BE49-F238E27FC236}">
                <a16:creationId xmlns:a16="http://schemas.microsoft.com/office/drawing/2014/main" id="{C4555E0F-1490-CFC0-98F9-9B847C2919E7}"/>
              </a:ext>
            </a:extLst>
          </p:cNvPr>
          <p:cNvPicPr>
            <a:picLocks noChangeAspect="1"/>
          </p:cNvPicPr>
          <p:nvPr/>
        </p:nvPicPr>
        <p:blipFill>
          <a:blip r:embed="rId2"/>
          <a:stretch>
            <a:fillRect/>
          </a:stretch>
        </p:blipFill>
        <p:spPr>
          <a:xfrm>
            <a:off x="471979" y="2259202"/>
            <a:ext cx="3960000" cy="2051443"/>
          </a:xfrm>
          <a:prstGeom prst="rect">
            <a:avLst/>
          </a:prstGeom>
        </p:spPr>
      </p:pic>
    </p:spTree>
    <p:extLst>
      <p:ext uri="{BB962C8B-B14F-4D97-AF65-F5344CB8AC3E}">
        <p14:creationId xmlns:p14="http://schemas.microsoft.com/office/powerpoint/2010/main" val="2820608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4332D-2ABA-3297-767D-ABE6E85B565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F3B6C08-4C57-631C-9E89-933C24FF43DA}"/>
              </a:ext>
            </a:extLst>
          </p:cNvPr>
          <p:cNvSpPr txBox="1">
            <a:spLocks noGrp="1"/>
          </p:cNvSpPr>
          <p:nvPr>
            <p:ph type="title"/>
          </p:nvPr>
        </p:nvSpPr>
        <p:spPr>
          <a:xfrm>
            <a:off x="0" y="438149"/>
            <a:ext cx="9144000" cy="533401"/>
          </a:xfrm>
          <a:prstGeom prst="rect">
            <a:avLst/>
          </a:prstGeom>
        </p:spPr>
        <p:txBody>
          <a:bodyPr vert="horz" lIns="91440" tIns="45720" rIns="91440" bIns="45720" rtlCol="0" anchor="ctr">
            <a:normAutofit/>
          </a:bodyPr>
          <a:lstStyle/>
          <a:p>
            <a:pPr marL="12700" algn="ctr" defTabSz="914400"/>
            <a:r>
              <a:rPr lang="es-AR" sz="3200" kern="1200" noProof="0" dirty="0">
                <a:solidFill>
                  <a:schemeClr val="tx1"/>
                </a:solidFill>
                <a:latin typeface="Google Sans Text"/>
              </a:rPr>
              <a:t>Switch en C++</a:t>
            </a:r>
            <a:endParaRPr lang="es-AR" sz="3200" kern="1200" spc="-65" noProof="0" dirty="0">
              <a:solidFill>
                <a:schemeClr val="tx1"/>
              </a:solidFill>
              <a:latin typeface="Google Sans Text"/>
            </a:endParaRPr>
          </a:p>
        </p:txBody>
      </p:sp>
      <p:graphicFrame>
        <p:nvGraphicFramePr>
          <p:cNvPr id="3" name="Tabla 2">
            <a:extLst>
              <a:ext uri="{FF2B5EF4-FFF2-40B4-BE49-F238E27FC236}">
                <a16:creationId xmlns:a16="http://schemas.microsoft.com/office/drawing/2014/main" id="{34F50B90-D494-5991-FA36-E70D9A943231}"/>
              </a:ext>
            </a:extLst>
          </p:cNvPr>
          <p:cNvGraphicFramePr>
            <a:graphicFrameLocks noGrp="1"/>
          </p:cNvGraphicFramePr>
          <p:nvPr>
            <p:extLst>
              <p:ext uri="{D42A27DB-BD31-4B8C-83A1-F6EECF244321}">
                <p14:modId xmlns:p14="http://schemas.microsoft.com/office/powerpoint/2010/main" val="2926114681"/>
              </p:ext>
            </p:extLst>
          </p:nvPr>
        </p:nvGraphicFramePr>
        <p:xfrm>
          <a:off x="1987910" y="1504950"/>
          <a:ext cx="5168179" cy="2743200"/>
        </p:xfrm>
        <a:graphic>
          <a:graphicData uri="http://schemas.openxmlformats.org/drawingml/2006/table">
            <a:tbl>
              <a:tblPr>
                <a:tableStyleId>{1FECB4D8-DB02-4DC6-A0A2-4F2EBAE1DC90}</a:tableStyleId>
              </a:tblPr>
              <a:tblGrid>
                <a:gridCol w="2584090">
                  <a:extLst>
                    <a:ext uri="{9D8B030D-6E8A-4147-A177-3AD203B41FA5}">
                      <a16:colId xmlns:a16="http://schemas.microsoft.com/office/drawing/2014/main" val="2368896763"/>
                    </a:ext>
                  </a:extLst>
                </a:gridCol>
                <a:gridCol w="2584089">
                  <a:extLst>
                    <a:ext uri="{9D8B030D-6E8A-4147-A177-3AD203B41FA5}">
                      <a16:colId xmlns:a16="http://schemas.microsoft.com/office/drawing/2014/main" val="3499220544"/>
                    </a:ext>
                  </a:extLst>
                </a:gridCol>
              </a:tblGrid>
              <a:tr h="510540">
                <a:tc>
                  <a:txBody>
                    <a:bodyPr/>
                    <a:lstStyle/>
                    <a:p>
                      <a:pPr algn="ctr" rtl="0">
                        <a:buNone/>
                      </a:pPr>
                      <a:r>
                        <a:rPr lang="es-AR" sz="1600" b="1" dirty="0">
                          <a:solidFill>
                            <a:srgbClr val="1F1F1F"/>
                          </a:solidFill>
                          <a:effectLst/>
                          <a:latin typeface="Google Sans Flex"/>
                        </a:rPr>
                        <a:t>Concepto</a:t>
                      </a:r>
                      <a:endParaRPr lang="es-AR" sz="1600" dirty="0">
                        <a:solidFill>
                          <a:srgbClr val="1F1F1F"/>
                        </a:solidFill>
                        <a:effectLst/>
                        <a:latin typeface="Google Sans Flex"/>
                      </a:endParaRPr>
                    </a:p>
                  </a:txBody>
                  <a:tcPr marR="114300" marT="152400" marB="152400" anchor="ctr">
                    <a:solidFill>
                      <a:schemeClr val="accent2">
                        <a:lumMod val="40000"/>
                        <a:lumOff val="60000"/>
                      </a:schemeClr>
                    </a:solidFill>
                  </a:tcPr>
                </a:tc>
                <a:tc>
                  <a:txBody>
                    <a:bodyPr/>
                    <a:lstStyle/>
                    <a:p>
                      <a:pPr algn="ctr" rtl="0">
                        <a:buNone/>
                      </a:pPr>
                      <a:r>
                        <a:rPr lang="es-AR" sz="1600" b="1" dirty="0">
                          <a:solidFill>
                            <a:srgbClr val="1F1F1F"/>
                          </a:solidFill>
                          <a:effectLst/>
                          <a:latin typeface="Google Sans Flex"/>
                        </a:rPr>
                        <a:t>C++ (Switch)</a:t>
                      </a:r>
                      <a:endParaRPr lang="es-AR" sz="1600" dirty="0">
                        <a:solidFill>
                          <a:srgbClr val="1F1F1F"/>
                        </a:solidFill>
                        <a:effectLst/>
                        <a:latin typeface="Google Sans Flex"/>
                      </a:endParaRPr>
                    </a:p>
                  </a:txBody>
                  <a:tcPr marT="152400" marB="152400" anchor="ctr">
                    <a:solidFill>
                      <a:schemeClr val="accent2">
                        <a:lumMod val="40000"/>
                        <a:lumOff val="60000"/>
                      </a:schemeClr>
                    </a:solidFill>
                  </a:tcPr>
                </a:tc>
                <a:extLst>
                  <a:ext uri="{0D108BD9-81ED-4DB2-BD59-A6C34878D82A}">
                    <a16:rowId xmlns:a16="http://schemas.microsoft.com/office/drawing/2014/main" val="2455916322"/>
                  </a:ext>
                </a:extLst>
              </a:tr>
              <a:tr h="510540">
                <a:tc>
                  <a:txBody>
                    <a:bodyPr/>
                    <a:lstStyle/>
                    <a:p>
                      <a:pPr algn="ctr" rtl="0">
                        <a:buNone/>
                      </a:pPr>
                      <a:r>
                        <a:rPr lang="es-AR" sz="1600" b="1">
                          <a:solidFill>
                            <a:srgbClr val="1F1F1F"/>
                          </a:solidFill>
                          <a:effectLst/>
                          <a:latin typeface="Google Sans Flex"/>
                        </a:rPr>
                        <a:t>Inicio</a:t>
                      </a:r>
                      <a:endParaRPr lang="es-AR" sz="1600">
                        <a:solidFill>
                          <a:srgbClr val="1F1F1F"/>
                        </a:solidFill>
                        <a:effectLst/>
                        <a:latin typeface="Google Sans Flex"/>
                      </a:endParaRPr>
                    </a:p>
                  </a:txBody>
                  <a:tcPr marR="114300" marT="152400" marB="152400" anchor="ctr"/>
                </a:tc>
                <a:tc>
                  <a:txBody>
                    <a:bodyPr/>
                    <a:lstStyle/>
                    <a:p>
                      <a:pPr algn="ctr" rtl="0">
                        <a:buNone/>
                      </a:pPr>
                      <a:r>
                        <a:rPr lang="es-AR" sz="1600" b="1" dirty="0">
                          <a:solidFill>
                            <a:schemeClr val="accent6">
                              <a:lumMod val="75000"/>
                            </a:schemeClr>
                          </a:solidFill>
                          <a:effectLst/>
                          <a:latin typeface="Google Sans Flex"/>
                        </a:rPr>
                        <a:t>switch</a:t>
                      </a:r>
                      <a:r>
                        <a:rPr lang="es-AR" sz="1600" dirty="0">
                          <a:solidFill>
                            <a:srgbClr val="444746"/>
                          </a:solidFill>
                          <a:effectLst/>
                          <a:latin typeface="Google Sans Flex"/>
                        </a:rPr>
                        <a:t> (variable) {</a:t>
                      </a:r>
                      <a:endParaRPr lang="es-AR" sz="1600" dirty="0">
                        <a:solidFill>
                          <a:srgbClr val="1F1F1F"/>
                        </a:solidFill>
                        <a:effectLst/>
                        <a:latin typeface="Google Sans Flex"/>
                      </a:endParaRPr>
                    </a:p>
                  </a:txBody>
                  <a:tcPr marT="152400" marB="152400" anchor="ctr"/>
                </a:tc>
                <a:extLst>
                  <a:ext uri="{0D108BD9-81ED-4DB2-BD59-A6C34878D82A}">
                    <a16:rowId xmlns:a16="http://schemas.microsoft.com/office/drawing/2014/main" val="4135315756"/>
                  </a:ext>
                </a:extLst>
              </a:tr>
              <a:tr h="510540">
                <a:tc>
                  <a:txBody>
                    <a:bodyPr/>
                    <a:lstStyle/>
                    <a:p>
                      <a:pPr algn="ctr" rtl="0">
                        <a:buNone/>
                      </a:pPr>
                      <a:r>
                        <a:rPr lang="es-AR" sz="1600" b="1">
                          <a:solidFill>
                            <a:srgbClr val="1F1F1F"/>
                          </a:solidFill>
                          <a:effectLst/>
                          <a:latin typeface="Google Sans Flex"/>
                        </a:rPr>
                        <a:t>Casos</a:t>
                      </a:r>
                      <a:endParaRPr lang="es-AR" sz="1600">
                        <a:solidFill>
                          <a:srgbClr val="1F1F1F"/>
                        </a:solidFill>
                        <a:effectLst/>
                        <a:latin typeface="Google Sans Flex"/>
                      </a:endParaRPr>
                    </a:p>
                  </a:txBody>
                  <a:tcPr marR="114300" marT="152400" marB="152400" anchor="ctr"/>
                </a:tc>
                <a:tc>
                  <a:txBody>
                    <a:bodyPr/>
                    <a:lstStyle/>
                    <a:p>
                      <a:pPr algn="ctr" rtl="0">
                        <a:buNone/>
                      </a:pPr>
                      <a:r>
                        <a:rPr lang="es-AR" sz="1600" b="1" dirty="0">
                          <a:solidFill>
                            <a:schemeClr val="accent6">
                              <a:lumMod val="75000"/>
                            </a:schemeClr>
                          </a:solidFill>
                          <a:effectLst/>
                          <a:latin typeface="Google Sans Flex"/>
                        </a:rPr>
                        <a:t>case</a:t>
                      </a:r>
                      <a:r>
                        <a:rPr lang="es-AR" sz="1600" dirty="0">
                          <a:solidFill>
                            <a:srgbClr val="444746"/>
                          </a:solidFill>
                          <a:effectLst/>
                          <a:latin typeface="Google Sans Flex"/>
                        </a:rPr>
                        <a:t> valor1:</a:t>
                      </a:r>
                      <a:endParaRPr lang="es-AR" sz="1600" dirty="0">
                        <a:solidFill>
                          <a:srgbClr val="1F1F1F"/>
                        </a:solidFill>
                        <a:effectLst/>
                        <a:latin typeface="Google Sans Flex"/>
                      </a:endParaRPr>
                    </a:p>
                  </a:txBody>
                  <a:tcPr marT="152400" marB="152400" anchor="ctr"/>
                </a:tc>
                <a:extLst>
                  <a:ext uri="{0D108BD9-81ED-4DB2-BD59-A6C34878D82A}">
                    <a16:rowId xmlns:a16="http://schemas.microsoft.com/office/drawing/2014/main" val="4040731354"/>
                  </a:ext>
                </a:extLst>
              </a:tr>
              <a:tr h="510540">
                <a:tc>
                  <a:txBody>
                    <a:bodyPr/>
                    <a:lstStyle/>
                    <a:p>
                      <a:pPr algn="ctr" rtl="0">
                        <a:buNone/>
                      </a:pPr>
                      <a:r>
                        <a:rPr lang="es-AR" sz="1600" b="1">
                          <a:solidFill>
                            <a:srgbClr val="1F1F1F"/>
                          </a:solidFill>
                          <a:effectLst/>
                          <a:latin typeface="Google Sans Flex"/>
                        </a:rPr>
                        <a:t>Salida de caso</a:t>
                      </a:r>
                      <a:endParaRPr lang="es-AR" sz="1600">
                        <a:solidFill>
                          <a:srgbClr val="1F1F1F"/>
                        </a:solidFill>
                        <a:effectLst/>
                        <a:latin typeface="Google Sans Flex"/>
                      </a:endParaRPr>
                    </a:p>
                  </a:txBody>
                  <a:tcPr marR="114300" marT="152400" marB="152400" anchor="ctr"/>
                </a:tc>
                <a:tc>
                  <a:txBody>
                    <a:bodyPr/>
                    <a:lstStyle/>
                    <a:p>
                      <a:pPr algn="ctr" rtl="0">
                        <a:buNone/>
                      </a:pPr>
                      <a:r>
                        <a:rPr lang="es-AR" sz="1600" b="1" dirty="0">
                          <a:solidFill>
                            <a:schemeClr val="accent6">
                              <a:lumMod val="75000"/>
                            </a:schemeClr>
                          </a:solidFill>
                          <a:effectLst/>
                          <a:latin typeface="Google Sans Flex"/>
                        </a:rPr>
                        <a:t>break</a:t>
                      </a:r>
                      <a:r>
                        <a:rPr lang="es-AR" sz="1600" b="1" dirty="0">
                          <a:solidFill>
                            <a:srgbClr val="444746"/>
                          </a:solidFill>
                          <a:effectLst/>
                          <a:latin typeface="Google Sans Flex"/>
                        </a:rPr>
                        <a:t>;</a:t>
                      </a:r>
                      <a:endParaRPr lang="es-AR" sz="1600" dirty="0">
                        <a:solidFill>
                          <a:srgbClr val="1F1F1F"/>
                        </a:solidFill>
                        <a:effectLst/>
                        <a:latin typeface="Google Sans Flex"/>
                      </a:endParaRPr>
                    </a:p>
                  </a:txBody>
                  <a:tcPr marT="152400" marB="152400" anchor="ctr"/>
                </a:tc>
                <a:extLst>
                  <a:ext uri="{0D108BD9-81ED-4DB2-BD59-A6C34878D82A}">
                    <a16:rowId xmlns:a16="http://schemas.microsoft.com/office/drawing/2014/main" val="1493013182"/>
                  </a:ext>
                </a:extLst>
              </a:tr>
              <a:tr h="510540">
                <a:tc>
                  <a:txBody>
                    <a:bodyPr/>
                    <a:lstStyle/>
                    <a:p>
                      <a:pPr algn="ctr" rtl="0">
                        <a:buNone/>
                      </a:pPr>
                      <a:r>
                        <a:rPr lang="es-AR" sz="1600" b="1">
                          <a:solidFill>
                            <a:srgbClr val="1F1F1F"/>
                          </a:solidFill>
                          <a:effectLst/>
                          <a:latin typeface="Google Sans Flex"/>
                        </a:rPr>
                        <a:t>Caso por defecto</a:t>
                      </a:r>
                      <a:endParaRPr lang="es-AR" sz="1600">
                        <a:solidFill>
                          <a:srgbClr val="1F1F1F"/>
                        </a:solidFill>
                        <a:effectLst/>
                        <a:latin typeface="Google Sans Flex"/>
                      </a:endParaRPr>
                    </a:p>
                  </a:txBody>
                  <a:tcPr marR="114300" marT="152400" marB="152400" anchor="ctr"/>
                </a:tc>
                <a:tc>
                  <a:txBody>
                    <a:bodyPr/>
                    <a:lstStyle/>
                    <a:p>
                      <a:pPr algn="ctr" rtl="0">
                        <a:buNone/>
                      </a:pPr>
                      <a:r>
                        <a:rPr lang="es-AR" sz="1600" b="1" dirty="0">
                          <a:solidFill>
                            <a:schemeClr val="accent6">
                              <a:lumMod val="75000"/>
                            </a:schemeClr>
                          </a:solidFill>
                          <a:effectLst/>
                          <a:latin typeface="Google Sans Flex"/>
                        </a:rPr>
                        <a:t>default</a:t>
                      </a:r>
                      <a:r>
                        <a:rPr lang="es-AR" sz="1600" dirty="0">
                          <a:solidFill>
                            <a:srgbClr val="444746"/>
                          </a:solidFill>
                          <a:effectLst/>
                          <a:latin typeface="Google Sans Flex"/>
                        </a:rPr>
                        <a:t>:</a:t>
                      </a:r>
                      <a:endParaRPr lang="es-AR" sz="1600" dirty="0">
                        <a:solidFill>
                          <a:srgbClr val="1F1F1F"/>
                        </a:solidFill>
                        <a:effectLst/>
                        <a:latin typeface="Google Sans Flex"/>
                      </a:endParaRPr>
                    </a:p>
                  </a:txBody>
                  <a:tcPr marT="152400" marB="152400" anchor="ctr"/>
                </a:tc>
                <a:extLst>
                  <a:ext uri="{0D108BD9-81ED-4DB2-BD59-A6C34878D82A}">
                    <a16:rowId xmlns:a16="http://schemas.microsoft.com/office/drawing/2014/main" val="4117657002"/>
                  </a:ext>
                </a:extLst>
              </a:tr>
            </a:tbl>
          </a:graphicData>
        </a:graphic>
      </p:graphicFrame>
    </p:spTree>
    <p:extLst>
      <p:ext uri="{BB962C8B-B14F-4D97-AF65-F5344CB8AC3E}">
        <p14:creationId xmlns:p14="http://schemas.microsoft.com/office/powerpoint/2010/main" val="4042087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D592D-53BF-8DF9-62D8-935D3E9C024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9860EAA-6B93-8625-89E9-7F9EA0F89AC7}"/>
              </a:ext>
            </a:extLst>
          </p:cNvPr>
          <p:cNvSpPr txBox="1">
            <a:spLocks noGrp="1"/>
          </p:cNvSpPr>
          <p:nvPr>
            <p:ph type="title"/>
          </p:nvPr>
        </p:nvSpPr>
        <p:spPr>
          <a:xfrm>
            <a:off x="0" y="167583"/>
            <a:ext cx="9144000" cy="520655"/>
          </a:xfrm>
          <a:prstGeom prst="rect">
            <a:avLst/>
          </a:prstGeom>
        </p:spPr>
        <p:txBody>
          <a:bodyPr vert="horz" wrap="square" lIns="0" tIns="12700" rIns="0" bIns="0" rtlCol="0">
            <a:spAutoFit/>
          </a:bodyPr>
          <a:lstStyle/>
          <a:p>
            <a:pPr marL="12700" algn="ctr">
              <a:lnSpc>
                <a:spcPct val="100000"/>
              </a:lnSpc>
              <a:spcBef>
                <a:spcPts val="100"/>
              </a:spcBef>
            </a:pPr>
            <a:r>
              <a:rPr lang="es-AR" spc="-65" dirty="0">
                <a:latin typeface="Google Sans Text"/>
              </a:rPr>
              <a:t>Decisión Múltiple</a:t>
            </a:r>
            <a:endParaRPr spc="-65" dirty="0">
              <a:latin typeface="Google Sans Text"/>
            </a:endParaRPr>
          </a:p>
        </p:txBody>
      </p:sp>
      <p:sp>
        <p:nvSpPr>
          <p:cNvPr id="6" name="object 6">
            <a:extLst>
              <a:ext uri="{FF2B5EF4-FFF2-40B4-BE49-F238E27FC236}">
                <a16:creationId xmlns:a16="http://schemas.microsoft.com/office/drawing/2014/main" id="{911C55D0-382A-C532-E1BB-B0FB5D30E17F}"/>
              </a:ext>
            </a:extLst>
          </p:cNvPr>
          <p:cNvSpPr txBox="1"/>
          <p:nvPr/>
        </p:nvSpPr>
        <p:spPr>
          <a:xfrm>
            <a:off x="609600" y="976789"/>
            <a:ext cx="8021659" cy="285976"/>
          </a:xfrm>
          <a:prstGeom prst="rect">
            <a:avLst/>
          </a:prstGeom>
        </p:spPr>
        <p:txBody>
          <a:bodyPr vert="horz" wrap="square" lIns="0" tIns="8890" rIns="0" bIns="0" rtlCol="0">
            <a:spAutoFit/>
          </a:bodyPr>
          <a:lstStyle/>
          <a:p>
            <a:r>
              <a:rPr lang="es-ES" dirty="0">
                <a:latin typeface="Google Sans Text"/>
              </a:rPr>
              <a:t>Evalúa una variable y ejecuta una acción según el valor.</a:t>
            </a:r>
            <a:endParaRPr sz="2100" dirty="0">
              <a:latin typeface="Google Sans Text"/>
              <a:cs typeface="Trebuchet MS"/>
            </a:endParaRPr>
          </a:p>
        </p:txBody>
      </p:sp>
      <p:sp>
        <p:nvSpPr>
          <p:cNvPr id="8" name="object 8">
            <a:extLst>
              <a:ext uri="{FF2B5EF4-FFF2-40B4-BE49-F238E27FC236}">
                <a16:creationId xmlns:a16="http://schemas.microsoft.com/office/drawing/2014/main" id="{7CD7ACD1-3402-A601-907E-3FD728D2C4B7}"/>
              </a:ext>
            </a:extLst>
          </p:cNvPr>
          <p:cNvSpPr txBox="1"/>
          <p:nvPr/>
        </p:nvSpPr>
        <p:spPr>
          <a:xfrm>
            <a:off x="2045478" y="3333750"/>
            <a:ext cx="627380" cy="182101"/>
          </a:xfrm>
          <a:prstGeom prst="rect">
            <a:avLst/>
          </a:prstGeom>
        </p:spPr>
        <p:txBody>
          <a:bodyPr vert="horz" wrap="square" lIns="0" tIns="12700" rIns="0" bIns="0" rtlCol="0">
            <a:spAutoFit/>
          </a:bodyPr>
          <a:lstStyle/>
          <a:p>
            <a:pPr marL="12700" algn="ctr">
              <a:lnSpc>
                <a:spcPct val="100000"/>
              </a:lnSpc>
              <a:spcBef>
                <a:spcPts val="100"/>
              </a:spcBef>
            </a:pPr>
            <a:r>
              <a:rPr sz="1100" b="1" spc="-10" dirty="0">
                <a:latin typeface="Google Sans Text"/>
                <a:cs typeface="Roboto"/>
              </a:rPr>
              <a:t>Diagrama</a:t>
            </a:r>
            <a:endParaRPr sz="1100" dirty="0">
              <a:latin typeface="Google Sans Text"/>
              <a:cs typeface="Roboto"/>
            </a:endParaRPr>
          </a:p>
        </p:txBody>
      </p:sp>
      <p:sp>
        <p:nvSpPr>
          <p:cNvPr id="9" name="object 9">
            <a:extLst>
              <a:ext uri="{FF2B5EF4-FFF2-40B4-BE49-F238E27FC236}">
                <a16:creationId xmlns:a16="http://schemas.microsoft.com/office/drawing/2014/main" id="{BBF34CCE-CF6F-A6A6-C1CC-B07EDF47F21D}"/>
              </a:ext>
            </a:extLst>
          </p:cNvPr>
          <p:cNvSpPr txBox="1"/>
          <p:nvPr/>
        </p:nvSpPr>
        <p:spPr>
          <a:xfrm>
            <a:off x="6113465" y="3943350"/>
            <a:ext cx="847512" cy="182101"/>
          </a:xfrm>
          <a:prstGeom prst="rect">
            <a:avLst/>
          </a:prstGeom>
        </p:spPr>
        <p:txBody>
          <a:bodyPr vert="horz" wrap="square" lIns="0" tIns="12700" rIns="0" bIns="0" rtlCol="0">
            <a:spAutoFit/>
          </a:bodyPr>
          <a:lstStyle/>
          <a:p>
            <a:pPr marL="12700" algn="ctr">
              <a:lnSpc>
                <a:spcPct val="100000"/>
              </a:lnSpc>
              <a:spcBef>
                <a:spcPts val="100"/>
              </a:spcBef>
            </a:pPr>
            <a:r>
              <a:rPr sz="1100" b="1" spc="-5" dirty="0">
                <a:latin typeface="Google Sans Text"/>
                <a:cs typeface="Roboto"/>
              </a:rPr>
              <a:t>Códig</a:t>
            </a:r>
            <a:r>
              <a:rPr sz="1100" b="1" dirty="0">
                <a:latin typeface="Google Sans Text"/>
                <a:cs typeface="Roboto"/>
              </a:rPr>
              <a:t>o</a:t>
            </a:r>
            <a:r>
              <a:rPr sz="1100" b="1" spc="-5" dirty="0">
                <a:latin typeface="Google Sans Text"/>
                <a:cs typeface="Roboto"/>
              </a:rPr>
              <a:t> </a:t>
            </a:r>
            <a:r>
              <a:rPr sz="1100" b="1" spc="15" dirty="0">
                <a:latin typeface="Google Sans Text"/>
                <a:cs typeface="Roboto"/>
              </a:rPr>
              <a:t>C</a:t>
            </a:r>
            <a:r>
              <a:rPr lang="es-AR" sz="1100" b="1" spc="15" dirty="0">
                <a:latin typeface="Google Sans Text"/>
                <a:cs typeface="Roboto"/>
              </a:rPr>
              <a:t>++</a:t>
            </a:r>
            <a:endParaRPr sz="1100" dirty="0">
              <a:latin typeface="Google Sans Text"/>
              <a:cs typeface="Roboto"/>
            </a:endParaRPr>
          </a:p>
        </p:txBody>
      </p:sp>
      <p:sp>
        <p:nvSpPr>
          <p:cNvPr id="3" name="object 7">
            <a:extLst>
              <a:ext uri="{FF2B5EF4-FFF2-40B4-BE49-F238E27FC236}">
                <a16:creationId xmlns:a16="http://schemas.microsoft.com/office/drawing/2014/main" id="{8F7FBF72-1BDC-8F64-ACE3-89450DA8574B}"/>
              </a:ext>
            </a:extLst>
          </p:cNvPr>
          <p:cNvSpPr txBox="1"/>
          <p:nvPr/>
        </p:nvSpPr>
        <p:spPr>
          <a:xfrm>
            <a:off x="4777124" y="1617456"/>
            <a:ext cx="3520194" cy="2205091"/>
          </a:xfrm>
          <a:prstGeom prst="rect">
            <a:avLst/>
          </a:prstGeom>
          <a:solidFill>
            <a:schemeClr val="tx1"/>
          </a:solidFill>
          <a:ln w="9524">
            <a:solidFill>
              <a:schemeClr val="tx1"/>
            </a:solidFill>
          </a:ln>
        </p:spPr>
        <p:txBody>
          <a:bodyPr vert="horz" wrap="square" lIns="0" tIns="50165" rIns="0" bIns="0" rtlCol="0">
            <a:spAutoFit/>
          </a:bodyPr>
          <a:lstStyle/>
          <a:p>
            <a:pPr>
              <a:lnSpc>
                <a:spcPts val="1425"/>
              </a:lnSpc>
              <a:buNone/>
            </a:pPr>
            <a:r>
              <a:rPr lang="es-AR" sz="1200" dirty="0" err="1">
                <a:solidFill>
                  <a:srgbClr val="569CD6"/>
                </a:solidFill>
                <a:latin typeface="Consolas" panose="020B0609020204030204" pitchFamily="49" charset="0"/>
              </a:rPr>
              <a:t>char</a:t>
            </a:r>
            <a:r>
              <a:rPr lang="es-AR" sz="1200" dirty="0">
                <a:solidFill>
                  <a:srgbClr val="CCCCCC"/>
                </a:solidFill>
                <a:latin typeface="Consolas" panose="020B0609020204030204" pitchFamily="49" charset="0"/>
              </a:rPr>
              <a:t> </a:t>
            </a:r>
            <a:r>
              <a:rPr lang="es-AR" sz="1200" dirty="0" err="1">
                <a:solidFill>
                  <a:srgbClr val="9CDCFE"/>
                </a:solidFill>
                <a:latin typeface="Consolas" panose="020B0609020204030204" pitchFamily="49" charset="0"/>
              </a:rPr>
              <a:t>opcion</a:t>
            </a:r>
            <a:r>
              <a:rPr lang="es-AR" sz="1200" dirty="0">
                <a:solidFill>
                  <a:srgbClr val="CCCCCC"/>
                </a:solidFill>
                <a:latin typeface="Consolas" panose="020B0609020204030204" pitchFamily="49" charset="0"/>
              </a:rPr>
              <a:t>;</a:t>
            </a:r>
          </a:p>
          <a:p>
            <a:pPr>
              <a:lnSpc>
                <a:spcPts val="1425"/>
              </a:lnSpc>
              <a:buNone/>
            </a:pPr>
            <a:r>
              <a:rPr lang="es-AR" sz="1200" dirty="0" err="1">
                <a:solidFill>
                  <a:srgbClr val="9CDCFE"/>
                </a:solidFill>
                <a:latin typeface="Consolas" panose="020B0609020204030204" pitchFamily="49" charset="0"/>
              </a:rPr>
              <a:t>cin</a:t>
            </a:r>
            <a:r>
              <a:rPr lang="es-AR" sz="1200" dirty="0">
                <a:solidFill>
                  <a:srgbClr val="CCCCCC"/>
                </a:solidFill>
                <a:latin typeface="Consolas" panose="020B0609020204030204" pitchFamily="49" charset="0"/>
              </a:rPr>
              <a:t> </a:t>
            </a:r>
            <a:r>
              <a:rPr lang="es-AR" sz="1200" dirty="0">
                <a:solidFill>
                  <a:srgbClr val="D4D4D4"/>
                </a:solidFill>
                <a:latin typeface="Consolas" panose="020B0609020204030204" pitchFamily="49" charset="0"/>
              </a:rPr>
              <a:t>&gt;&gt;</a:t>
            </a:r>
            <a:r>
              <a:rPr lang="es-AR" sz="1200" dirty="0">
                <a:solidFill>
                  <a:srgbClr val="CCCCCC"/>
                </a:solidFill>
                <a:latin typeface="Consolas" panose="020B0609020204030204" pitchFamily="49" charset="0"/>
              </a:rPr>
              <a:t> </a:t>
            </a:r>
            <a:r>
              <a:rPr lang="es-AR" sz="1200" dirty="0" err="1">
                <a:solidFill>
                  <a:srgbClr val="CCCCCC"/>
                </a:solidFill>
                <a:latin typeface="Consolas" panose="020B0609020204030204" pitchFamily="49" charset="0"/>
              </a:rPr>
              <a:t>opcion</a:t>
            </a:r>
            <a:r>
              <a:rPr lang="es-AR" sz="1200" dirty="0">
                <a:solidFill>
                  <a:srgbClr val="CCCCCC"/>
                </a:solidFill>
                <a:latin typeface="Consolas" panose="020B0609020204030204" pitchFamily="49" charset="0"/>
              </a:rPr>
              <a:t>;</a:t>
            </a:r>
          </a:p>
          <a:p>
            <a:pPr>
              <a:lnSpc>
                <a:spcPts val="1425"/>
              </a:lnSpc>
              <a:buNone/>
            </a:pPr>
            <a:r>
              <a:rPr lang="es-AR" sz="1200" dirty="0">
                <a:solidFill>
                  <a:srgbClr val="C586C0"/>
                </a:solidFill>
                <a:latin typeface="Consolas" panose="020B0609020204030204" pitchFamily="49" charset="0"/>
              </a:rPr>
              <a:t>switch</a:t>
            </a:r>
            <a:r>
              <a:rPr lang="es-AR" sz="1200" dirty="0">
                <a:solidFill>
                  <a:srgbClr val="CCCCCC"/>
                </a:solidFill>
                <a:latin typeface="Consolas" panose="020B0609020204030204" pitchFamily="49" charset="0"/>
              </a:rPr>
              <a:t>(</a:t>
            </a:r>
            <a:r>
              <a:rPr lang="es-AR" sz="1200" dirty="0" err="1">
                <a:solidFill>
                  <a:srgbClr val="CCCCCC"/>
                </a:solidFill>
                <a:latin typeface="Consolas" panose="020B0609020204030204" pitchFamily="49" charset="0"/>
              </a:rPr>
              <a:t>opcion</a:t>
            </a:r>
            <a:r>
              <a:rPr lang="es-AR" sz="1200" dirty="0">
                <a:solidFill>
                  <a:srgbClr val="CCCCCC"/>
                </a:solidFill>
                <a:latin typeface="Consolas" panose="020B0609020204030204" pitchFamily="49" charset="0"/>
              </a:rPr>
              <a:t>) {</a:t>
            </a:r>
          </a:p>
          <a:p>
            <a:pPr>
              <a:lnSpc>
                <a:spcPts val="1425"/>
              </a:lnSpc>
              <a:buNone/>
            </a:pPr>
            <a:r>
              <a:rPr lang="es-AR" sz="1200" dirty="0">
                <a:solidFill>
                  <a:srgbClr val="C586C0"/>
                </a:solidFill>
                <a:latin typeface="Consolas" panose="020B0609020204030204" pitchFamily="49" charset="0"/>
              </a:rPr>
              <a:t>case</a:t>
            </a:r>
            <a:r>
              <a:rPr lang="es-AR" sz="1200" dirty="0">
                <a:solidFill>
                  <a:srgbClr val="CCCCCC"/>
                </a:solidFill>
                <a:latin typeface="Consolas" panose="020B0609020204030204" pitchFamily="49" charset="0"/>
              </a:rPr>
              <a:t> </a:t>
            </a:r>
            <a:r>
              <a:rPr lang="es-AR" sz="1200" dirty="0">
                <a:solidFill>
                  <a:srgbClr val="CE9178"/>
                </a:solidFill>
                <a:latin typeface="Consolas" panose="020B0609020204030204" pitchFamily="49" charset="0"/>
              </a:rPr>
              <a:t>'E'</a:t>
            </a:r>
            <a:r>
              <a:rPr lang="es-AR" sz="1200" dirty="0">
                <a:solidFill>
                  <a:srgbClr val="CCCCCC"/>
                </a:solidFill>
                <a:latin typeface="Consolas" panose="020B0609020204030204" pitchFamily="49" charset="0"/>
              </a:rPr>
              <a:t>:</a:t>
            </a:r>
          </a:p>
          <a:p>
            <a:pPr>
              <a:lnSpc>
                <a:spcPts val="1425"/>
              </a:lnSpc>
              <a:buNone/>
            </a:pPr>
            <a:r>
              <a:rPr lang="es-AR" sz="1200" dirty="0">
                <a:solidFill>
                  <a:srgbClr val="CCCCCC"/>
                </a:solidFill>
                <a:latin typeface="Consolas" panose="020B0609020204030204" pitchFamily="49" charset="0"/>
              </a:rPr>
              <a:t>   </a:t>
            </a:r>
            <a:r>
              <a:rPr lang="es-AR" sz="1200" dirty="0" err="1">
                <a:solidFill>
                  <a:srgbClr val="CCCCCC"/>
                </a:solidFill>
                <a:latin typeface="Consolas" panose="020B0609020204030204" pitchFamily="49" charset="0"/>
              </a:rPr>
              <a:t>cout</a:t>
            </a:r>
            <a:r>
              <a:rPr lang="es-AR" sz="1200" dirty="0">
                <a:solidFill>
                  <a:srgbClr val="CCCCCC"/>
                </a:solidFill>
                <a:latin typeface="Consolas" panose="020B0609020204030204" pitchFamily="49" charset="0"/>
              </a:rPr>
              <a:t> </a:t>
            </a:r>
            <a:r>
              <a:rPr lang="es-AR" sz="1200" dirty="0">
                <a:solidFill>
                  <a:srgbClr val="D4D4D4"/>
                </a:solidFill>
                <a:latin typeface="Consolas" panose="020B0609020204030204" pitchFamily="49" charset="0"/>
              </a:rPr>
              <a:t>&lt;&lt;</a:t>
            </a:r>
            <a:r>
              <a:rPr lang="es-AR" sz="1200" dirty="0">
                <a:solidFill>
                  <a:srgbClr val="CCCCCC"/>
                </a:solidFill>
                <a:latin typeface="Consolas" panose="020B0609020204030204" pitchFamily="49" charset="0"/>
              </a:rPr>
              <a:t> </a:t>
            </a:r>
            <a:r>
              <a:rPr lang="es-AR" sz="1200" dirty="0">
                <a:solidFill>
                  <a:srgbClr val="CE9178"/>
                </a:solidFill>
                <a:latin typeface="Consolas" panose="020B0609020204030204" pitchFamily="49" charset="0"/>
              </a:rPr>
              <a:t>"Efectivo"</a:t>
            </a:r>
            <a:r>
              <a:rPr lang="es-AR" sz="1200" dirty="0">
                <a:solidFill>
                  <a:srgbClr val="CCCCCC"/>
                </a:solidFill>
                <a:latin typeface="Consolas" panose="020B0609020204030204" pitchFamily="49" charset="0"/>
              </a:rPr>
              <a:t>;</a:t>
            </a:r>
          </a:p>
          <a:p>
            <a:pPr>
              <a:lnSpc>
                <a:spcPts val="1425"/>
              </a:lnSpc>
              <a:buNone/>
            </a:pPr>
            <a:r>
              <a:rPr lang="es-AR" sz="1200" dirty="0">
                <a:solidFill>
                  <a:srgbClr val="CCCCCC"/>
                </a:solidFill>
                <a:latin typeface="Consolas" panose="020B0609020204030204" pitchFamily="49" charset="0"/>
              </a:rPr>
              <a:t>   </a:t>
            </a:r>
            <a:r>
              <a:rPr lang="es-AR" sz="1200" dirty="0">
                <a:solidFill>
                  <a:srgbClr val="C586C0"/>
                </a:solidFill>
                <a:latin typeface="Consolas" panose="020B0609020204030204" pitchFamily="49" charset="0"/>
              </a:rPr>
              <a:t>break</a:t>
            </a:r>
            <a:r>
              <a:rPr lang="es-AR" sz="1200" dirty="0">
                <a:solidFill>
                  <a:srgbClr val="CCCCCC"/>
                </a:solidFill>
                <a:latin typeface="Consolas" panose="020B0609020204030204" pitchFamily="49" charset="0"/>
              </a:rPr>
              <a:t>;</a:t>
            </a:r>
          </a:p>
          <a:p>
            <a:pPr>
              <a:lnSpc>
                <a:spcPts val="1425"/>
              </a:lnSpc>
              <a:buNone/>
            </a:pPr>
            <a:r>
              <a:rPr lang="es-AR" sz="1200" dirty="0">
                <a:solidFill>
                  <a:srgbClr val="C586C0"/>
                </a:solidFill>
                <a:latin typeface="Consolas" panose="020B0609020204030204" pitchFamily="49" charset="0"/>
              </a:rPr>
              <a:t>case</a:t>
            </a:r>
            <a:r>
              <a:rPr lang="es-AR" sz="1200" dirty="0">
                <a:solidFill>
                  <a:srgbClr val="CCCCCC"/>
                </a:solidFill>
                <a:latin typeface="Consolas" panose="020B0609020204030204" pitchFamily="49" charset="0"/>
              </a:rPr>
              <a:t> </a:t>
            </a:r>
            <a:r>
              <a:rPr lang="es-AR" sz="1200" dirty="0">
                <a:solidFill>
                  <a:srgbClr val="CE9178"/>
                </a:solidFill>
                <a:latin typeface="Consolas" panose="020B0609020204030204" pitchFamily="49" charset="0"/>
              </a:rPr>
              <a:t>'T'</a:t>
            </a:r>
            <a:r>
              <a:rPr lang="es-AR" sz="1200" dirty="0">
                <a:solidFill>
                  <a:srgbClr val="CCCCCC"/>
                </a:solidFill>
                <a:latin typeface="Consolas" panose="020B0609020204030204" pitchFamily="49" charset="0"/>
              </a:rPr>
              <a:t>:</a:t>
            </a:r>
          </a:p>
          <a:p>
            <a:pPr>
              <a:lnSpc>
                <a:spcPts val="1425"/>
              </a:lnSpc>
              <a:buNone/>
            </a:pPr>
            <a:r>
              <a:rPr lang="es-AR" sz="1200" dirty="0">
                <a:solidFill>
                  <a:srgbClr val="CCCCCC"/>
                </a:solidFill>
                <a:latin typeface="Consolas" panose="020B0609020204030204" pitchFamily="49" charset="0"/>
              </a:rPr>
              <a:t>   </a:t>
            </a:r>
            <a:r>
              <a:rPr lang="es-AR" sz="1200" dirty="0" err="1">
                <a:solidFill>
                  <a:srgbClr val="CCCCCC"/>
                </a:solidFill>
                <a:latin typeface="Consolas" panose="020B0609020204030204" pitchFamily="49" charset="0"/>
              </a:rPr>
              <a:t>cout</a:t>
            </a:r>
            <a:r>
              <a:rPr lang="es-AR" sz="1200" dirty="0">
                <a:solidFill>
                  <a:srgbClr val="CCCCCC"/>
                </a:solidFill>
                <a:latin typeface="Consolas" panose="020B0609020204030204" pitchFamily="49" charset="0"/>
              </a:rPr>
              <a:t> </a:t>
            </a:r>
            <a:r>
              <a:rPr lang="es-AR" sz="1200" dirty="0">
                <a:solidFill>
                  <a:srgbClr val="D4D4D4"/>
                </a:solidFill>
                <a:latin typeface="Consolas" panose="020B0609020204030204" pitchFamily="49" charset="0"/>
              </a:rPr>
              <a:t>&lt;&lt;</a:t>
            </a:r>
            <a:r>
              <a:rPr lang="es-AR" sz="1200" dirty="0">
                <a:solidFill>
                  <a:srgbClr val="CCCCCC"/>
                </a:solidFill>
                <a:latin typeface="Consolas" panose="020B0609020204030204" pitchFamily="49" charset="0"/>
              </a:rPr>
              <a:t> </a:t>
            </a:r>
            <a:r>
              <a:rPr lang="es-AR" sz="1200" dirty="0">
                <a:solidFill>
                  <a:srgbClr val="CE9178"/>
                </a:solidFill>
                <a:latin typeface="Consolas" panose="020B0609020204030204" pitchFamily="49" charset="0"/>
              </a:rPr>
              <a:t>"Tarjeta"</a:t>
            </a:r>
            <a:r>
              <a:rPr lang="es-AR" sz="1200" dirty="0">
                <a:solidFill>
                  <a:srgbClr val="CCCCCC"/>
                </a:solidFill>
                <a:latin typeface="Consolas" panose="020B0609020204030204" pitchFamily="49" charset="0"/>
              </a:rPr>
              <a:t>;</a:t>
            </a:r>
          </a:p>
          <a:p>
            <a:pPr>
              <a:lnSpc>
                <a:spcPts val="1425"/>
              </a:lnSpc>
              <a:buNone/>
            </a:pPr>
            <a:r>
              <a:rPr lang="es-AR" sz="1200" dirty="0">
                <a:solidFill>
                  <a:srgbClr val="CCCCCC"/>
                </a:solidFill>
                <a:latin typeface="Consolas" panose="020B0609020204030204" pitchFamily="49" charset="0"/>
              </a:rPr>
              <a:t>   </a:t>
            </a:r>
            <a:r>
              <a:rPr lang="es-AR" sz="1200" dirty="0">
                <a:solidFill>
                  <a:srgbClr val="C586C0"/>
                </a:solidFill>
                <a:latin typeface="Consolas" panose="020B0609020204030204" pitchFamily="49" charset="0"/>
              </a:rPr>
              <a:t>break</a:t>
            </a:r>
            <a:r>
              <a:rPr lang="es-AR" sz="1200" dirty="0">
                <a:solidFill>
                  <a:srgbClr val="CCCCCC"/>
                </a:solidFill>
                <a:latin typeface="Consolas" panose="020B0609020204030204" pitchFamily="49" charset="0"/>
              </a:rPr>
              <a:t>;</a:t>
            </a:r>
          </a:p>
          <a:p>
            <a:pPr>
              <a:lnSpc>
                <a:spcPts val="1425"/>
              </a:lnSpc>
              <a:buNone/>
            </a:pPr>
            <a:r>
              <a:rPr lang="es-AR" sz="1200" dirty="0">
                <a:solidFill>
                  <a:srgbClr val="C586C0"/>
                </a:solidFill>
                <a:latin typeface="Consolas" panose="020B0609020204030204" pitchFamily="49" charset="0"/>
              </a:rPr>
              <a:t>default</a:t>
            </a:r>
            <a:r>
              <a:rPr lang="es-AR" sz="1200" dirty="0">
                <a:solidFill>
                  <a:srgbClr val="CCCCCC"/>
                </a:solidFill>
                <a:latin typeface="Consolas" panose="020B0609020204030204" pitchFamily="49" charset="0"/>
              </a:rPr>
              <a:t>:</a:t>
            </a:r>
          </a:p>
          <a:p>
            <a:pPr>
              <a:lnSpc>
                <a:spcPts val="1425"/>
              </a:lnSpc>
              <a:buNone/>
            </a:pPr>
            <a:r>
              <a:rPr lang="es-AR" sz="1200" dirty="0">
                <a:solidFill>
                  <a:srgbClr val="CCCCCC"/>
                </a:solidFill>
                <a:latin typeface="Consolas" panose="020B0609020204030204" pitchFamily="49" charset="0"/>
              </a:rPr>
              <a:t>   </a:t>
            </a:r>
            <a:r>
              <a:rPr lang="es-AR" sz="1200" dirty="0" err="1">
                <a:solidFill>
                  <a:srgbClr val="CCCCCC"/>
                </a:solidFill>
                <a:latin typeface="Consolas" panose="020B0609020204030204" pitchFamily="49" charset="0"/>
              </a:rPr>
              <a:t>cout</a:t>
            </a:r>
            <a:r>
              <a:rPr lang="es-AR" sz="1200" dirty="0">
                <a:solidFill>
                  <a:srgbClr val="CCCCCC"/>
                </a:solidFill>
                <a:latin typeface="Consolas" panose="020B0609020204030204" pitchFamily="49" charset="0"/>
              </a:rPr>
              <a:t> </a:t>
            </a:r>
            <a:r>
              <a:rPr lang="es-AR" sz="1200" dirty="0">
                <a:solidFill>
                  <a:srgbClr val="D4D4D4"/>
                </a:solidFill>
                <a:latin typeface="Consolas" panose="020B0609020204030204" pitchFamily="49" charset="0"/>
              </a:rPr>
              <a:t>&lt;&lt;</a:t>
            </a:r>
            <a:r>
              <a:rPr lang="es-AR" sz="1200" dirty="0">
                <a:solidFill>
                  <a:srgbClr val="CCCCCC"/>
                </a:solidFill>
                <a:latin typeface="Consolas" panose="020B0609020204030204" pitchFamily="49" charset="0"/>
              </a:rPr>
              <a:t> </a:t>
            </a:r>
            <a:r>
              <a:rPr lang="es-AR" sz="1200" dirty="0">
                <a:solidFill>
                  <a:srgbClr val="CE9178"/>
                </a:solidFill>
                <a:latin typeface="Consolas" panose="020B0609020204030204" pitchFamily="49" charset="0"/>
              </a:rPr>
              <a:t>"Opción no válida"</a:t>
            </a:r>
            <a:r>
              <a:rPr lang="es-AR" sz="1200" dirty="0">
                <a:solidFill>
                  <a:srgbClr val="CCCCCC"/>
                </a:solidFill>
                <a:latin typeface="Consolas" panose="020B0609020204030204" pitchFamily="49" charset="0"/>
              </a:rPr>
              <a:t>;</a:t>
            </a:r>
          </a:p>
          <a:p>
            <a:pPr>
              <a:lnSpc>
                <a:spcPts val="1425"/>
              </a:lnSpc>
              <a:buNone/>
            </a:pPr>
            <a:r>
              <a:rPr lang="es-AR" sz="1200" dirty="0">
                <a:solidFill>
                  <a:srgbClr val="CCCCCC"/>
                </a:solidFill>
                <a:latin typeface="Consolas" panose="020B0609020204030204" pitchFamily="49" charset="0"/>
              </a:rPr>
              <a:t>}</a:t>
            </a:r>
          </a:p>
        </p:txBody>
      </p:sp>
      <p:pic>
        <p:nvPicPr>
          <p:cNvPr id="7" name="Imagen 6">
            <a:extLst>
              <a:ext uri="{FF2B5EF4-FFF2-40B4-BE49-F238E27FC236}">
                <a16:creationId xmlns:a16="http://schemas.microsoft.com/office/drawing/2014/main" id="{B26CF7B6-A63D-ED67-9922-1DDA6B2BBFD3}"/>
              </a:ext>
            </a:extLst>
          </p:cNvPr>
          <p:cNvPicPr>
            <a:picLocks noChangeAspect="1"/>
          </p:cNvPicPr>
          <p:nvPr/>
        </p:nvPicPr>
        <p:blipFill>
          <a:blip r:embed="rId2"/>
          <a:stretch>
            <a:fillRect/>
          </a:stretch>
        </p:blipFill>
        <p:spPr>
          <a:xfrm>
            <a:off x="379168" y="1617456"/>
            <a:ext cx="3960000" cy="1623818"/>
          </a:xfrm>
          <a:prstGeom prst="rect">
            <a:avLst/>
          </a:prstGeom>
        </p:spPr>
      </p:pic>
    </p:spTree>
    <p:extLst>
      <p:ext uri="{BB962C8B-B14F-4D97-AF65-F5344CB8AC3E}">
        <p14:creationId xmlns:p14="http://schemas.microsoft.com/office/powerpoint/2010/main" val="4247349130"/>
      </p:ext>
    </p:extLst>
  </p:cSld>
  <p:clrMapOvr>
    <a:masterClrMapping/>
  </p:clrMapOvr>
</p:sld>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579</TotalTime>
  <Words>389</Words>
  <Application>Microsoft Office PowerPoint</Application>
  <PresentationFormat>Presentación en pantalla (16:9)</PresentationFormat>
  <Paragraphs>53</Paragraphs>
  <Slides>5</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5</vt:i4>
      </vt:variant>
    </vt:vector>
  </HeadingPairs>
  <TitlesOfParts>
    <vt:vector size="15" baseType="lpstr">
      <vt:lpstr>Aptos</vt:lpstr>
      <vt:lpstr>Aptos Display</vt:lpstr>
      <vt:lpstr>Arial</vt:lpstr>
      <vt:lpstr>Consolas</vt:lpstr>
      <vt:lpstr>Google Sans Flex</vt:lpstr>
      <vt:lpstr>Google Sans Text</vt:lpstr>
      <vt:lpstr>Roboto</vt:lpstr>
      <vt:lpstr>Trebuchet MS</vt:lpstr>
      <vt:lpstr>Wingdings</vt:lpstr>
      <vt:lpstr>1_Office Theme</vt:lpstr>
      <vt:lpstr>Presentación de PowerPoint</vt:lpstr>
      <vt:lpstr>Introducción: ¿Cómo funciona?</vt:lpstr>
      <vt:lpstr>Decisión Múltiple</vt:lpstr>
      <vt:lpstr>Switch en C++</vt:lpstr>
      <vt:lpstr>Decisión Múltiple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LAB1 - Decisión</dc:title>
  <cp:lastModifiedBy>Ariel Sebastian Tapia</cp:lastModifiedBy>
  <cp:revision>42</cp:revision>
  <dcterms:created xsi:type="dcterms:W3CDTF">2024-09-11T15:21:18Z</dcterms:created>
  <dcterms:modified xsi:type="dcterms:W3CDTF">2026-04-05T00:27:52Z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