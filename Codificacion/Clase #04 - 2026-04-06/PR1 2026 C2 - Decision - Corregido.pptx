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9" r:id="rId3"/>
    <p:sldId id="311" r:id="rId4"/>
    <p:sldId id="294" r:id="rId5"/>
    <p:sldId id="295" r:id="rId6"/>
    <p:sldId id="307" r:id="rId7"/>
    <p:sldId id="308" r:id="rId8"/>
    <p:sldId id="309" r:id="rId9"/>
    <p:sldId id="310" r:id="rId10"/>
    <p:sldId id="314" r:id="rId11"/>
  </p:sldIdLst>
  <p:sldSz cx="9144000" cy="5143500" type="screen16x9"/>
  <p:notesSz cx="9144000" cy="51435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10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AE8-F96C-2073-F240-58D203F6C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EB685-326D-BF42-9FA8-DBE7935C1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F85AA-C6B6-0176-2899-9F67F75E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C410E-519D-A66F-8517-ECEA92DA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78098-6905-38A5-2A92-7B8EF03C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486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353A-37A7-58CF-A687-D1CF48A7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1C46-B13F-16C2-3B05-07A88B81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FA4F7-2220-1A06-27AD-7ED8577E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5E456-18D3-896F-C7F9-A488CF30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8697D-55E0-8496-47FD-7EA0985A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496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0602-D645-3AC9-9D19-3BAE5D28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7C6A8-E18E-4D78-6829-F17C18A0E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8FC0-3BC1-4B02-9BB8-9344FDF9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EE21-A18C-0927-6F02-94D3D8F1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4FC6-31D8-7275-D2E7-4F770DDE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919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4C46-1B00-5B94-3721-63A4F485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03A7-B709-5735-AF7C-85D945817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BB35-6E58-1F96-C5FE-D3A75FC3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16884-F52F-3F58-3B4D-49697AED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616FB-FD18-83FB-7A68-1E8097CE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DD934-FB1E-FB03-E67F-9809309B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32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958-2E17-5607-49A1-575BDD97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E781-2C4F-F7B9-E5CA-A3DC8837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7D54C-D6D8-B2AE-02B4-26A098B64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B8E0E-11D3-4D36-043D-B49B87F3F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35950-F75A-AA3A-4AF0-66F45AD69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1E08D-C26C-59A1-6FE9-AA8C8091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C3A60-0BA8-FF38-B149-4F1F0F05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6058-518A-296C-918E-A0C41BD0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058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1B68-1736-5B50-9CCC-02121372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465D7-CED5-23FB-E4F9-A65D3CFD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6A6FC-015A-BB34-E99A-AF820495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3C009-7EC5-4010-6B33-0B1850B5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250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7172F-3DC6-BD6D-96A2-D14D84D9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9EFAD-AACE-C45F-F625-CCB5E7C4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E250-4659-7CEF-132F-F775A006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811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2E55-49CC-5FEF-4CA5-E54436E2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DB36-73A9-7816-73DA-2C1CF58D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ED33F-CFA9-7CBC-6BAA-C41B034D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87B9-C74E-056C-22A8-21D6D776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F53D4-B0C6-F375-1496-CD603553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92E1-5AB8-9249-1452-186F660E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449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D1F9-6386-2F14-87DD-A02B226C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9F339-3325-FC35-E15E-14B1384F6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47418-1674-C966-8EC8-CE0909B7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00F7E-4333-91A7-4EAD-F9235C29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98764-76BA-8E32-8021-B71FA568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D4C3-603E-69BD-9424-87C09AE6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85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849B-77FF-B592-8B81-2ADB8309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5CF35-3FFF-F18B-D276-F529BBA2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BEB8B-6C04-26AB-F180-6CD7ECAA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BCD26-286F-8DC9-43D7-33C5C590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F0F16-7C99-D58C-332F-B187B34F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302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04AE7-2DDE-AA65-7363-FAD6D319D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C4506-C37F-F669-CD59-B47698E4A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5F10-AFE3-C119-8A0A-9B2B6C9D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FCA6-2B6E-5E0A-F23F-09641642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DA82-AC26-4449-C984-042CD608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5511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5651" y="1389246"/>
            <a:ext cx="3282950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05676" y="1538471"/>
            <a:ext cx="3896995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4276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91047" y="2234251"/>
            <a:ext cx="156190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65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060D5-61DB-3807-D335-042917A4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7D887-ECD3-E332-3382-46688822D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CF68-C4DE-14A6-FA5F-CEF08F20E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DC3C9-B55F-9104-7762-E1D3C01F0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9A71E-2F9F-227A-46BD-3910CE8F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743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057400" y="438150"/>
            <a:ext cx="4814485" cy="821378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1594" marR="5080" indent="-49530" algn="ctr">
              <a:lnSpc>
                <a:spcPts val="6230"/>
              </a:lnSpc>
              <a:spcBef>
                <a:spcPts val="204"/>
              </a:spcBef>
            </a:pPr>
            <a:r>
              <a:rPr lang="es-ES" sz="5200" spc="45" dirty="0">
                <a:latin typeface="Google Sans Text"/>
                <a:cs typeface="Trebuchet MS"/>
              </a:rPr>
              <a:t>Programación I</a:t>
            </a:r>
            <a:endParaRPr sz="5200" dirty="0">
              <a:latin typeface="Google Sans Text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789484"/>
            <a:ext cx="7848599" cy="1854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2800" b="1" spc="-20" dirty="0">
                <a:latin typeface="Google Sans Text"/>
                <a:cs typeface="Roboto"/>
              </a:rPr>
              <a:t>Estructuras de Decisión (Condicionales)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dirty="0">
              <a:latin typeface="Google Sans Tex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latin typeface="Google Sans Text"/>
              </a:rPr>
              <a:t>Aprenderemos cómo lograr que nuestros programas dejen de ser simples listas de pasos lineales y empiecen a 'pensar' y tomar diferentes caminos según los datos que reciban. Veremos la lógica detrás de estas decisiones y cómo implementarlas en C++.</a:t>
            </a:r>
            <a:endParaRPr lang="es-ES" sz="2800" dirty="0">
              <a:latin typeface="Google Sans Text"/>
              <a:cs typeface="Roboto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8A7AD4D-0BA3-262D-00C5-5FC81764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0BCE45-CD4B-A752-82A9-7725EDDA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3307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dirty="0">
                <a:latin typeface="Google Sans Text"/>
              </a:rPr>
              <a:t>Introducción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826BEB2-3AF1-5FC4-F4ED-A1002505FF86}"/>
              </a:ext>
            </a:extLst>
          </p:cNvPr>
          <p:cNvSpPr txBox="1"/>
          <p:nvPr/>
        </p:nvSpPr>
        <p:spPr>
          <a:xfrm>
            <a:off x="914399" y="1200150"/>
            <a:ext cx="7315201" cy="339195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dirty="0">
                <a:latin typeface="Google Sans Text"/>
              </a:rPr>
              <a:t>Las estructuras de decisión o condicionales son fundamentales en programación ya que permiten que un programa tome decisiones en tiempo de ejecución. Sin ellas, todos los programas serían secuenciales y no podrían adaptarse a diferentes entradas o situaciones.</a:t>
            </a:r>
          </a:p>
          <a:p>
            <a:endParaRPr lang="es-ES" spc="50" dirty="0">
              <a:solidFill>
                <a:srgbClr val="434343"/>
              </a:solidFill>
              <a:latin typeface="Google Sans Text"/>
              <a:cs typeface="Trebuchet MS"/>
            </a:endParaRPr>
          </a:p>
          <a:p>
            <a:r>
              <a:rPr lang="es-ES" spc="50" dirty="0">
                <a:solidFill>
                  <a:srgbClr val="434343"/>
                </a:solidFill>
                <a:latin typeface="Google Sans Text"/>
                <a:cs typeface="Trebuchet MS"/>
              </a:rPr>
              <a:t>Una </a:t>
            </a:r>
            <a:r>
              <a:rPr lang="es-ES" spc="-85" dirty="0">
                <a:solidFill>
                  <a:srgbClr val="434343"/>
                </a:solidFill>
                <a:latin typeface="Google Sans Text"/>
                <a:cs typeface="Trebuchet MS"/>
              </a:rPr>
              <a:t>c</a:t>
            </a:r>
            <a:r>
              <a:rPr lang="es-ES" spc="50" dirty="0">
                <a:solidFill>
                  <a:srgbClr val="434343"/>
                </a:solidFill>
                <a:latin typeface="Google Sans Text"/>
                <a:cs typeface="Trebuchet MS"/>
              </a:rPr>
              <a:t>ondición </a:t>
            </a:r>
            <a:r>
              <a:rPr lang="es-ES" spc="60" dirty="0">
                <a:solidFill>
                  <a:srgbClr val="434343"/>
                </a:solidFill>
                <a:latin typeface="Google Sans Text"/>
                <a:cs typeface="Trebuchet MS"/>
              </a:rPr>
              <a:t>se </a:t>
            </a:r>
            <a:r>
              <a:rPr lang="es-ES" spc="15" dirty="0">
                <a:solidFill>
                  <a:srgbClr val="434343"/>
                </a:solidFill>
                <a:latin typeface="Google Sans Text"/>
                <a:cs typeface="Trebuchet MS"/>
              </a:rPr>
              <a:t>es</a:t>
            </a:r>
            <a:r>
              <a:rPr lang="es-ES" dirty="0">
                <a:solidFill>
                  <a:srgbClr val="434343"/>
                </a:solidFill>
                <a:latin typeface="Google Sans Text"/>
                <a:cs typeface="Trebuchet MS"/>
              </a:rPr>
              <a:t>t</a:t>
            </a:r>
            <a:r>
              <a:rPr lang="es-ES" spc="40" dirty="0">
                <a:solidFill>
                  <a:srgbClr val="434343"/>
                </a:solidFill>
                <a:latin typeface="Google Sans Text"/>
                <a:cs typeface="Trebuchet MS"/>
              </a:rPr>
              <a:t>ab</a:t>
            </a:r>
            <a:r>
              <a:rPr lang="es-ES" spc="5" dirty="0">
                <a:solidFill>
                  <a:srgbClr val="434343"/>
                </a:solidFill>
                <a:latin typeface="Google Sans Text"/>
                <a:cs typeface="Trebuchet MS"/>
              </a:rPr>
              <a:t>l</a:t>
            </a:r>
            <a:r>
              <a:rPr lang="es-ES" spc="-20" dirty="0">
                <a:solidFill>
                  <a:srgbClr val="434343"/>
                </a:solidFill>
                <a:latin typeface="Google Sans Text"/>
                <a:cs typeface="Trebuchet MS"/>
              </a:rPr>
              <a:t>e</a:t>
            </a:r>
            <a:r>
              <a:rPr lang="es-ES" spc="-60" dirty="0">
                <a:solidFill>
                  <a:srgbClr val="434343"/>
                </a:solidFill>
                <a:latin typeface="Google Sans Text"/>
                <a:cs typeface="Trebuchet MS"/>
              </a:rPr>
              <a:t>c</a:t>
            </a:r>
            <a:r>
              <a:rPr lang="es-ES" spc="-5" dirty="0">
                <a:solidFill>
                  <a:srgbClr val="434343"/>
                </a:solidFill>
                <a:latin typeface="Google Sans Text"/>
                <a:cs typeface="Trebuchet MS"/>
              </a:rPr>
              <a:t>e </a:t>
            </a:r>
            <a:r>
              <a:rPr lang="es-ES" spc="25" dirty="0">
                <a:solidFill>
                  <a:srgbClr val="434343"/>
                </a:solidFill>
                <a:latin typeface="Google Sans Text"/>
                <a:cs typeface="Trebuchet MS"/>
              </a:rPr>
              <a:t>median</a:t>
            </a:r>
            <a:r>
              <a:rPr lang="es-ES" spc="-15" dirty="0">
                <a:solidFill>
                  <a:srgbClr val="434343"/>
                </a:solidFill>
                <a:latin typeface="Google Sans Text"/>
                <a:cs typeface="Trebuchet MS"/>
              </a:rPr>
              <a:t>t</a:t>
            </a:r>
            <a:r>
              <a:rPr lang="es-ES" spc="-5" dirty="0">
                <a:solidFill>
                  <a:srgbClr val="434343"/>
                </a:solidFill>
                <a:latin typeface="Google Sans Text"/>
                <a:cs typeface="Trebuchet MS"/>
              </a:rPr>
              <a:t>e </a:t>
            </a:r>
            <a:r>
              <a:rPr lang="es-ES" spc="65" dirty="0">
                <a:solidFill>
                  <a:srgbClr val="434343"/>
                </a:solidFill>
                <a:latin typeface="Google Sans Text"/>
                <a:cs typeface="Trebuchet MS"/>
              </a:rPr>
              <a:t>una </a:t>
            </a:r>
            <a:r>
              <a:rPr lang="es-ES" spc="40" dirty="0">
                <a:solidFill>
                  <a:srgbClr val="434343"/>
                </a:solidFill>
                <a:latin typeface="Google Sans Text"/>
                <a:cs typeface="Trebuchet MS"/>
              </a:rPr>
              <a:t>p</a:t>
            </a:r>
            <a:r>
              <a:rPr lang="es-ES" spc="-40" dirty="0">
                <a:solidFill>
                  <a:srgbClr val="434343"/>
                </a:solidFill>
                <a:latin typeface="Google Sans Text"/>
                <a:cs typeface="Trebuchet MS"/>
              </a:rPr>
              <a:t>r</a:t>
            </a:r>
            <a:r>
              <a:rPr lang="es-ES" spc="60" dirty="0">
                <a:solidFill>
                  <a:srgbClr val="434343"/>
                </a:solidFill>
                <a:latin typeface="Google Sans Text"/>
                <a:cs typeface="Trebuchet MS"/>
              </a:rPr>
              <a:t>oposición </a:t>
            </a:r>
            <a:r>
              <a:rPr lang="es-ES" spc="-20" dirty="0">
                <a:solidFill>
                  <a:srgbClr val="434343"/>
                </a:solidFill>
                <a:latin typeface="Google Sans Text"/>
                <a:cs typeface="Trebuchet MS"/>
              </a:rPr>
              <a:t>l</a:t>
            </a:r>
            <a:r>
              <a:rPr lang="es-ES" spc="20" dirty="0">
                <a:solidFill>
                  <a:srgbClr val="434343"/>
                </a:solidFill>
                <a:latin typeface="Google Sans Text"/>
                <a:cs typeface="Trebuchet MS"/>
              </a:rPr>
              <a:t>ógi</a:t>
            </a:r>
            <a:r>
              <a:rPr lang="es-ES" dirty="0">
                <a:solidFill>
                  <a:srgbClr val="434343"/>
                </a:solidFill>
                <a:latin typeface="Google Sans Text"/>
                <a:cs typeface="Trebuchet MS"/>
              </a:rPr>
              <a:t>c</a:t>
            </a:r>
            <a:r>
              <a:rPr lang="es-ES" spc="-114" dirty="0">
                <a:solidFill>
                  <a:srgbClr val="434343"/>
                </a:solidFill>
                <a:latin typeface="Google Sans Text"/>
                <a:cs typeface="Trebuchet MS"/>
              </a:rPr>
              <a:t>a. </a:t>
            </a:r>
            <a:r>
              <a:rPr lang="es-ES" spc="-40" dirty="0">
                <a:solidFill>
                  <a:srgbClr val="434343"/>
                </a:solidFill>
                <a:latin typeface="Google Sans Text"/>
                <a:cs typeface="Trebuchet MS"/>
              </a:rPr>
              <a:t>L</a:t>
            </a:r>
            <a:r>
              <a:rPr lang="es-ES" spc="25" dirty="0">
                <a:solidFill>
                  <a:srgbClr val="434343"/>
                </a:solidFill>
                <a:latin typeface="Google Sans Text"/>
                <a:cs typeface="Trebuchet MS"/>
              </a:rPr>
              <a:t>a </a:t>
            </a:r>
            <a:r>
              <a:rPr lang="es-ES" spc="55" dirty="0">
                <a:solidFill>
                  <a:srgbClr val="434343"/>
                </a:solidFill>
                <a:latin typeface="Google Sans Text"/>
                <a:cs typeface="Trebuchet MS"/>
              </a:rPr>
              <a:t>misma </a:t>
            </a:r>
            <a:r>
              <a:rPr lang="es-ES" spc="45" dirty="0">
                <a:solidFill>
                  <a:srgbClr val="434343"/>
                </a:solidFill>
                <a:latin typeface="Google Sans Text"/>
                <a:cs typeface="Trebuchet MS"/>
              </a:rPr>
              <a:t>puede</a:t>
            </a:r>
            <a:r>
              <a:rPr lang="es-ES" spc="-80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spc="-10" dirty="0">
                <a:solidFill>
                  <a:srgbClr val="434343"/>
                </a:solidFill>
                <a:latin typeface="Google Sans Text"/>
                <a:cs typeface="Trebuchet MS"/>
              </a:rPr>
              <a:t>tener</a:t>
            </a:r>
            <a:r>
              <a:rPr lang="es-ES" spc="-75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spc="85" dirty="0">
                <a:solidFill>
                  <a:srgbClr val="434343"/>
                </a:solidFill>
                <a:latin typeface="Google Sans Text"/>
                <a:cs typeface="Trebuchet MS"/>
              </a:rPr>
              <a:t>uno</a:t>
            </a:r>
            <a:r>
              <a:rPr lang="es-ES" spc="-80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spc="40" dirty="0">
                <a:solidFill>
                  <a:srgbClr val="434343"/>
                </a:solidFill>
                <a:latin typeface="Google Sans Text"/>
                <a:cs typeface="Trebuchet MS"/>
              </a:rPr>
              <a:t>de</a:t>
            </a:r>
            <a:r>
              <a:rPr lang="es-ES" spc="-75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spc="105" dirty="0">
                <a:solidFill>
                  <a:srgbClr val="434343"/>
                </a:solidFill>
                <a:latin typeface="Google Sans Text"/>
                <a:cs typeface="Trebuchet MS"/>
              </a:rPr>
              <a:t>dos</a:t>
            </a:r>
            <a:r>
              <a:rPr lang="es-ES" spc="-80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spc="60" dirty="0">
                <a:solidFill>
                  <a:srgbClr val="434343"/>
                </a:solidFill>
                <a:latin typeface="Google Sans Text"/>
                <a:cs typeface="Trebuchet MS"/>
              </a:rPr>
              <a:t>posibles</a:t>
            </a:r>
            <a:r>
              <a:rPr lang="es-ES" spc="-75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spc="10" dirty="0">
                <a:solidFill>
                  <a:srgbClr val="434343"/>
                </a:solidFill>
                <a:latin typeface="Google Sans Text"/>
                <a:cs typeface="Trebuchet MS"/>
              </a:rPr>
              <a:t>resultados: </a:t>
            </a:r>
            <a:r>
              <a:rPr lang="es-ES" spc="-80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b="1" spc="-30" dirty="0">
                <a:solidFill>
                  <a:srgbClr val="434343"/>
                </a:solidFill>
                <a:latin typeface="Google Sans Text"/>
                <a:cs typeface="Trebuchet MS"/>
              </a:rPr>
              <a:t>verdadero</a:t>
            </a:r>
            <a:r>
              <a:rPr lang="es-ES" b="1" spc="-75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spc="95" dirty="0">
                <a:solidFill>
                  <a:srgbClr val="434343"/>
                </a:solidFill>
                <a:latin typeface="Google Sans Text"/>
                <a:cs typeface="Trebuchet MS"/>
              </a:rPr>
              <a:t>o</a:t>
            </a:r>
            <a:r>
              <a:rPr lang="es-ES" spc="-80" dirty="0">
                <a:solidFill>
                  <a:srgbClr val="434343"/>
                </a:solidFill>
                <a:latin typeface="Google Sans Text"/>
                <a:cs typeface="Trebuchet MS"/>
              </a:rPr>
              <a:t> </a:t>
            </a:r>
            <a:r>
              <a:rPr lang="es-ES" b="1" spc="-35" dirty="0">
                <a:solidFill>
                  <a:srgbClr val="434343"/>
                </a:solidFill>
                <a:latin typeface="Google Sans Text"/>
                <a:cs typeface="Trebuchet MS"/>
              </a:rPr>
              <a:t>falso</a:t>
            </a:r>
            <a:r>
              <a:rPr lang="es-ES" spc="-35" dirty="0">
                <a:solidFill>
                  <a:srgbClr val="434343"/>
                </a:solidFill>
                <a:latin typeface="Google Sans Text"/>
                <a:cs typeface="Trebuchet MS"/>
              </a:rPr>
              <a:t>.</a:t>
            </a:r>
          </a:p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endParaRPr lang="es-ES" spc="-35" dirty="0">
              <a:solidFill>
                <a:srgbClr val="434343"/>
              </a:solidFill>
              <a:latin typeface="Google Sans Text"/>
              <a:cs typeface="Roboto"/>
            </a:endParaRPr>
          </a:p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r>
              <a:rPr lang="es-ES" spc="-15" dirty="0">
                <a:latin typeface="Google Sans Text"/>
                <a:cs typeface="Roboto"/>
              </a:rPr>
              <a:t>Las palabras reservadas </a:t>
            </a:r>
            <a:r>
              <a:rPr lang="es-ES" spc="-20" dirty="0">
                <a:latin typeface="Google Sans Text"/>
                <a:cs typeface="Roboto"/>
              </a:rPr>
              <a:t>para </a:t>
            </a:r>
            <a:r>
              <a:rPr lang="es-ES" spc="-340" dirty="0">
                <a:latin typeface="Google Sans Text"/>
                <a:cs typeface="Roboto"/>
              </a:rPr>
              <a:t> </a:t>
            </a:r>
            <a:r>
              <a:rPr lang="es-ES" spc="-15" dirty="0">
                <a:latin typeface="Google Sans Text"/>
                <a:cs typeface="Roboto"/>
              </a:rPr>
              <a:t>representar verdadero </a:t>
            </a:r>
            <a:r>
              <a:rPr lang="es-ES" spc="-45" dirty="0">
                <a:latin typeface="Google Sans Text"/>
                <a:cs typeface="Roboto"/>
              </a:rPr>
              <a:t>y </a:t>
            </a:r>
            <a:r>
              <a:rPr lang="es-ES" spc="-10" dirty="0">
                <a:latin typeface="Google Sans Text"/>
                <a:cs typeface="Roboto"/>
              </a:rPr>
              <a:t>falso </a:t>
            </a:r>
            <a:r>
              <a:rPr lang="es-ES" spc="-335" dirty="0">
                <a:latin typeface="Google Sans Text"/>
                <a:cs typeface="Roboto"/>
              </a:rPr>
              <a:t> </a:t>
            </a:r>
            <a:r>
              <a:rPr lang="es-ES" spc="-10" dirty="0">
                <a:latin typeface="Google Sans Text"/>
                <a:cs typeface="Roboto"/>
              </a:rPr>
              <a:t>en </a:t>
            </a:r>
            <a:r>
              <a:rPr lang="es-ES" spc="20" dirty="0">
                <a:latin typeface="Google Sans Text"/>
                <a:cs typeface="Roboto"/>
              </a:rPr>
              <a:t>C++</a:t>
            </a:r>
            <a:r>
              <a:rPr lang="es-ES" spc="-5" dirty="0">
                <a:latin typeface="Google Sans Text"/>
                <a:cs typeface="Roboto"/>
              </a:rPr>
              <a:t> </a:t>
            </a:r>
            <a:r>
              <a:rPr lang="es-ES" spc="-20" dirty="0">
                <a:latin typeface="Google Sans Text"/>
                <a:cs typeface="Roboto"/>
              </a:rPr>
              <a:t>son:</a:t>
            </a:r>
          </a:p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endParaRPr lang="es-ES" dirty="0">
              <a:latin typeface="Google Sans Text"/>
              <a:cs typeface="Roboto"/>
            </a:endParaRPr>
          </a:p>
          <a:p>
            <a:pPr marL="298450" marR="955040" indent="-285750" algn="just">
              <a:lnSpc>
                <a:spcPts val="1650"/>
              </a:lnSpc>
              <a:buFont typeface="Wingdings" panose="05000000000000000000" pitchFamily="2" charset="2"/>
              <a:buChar char="ü"/>
            </a:pPr>
            <a:r>
              <a:rPr lang="es-ES" spc="-15" dirty="0">
                <a:latin typeface="Google Sans Text"/>
                <a:cs typeface="Roboto"/>
              </a:rPr>
              <a:t>verdadero</a:t>
            </a:r>
            <a:r>
              <a:rPr lang="es-ES" spc="-35" dirty="0">
                <a:latin typeface="Google Sans Text"/>
                <a:cs typeface="Roboto"/>
              </a:rPr>
              <a:t> </a:t>
            </a:r>
            <a:r>
              <a:rPr lang="es-ES" dirty="0">
                <a:latin typeface="Google Sans Text"/>
                <a:cs typeface="Microsoft Sans Serif"/>
              </a:rPr>
              <a:t>→</a:t>
            </a:r>
            <a:r>
              <a:rPr lang="es-ES" spc="-65" dirty="0">
                <a:latin typeface="Google Sans Text"/>
                <a:cs typeface="Microsoft Sans Serif"/>
              </a:rPr>
              <a:t> </a:t>
            </a:r>
            <a:r>
              <a:rPr lang="es-ES" b="1" spc="-20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Roboto"/>
              </a:rPr>
              <a:t>true</a:t>
            </a:r>
          </a:p>
          <a:p>
            <a:pPr marL="298450" marR="955040" indent="-285750" algn="just">
              <a:lnSpc>
                <a:spcPts val="1650"/>
              </a:lnSpc>
              <a:buFont typeface="Wingdings" panose="05000000000000000000" pitchFamily="2" charset="2"/>
              <a:buChar char="ü"/>
            </a:pPr>
            <a:r>
              <a:rPr lang="es-ES" spc="-5" dirty="0">
                <a:latin typeface="Google Sans Text"/>
                <a:cs typeface="Roboto"/>
              </a:rPr>
              <a:t>falso</a:t>
            </a:r>
            <a:r>
              <a:rPr lang="es-ES" spc="-20" dirty="0">
                <a:latin typeface="Google Sans Text"/>
                <a:cs typeface="Roboto"/>
              </a:rPr>
              <a:t> </a:t>
            </a:r>
            <a:r>
              <a:rPr lang="es-ES" dirty="0">
                <a:latin typeface="Google Sans Text"/>
                <a:cs typeface="Microsoft Sans Serif"/>
              </a:rPr>
              <a:t>→</a:t>
            </a:r>
            <a:r>
              <a:rPr lang="es-ES" spc="-40" dirty="0">
                <a:latin typeface="Google Sans Text"/>
                <a:cs typeface="Microsoft Sans Serif"/>
              </a:rPr>
              <a:t> </a:t>
            </a:r>
            <a:r>
              <a:rPr lang="es-ES" b="1" spc="-5" dirty="0">
                <a:solidFill>
                  <a:schemeClr val="accent6">
                    <a:lumMod val="75000"/>
                  </a:schemeClr>
                </a:solidFill>
                <a:latin typeface="Google Sans Text"/>
                <a:cs typeface="Roboto"/>
              </a:rPr>
              <a:t>false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Google Sans Text"/>
              <a:cs typeface="Roboto"/>
            </a:endParaRPr>
          </a:p>
          <a:p>
            <a:endParaRPr lang="es-ES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87344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BFBF-3AE1-AE92-8775-FE032958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615D83-C907-A49D-D23C-38D574416F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2979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latin typeface="Google Sans Text"/>
              </a:rPr>
              <a:t>Palabras Reservadas en C++ para Decisiones</a:t>
            </a:r>
            <a:endParaRPr spc="-65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BE0AB5A-2DA9-2CE6-A710-E42BA5797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304746"/>
              </p:ext>
            </p:extLst>
          </p:nvPr>
        </p:nvGraphicFramePr>
        <p:xfrm>
          <a:off x="838200" y="2072345"/>
          <a:ext cx="7467600" cy="251628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602266497"/>
                    </a:ext>
                  </a:extLst>
                </a:gridCol>
                <a:gridCol w="3835401">
                  <a:extLst>
                    <a:ext uri="{9D8B030D-6E8A-4147-A177-3AD203B41FA5}">
                      <a16:colId xmlns:a16="http://schemas.microsoft.com/office/drawing/2014/main" val="3971557696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578703172"/>
                    </a:ext>
                  </a:extLst>
                </a:gridCol>
              </a:tblGrid>
              <a:tr h="195903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Palabra</a:t>
                      </a:r>
                    </a:p>
                  </a:txBody>
                  <a:tcPr marL="67071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Uso</a:t>
                      </a:r>
                    </a:p>
                  </a:txBody>
                  <a:tcPr marL="111785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Ejemplo</a:t>
                      </a:r>
                    </a:p>
                  </a:txBody>
                  <a:tcPr marL="111785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220837"/>
                  </a:ext>
                </a:extLst>
              </a:tr>
              <a:tr h="195903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if</a:t>
                      </a:r>
                      <a:endParaRPr lang="es-AR" sz="14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ES" sz="1400" b="0">
                          <a:effectLst/>
                          <a:latin typeface="Google Sans Text"/>
                        </a:rPr>
                        <a:t>Inicia una estructura de decisión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>
                          <a:effectLst/>
                          <a:latin typeface="Google Sans Text"/>
                        </a:rPr>
                        <a:t>if (x &gt; 0) { ... }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1976221515"/>
                  </a:ext>
                </a:extLst>
              </a:tr>
              <a:tr h="195903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else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AR" sz="1400" b="0">
                          <a:effectLst/>
                          <a:latin typeface="Google Sans Text"/>
                        </a:rPr>
                        <a:t>Define el camino alternativo (opcional)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>
                          <a:effectLst/>
                          <a:latin typeface="Google Sans Text"/>
                        </a:rPr>
                        <a:t>else { ... }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3327146466"/>
                  </a:ext>
                </a:extLst>
              </a:tr>
              <a:tr h="195903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switch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ES" sz="1400" b="0">
                          <a:effectLst/>
                          <a:latin typeface="Google Sans Text"/>
                        </a:rPr>
                        <a:t>Inicia una estructura de decisión múltiple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>
                          <a:effectLst/>
                          <a:latin typeface="Google Sans Text"/>
                        </a:rPr>
                        <a:t>switch (opcion) { ... }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960986903"/>
                  </a:ext>
                </a:extLst>
              </a:tr>
              <a:tr h="185751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case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>
                          <a:effectLst/>
                          <a:latin typeface="Google Sans Text"/>
                        </a:rPr>
                        <a:t>Define un caso dentro de un switch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>
                          <a:effectLst/>
                          <a:latin typeface="Google Sans Text"/>
                        </a:rPr>
                        <a:t>case 'A':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1536504655"/>
                  </a:ext>
                </a:extLst>
              </a:tr>
              <a:tr h="185751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default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ES" sz="1400" b="0">
                          <a:effectLst/>
                          <a:latin typeface="Google Sans Text"/>
                        </a:rPr>
                        <a:t>Define el caso por defecto en switch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>
                          <a:effectLst/>
                          <a:latin typeface="Google Sans Text"/>
                        </a:rPr>
                        <a:t>default: ...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3630034408"/>
                  </a:ext>
                </a:extLst>
              </a:tr>
              <a:tr h="185751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break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 dirty="0">
                          <a:effectLst/>
                          <a:latin typeface="Google Sans Text"/>
                        </a:rPr>
                        <a:t>Sale de una estructura switch (o bucle)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0" dirty="0">
                          <a:effectLst/>
                          <a:latin typeface="Google Sans Text"/>
                        </a:rPr>
                        <a:t>break;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3900298443"/>
                  </a:ext>
                </a:extLst>
              </a:tr>
            </a:tbl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FDC4BCB5-F24B-FC4E-809E-F763D064E4BA}"/>
              </a:ext>
            </a:extLst>
          </p:cNvPr>
          <p:cNvSpPr txBox="1"/>
          <p:nvPr/>
        </p:nvSpPr>
        <p:spPr>
          <a:xfrm>
            <a:off x="838200" y="819150"/>
            <a:ext cx="7315201" cy="99386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1600" dirty="0"/>
              <a:t>En C++ tenemos un 'vocabulario' específico para manejar decisiones. Las dos grandes estructuras son el 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</a:rPr>
              <a:t>if</a:t>
            </a:r>
            <a:r>
              <a:rPr lang="es-ES" sz="1600" dirty="0"/>
              <a:t>, que se usa para decisiones basadas en condiciones lógicas, y el 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switch</a:t>
            </a:r>
            <a:r>
              <a:rPr lang="es-ES" sz="1600" dirty="0"/>
              <a:t>, que es ideal cuando tenemos una sola variable que puede tomar muchos valores fijos (como un menú).</a:t>
            </a:r>
            <a:endParaRPr lang="es-ES" sz="16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6681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E32B184-DCCD-6870-F9A6-8D5480D1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3F0EB5-C349-E9EA-2E43-1CD98957B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Modelo genérico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2ED48D0-DFE4-A335-778C-A14A8D97F712}"/>
              </a:ext>
            </a:extLst>
          </p:cNvPr>
          <p:cNvSpPr txBox="1"/>
          <p:nvPr/>
        </p:nvSpPr>
        <p:spPr>
          <a:xfrm>
            <a:off x="350225" y="785031"/>
            <a:ext cx="8357234" cy="99386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1600" dirty="0">
                <a:latin typeface="Google Sans Text"/>
              </a:rPr>
              <a:t>Aquí tenemos el modelo genérico de una decisión. Todo empieza con una pregunta (la condición) encerrada entre paréntesis. Si la respuesta es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true</a:t>
            </a:r>
            <a:r>
              <a:rPr lang="es-ES" sz="1600" dirty="0">
                <a:latin typeface="Google Sans Text"/>
              </a:rPr>
              <a:t>, entramos sí o sí al primer bloque de llaves. El bloque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else</a:t>
            </a:r>
            <a:r>
              <a:rPr lang="es-ES" sz="1600" dirty="0">
                <a:latin typeface="Google Sans Text"/>
              </a:rPr>
              <a:t> es el plan B: solo se ejecuta si la respuesta a nuestra pregunta inicial fue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false</a:t>
            </a:r>
            <a:r>
              <a:rPr lang="es-ES" sz="1600" dirty="0">
                <a:latin typeface="Google Sans Text"/>
              </a:rPr>
              <a:t>. Recuerden: el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if</a:t>
            </a:r>
            <a:r>
              <a:rPr lang="es-ES" sz="1600" dirty="0">
                <a:latin typeface="Google Sans Text"/>
              </a:rPr>
              <a:t> puede vivir solo, pero el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else</a:t>
            </a:r>
            <a:r>
              <a:rPr lang="es-ES" sz="1600" dirty="0">
                <a:latin typeface="Google Sans Text"/>
              </a:rPr>
              <a:t> siempre necesita un </a:t>
            </a:r>
            <a:r>
              <a:rPr lang="es-ES" sz="1600" b="1" dirty="0" err="1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if</a:t>
            </a:r>
            <a:r>
              <a:rPr lang="es-ES" sz="1600" dirty="0">
                <a:latin typeface="Google Sans Text"/>
              </a:rPr>
              <a:t> previo."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CD452B7-759F-D658-9945-29566D6E5CE5}"/>
              </a:ext>
            </a:extLst>
          </p:cNvPr>
          <p:cNvSpPr txBox="1"/>
          <p:nvPr/>
        </p:nvSpPr>
        <p:spPr>
          <a:xfrm>
            <a:off x="2132207" y="4267418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1180622-E3DE-DAB7-F2C5-D86397830A19}"/>
              </a:ext>
            </a:extLst>
          </p:cNvPr>
          <p:cNvSpPr txBox="1"/>
          <p:nvPr/>
        </p:nvSpPr>
        <p:spPr>
          <a:xfrm>
            <a:off x="6113465" y="4022896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E7E1E13-17B8-3C75-14B8-F1AF1B350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18667"/>
            <a:ext cx="3520194" cy="2086330"/>
          </a:xfrm>
          <a:prstGeom prst="rect">
            <a:avLst/>
          </a:prstGeom>
        </p:spPr>
      </p:pic>
      <p:sp>
        <p:nvSpPr>
          <p:cNvPr id="3" name="object 7">
            <a:extLst>
              <a:ext uri="{FF2B5EF4-FFF2-40B4-BE49-F238E27FC236}">
                <a16:creationId xmlns:a16="http://schemas.microsoft.com/office/drawing/2014/main" id="{4EFE09C4-76FB-D6DF-B99F-7A8285246C60}"/>
              </a:ext>
            </a:extLst>
          </p:cNvPr>
          <p:cNvSpPr txBox="1"/>
          <p:nvPr/>
        </p:nvSpPr>
        <p:spPr>
          <a:xfrm>
            <a:off x="4777124" y="2118667"/>
            <a:ext cx="3520194" cy="1846018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ES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(condición) {</a:t>
            </a:r>
          </a:p>
          <a:p>
            <a:pPr lvl="1">
              <a:lnSpc>
                <a:spcPts val="1425"/>
              </a:lnSpc>
            </a:pPr>
            <a:r>
              <a:rPr lang="es-E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POR VERDADERO</a:t>
            </a:r>
          </a:p>
          <a:p>
            <a:pPr lvl="1">
              <a:lnSpc>
                <a:spcPts val="1425"/>
              </a:lnSpc>
            </a:pPr>
            <a:r>
              <a:rPr lang="es-E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OBLIGATORIO: Instrucciones si la  condición es verdadera */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ES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E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lvl="1">
              <a:lnSpc>
                <a:spcPts val="1425"/>
              </a:lnSpc>
            </a:pPr>
            <a:r>
              <a:rPr lang="es-E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s-ES" sz="1200" dirty="0">
                <a:solidFill>
                  <a:srgbClr val="6A9955"/>
                </a:solidFill>
                <a:latin typeface="Consolas" panose="020B0609020204030204" pitchFamily="49" charset="0"/>
              </a:rPr>
              <a:t>POR FALSO</a:t>
            </a:r>
          </a:p>
          <a:p>
            <a:pPr lvl="1">
              <a:lnSpc>
                <a:spcPts val="1425"/>
              </a:lnSpc>
            </a:pPr>
            <a:r>
              <a:rPr lang="es-E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OPTATIVO: Instrucciones si la  condición es falsa */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</p:spTree>
    <p:extLst>
      <p:ext uri="{BB962C8B-B14F-4D97-AF65-F5344CB8AC3E}">
        <p14:creationId xmlns:p14="http://schemas.microsoft.com/office/powerpoint/2010/main" val="499781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5DA9512-7901-298F-47C9-4B14578E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64FCEC-D6ED-4845-A35C-44429A6FF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AR" sz="3200" kern="1200" noProof="0" dirty="0">
                <a:solidFill>
                  <a:schemeClr val="tx1"/>
                </a:solidFill>
                <a:latin typeface="Google Sans Text"/>
              </a:rPr>
              <a:t>Operadores Relacionales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B7A84DA-7609-2453-2490-97F9BC3BF60A}"/>
              </a:ext>
            </a:extLst>
          </p:cNvPr>
          <p:cNvSpPr txBox="1"/>
          <p:nvPr/>
        </p:nvSpPr>
        <p:spPr>
          <a:xfrm>
            <a:off x="952499" y="655636"/>
            <a:ext cx="7238999" cy="1611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dirty="0">
                <a:latin typeface="Google Sans Text"/>
              </a:rPr>
              <a:t>Para que el programa tome una decisión, primero debe realizar una comparación. Los </a:t>
            </a:r>
            <a:r>
              <a:rPr lang="es-ES" sz="1600" b="1" dirty="0">
                <a:latin typeface="Google Sans Text"/>
              </a:rPr>
              <a:t>operadores relacionales </a:t>
            </a:r>
            <a:r>
              <a:rPr lang="es-ES" sz="1600" dirty="0">
                <a:latin typeface="Google Sans Text"/>
              </a:rPr>
              <a:t>son las herramientas que usamos para esto. Un punto crucial: en C++ usamos el doble igual (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==</a:t>
            </a:r>
            <a:r>
              <a:rPr lang="es-ES" sz="1600" dirty="0">
                <a:latin typeface="Google Sans Text"/>
              </a:rPr>
              <a:t>) para preguntar si algo es igual a otra cosa, ya que el igual simple (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=</a:t>
            </a:r>
            <a:r>
              <a:rPr lang="es-ES" sz="1600" dirty="0">
                <a:latin typeface="Google Sans Text"/>
              </a:rPr>
              <a:t>) lo reservamos para guardar valores en variables. Fíjense en los ejemplos con N = 10: si pregunto si 10 es mayor o igual a 10, la respuesta es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true</a:t>
            </a:r>
            <a:r>
              <a:rPr lang="es-ES" sz="1600" dirty="0">
                <a:latin typeface="Google Sans Text"/>
              </a:rPr>
              <a:t>, porque cumple una de las dos </a:t>
            </a:r>
            <a:r>
              <a:rPr lang="es-ES" sz="1600">
                <a:latin typeface="Google Sans Text"/>
              </a:rPr>
              <a:t>condiciones.</a:t>
            </a:r>
            <a:endParaRPr lang="en-US" sz="1600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8D1986E-7975-56F4-1A13-258483C8F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194207"/>
              </p:ext>
            </p:extLst>
          </p:nvPr>
        </p:nvGraphicFramePr>
        <p:xfrm>
          <a:off x="952500" y="2266950"/>
          <a:ext cx="7238999" cy="2558864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220620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2082235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  <a:gridCol w="2264797">
                  <a:extLst>
                    <a:ext uri="{9D8B030D-6E8A-4147-A177-3AD203B41FA5}">
                      <a16:colId xmlns:a16="http://schemas.microsoft.com/office/drawing/2014/main" val="2161617035"/>
                    </a:ext>
                  </a:extLst>
                </a:gridCol>
                <a:gridCol w="1671347">
                  <a:extLst>
                    <a:ext uri="{9D8B030D-6E8A-4147-A177-3AD203B41FA5}">
                      <a16:colId xmlns:a16="http://schemas.microsoft.com/office/drawing/2014/main" val="3017246676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Operador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Significado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Ejemplo (si N = 10)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Resultado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69464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==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Igual a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 == 10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true</a:t>
                      </a:r>
                      <a:r>
                        <a:rPr lang="es-AR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152192" marR="69464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!=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Distinto de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 != 10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false</a:t>
                      </a:r>
                      <a:r>
                        <a:rPr lang="es-AR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152192" marR="69464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&gt;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Mayor que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 &gt; 0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true</a:t>
                      </a:r>
                      <a:r>
                        <a:rPr lang="es-AR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152192" marR="69464" marT="76096" marB="76096" anchor="ctr"/>
                </a:tc>
                <a:extLst>
                  <a:ext uri="{0D108BD9-81ED-4DB2-BD59-A6C34878D82A}">
                    <a16:rowId xmlns:a16="http://schemas.microsoft.com/office/drawing/2014/main" val="1490216946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&lt;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Menor que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 &lt; 10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false</a:t>
                      </a:r>
                      <a:r>
                        <a:rPr lang="es-AR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152192" marR="69464" marT="76096" marB="76096" anchor="ctr"/>
                </a:tc>
                <a:extLst>
                  <a:ext uri="{0D108BD9-81ED-4DB2-BD59-A6C34878D82A}">
                    <a16:rowId xmlns:a16="http://schemas.microsoft.com/office/drawing/2014/main" val="834862849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&gt;=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Mayor o igual que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 &gt;= 10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true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69464" marT="76096" marB="76096" anchor="ctr"/>
                </a:tc>
                <a:extLst>
                  <a:ext uri="{0D108BD9-81ED-4DB2-BD59-A6C34878D82A}">
                    <a16:rowId xmlns:a16="http://schemas.microsoft.com/office/drawing/2014/main" val="3372395162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&lt;=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Menor o igual que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 &lt;= 5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false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69464" marT="76096" marB="76096" anchor="ctr"/>
                </a:tc>
                <a:extLst>
                  <a:ext uri="{0D108BD9-81ED-4DB2-BD59-A6C34878D82A}">
                    <a16:rowId xmlns:a16="http://schemas.microsoft.com/office/drawing/2014/main" val="26053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256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235A-1FFA-5DEF-84D5-2012C177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CB28BF-301D-43C2-B330-34DECE307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Decisión Simple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5BF2FC1-7FEB-CCBB-466E-F4F179D4E3A3}"/>
              </a:ext>
            </a:extLst>
          </p:cNvPr>
          <p:cNvSpPr txBox="1"/>
          <p:nvPr/>
        </p:nvSpPr>
        <p:spPr>
          <a:xfrm>
            <a:off x="685799" y="785031"/>
            <a:ext cx="8021659" cy="111697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dirty="0"/>
              <a:t>La </a:t>
            </a:r>
            <a:r>
              <a:rPr lang="es-ES" b="1" dirty="0"/>
              <a:t>decisión simple</a:t>
            </a:r>
            <a:r>
              <a:rPr lang="es-ES" dirty="0"/>
              <a:t> es una estructura de control que condiciona la ejecución de un bloque de código al cumplimiento de una </a:t>
            </a:r>
            <a:r>
              <a:rPr lang="es-ES" b="1" dirty="0"/>
              <a:t>proposición lógica</a:t>
            </a:r>
            <a:r>
              <a:rPr lang="es-ES" dirty="0"/>
              <a:t>. Si la condición es 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true</a:t>
            </a:r>
            <a:r>
              <a:rPr lang="es-ES" dirty="0"/>
              <a:t>, el flujo se desvía para ejecutar la instrucción; si es 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false</a:t>
            </a:r>
            <a:r>
              <a:rPr lang="es-ES" dirty="0"/>
              <a:t>, el programa simplemente la omite y continúa su curso lineal.</a:t>
            </a:r>
            <a:endParaRPr sz="2100" dirty="0">
              <a:latin typeface="Google Sans Text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A5E7C9F-D746-B2BD-6B71-C35FFD328DF9}"/>
              </a:ext>
            </a:extLst>
          </p:cNvPr>
          <p:cNvSpPr txBox="1"/>
          <p:nvPr/>
        </p:nvSpPr>
        <p:spPr>
          <a:xfrm>
            <a:off x="2057400" y="4267418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F83DDF6-4F80-119E-56EA-90AB662BABC5}"/>
              </a:ext>
            </a:extLst>
          </p:cNvPr>
          <p:cNvSpPr txBox="1"/>
          <p:nvPr/>
        </p:nvSpPr>
        <p:spPr>
          <a:xfrm>
            <a:off x="6113465" y="3486150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E20AC8B7-E483-13AE-300B-10EC10C5098B}"/>
              </a:ext>
            </a:extLst>
          </p:cNvPr>
          <p:cNvSpPr txBox="1"/>
          <p:nvPr/>
        </p:nvSpPr>
        <p:spPr>
          <a:xfrm>
            <a:off x="4777124" y="2318422"/>
            <a:ext cx="3520194" cy="948337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nro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nro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nro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"Es positivo"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4134A9-0846-FED3-9F94-5B01001B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90" y="2275795"/>
            <a:ext cx="2880000" cy="19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4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18186-C909-148F-179C-BB1FE2AD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C3958B-AE3C-2113-2A0C-F563E84BD2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Decisión Doble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BB39585-1498-E5BE-0EDE-B1FCEB0ADAD9}"/>
              </a:ext>
            </a:extLst>
          </p:cNvPr>
          <p:cNvSpPr txBox="1"/>
          <p:nvPr/>
        </p:nvSpPr>
        <p:spPr>
          <a:xfrm>
            <a:off x="685799" y="785031"/>
            <a:ext cx="8021659" cy="1393971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dirty="0"/>
              <a:t>Con una </a:t>
            </a:r>
            <a:r>
              <a:rPr lang="es-ES" b="1" dirty="0"/>
              <a:t>decisión doble</a:t>
            </a:r>
            <a:r>
              <a:rPr lang="es-ES" dirty="0"/>
              <a:t> el programa funciona de la siguiente manera: llega a un punto donde debe elegir entre dos caminos. El 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</a:rPr>
              <a:t>if</a:t>
            </a:r>
            <a:r>
              <a:rPr lang="es-ES" dirty="0"/>
              <a:t> ejecuta la salida por el verdadero si la condición es verdadera, mientras que el 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</a:rPr>
              <a:t>else</a:t>
            </a:r>
            <a:r>
              <a:rPr lang="es-ES" dirty="0"/>
              <a:t> actúa como el complemento lógico, el 'plan B'. Esto garantiza que el algoritmo siempre tenga una respuesta preparada, ya sea que la proposición se cumpla o no."</a:t>
            </a:r>
            <a:endParaRPr sz="2100" dirty="0">
              <a:latin typeface="Google Sans Text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3056B3B-5B90-13CF-8086-593D8447E540}"/>
              </a:ext>
            </a:extLst>
          </p:cNvPr>
          <p:cNvSpPr txBox="1"/>
          <p:nvPr/>
        </p:nvSpPr>
        <p:spPr>
          <a:xfrm>
            <a:off x="2269310" y="3975519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03E78FC-3ACB-A615-A9E9-6C6C7FF38585}"/>
              </a:ext>
            </a:extLst>
          </p:cNvPr>
          <p:cNvSpPr txBox="1"/>
          <p:nvPr/>
        </p:nvSpPr>
        <p:spPr>
          <a:xfrm>
            <a:off x="5983402" y="3975520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697370ED-F2D0-9C7B-4159-62402724EF5A}"/>
              </a:ext>
            </a:extLst>
          </p:cNvPr>
          <p:cNvSpPr txBox="1"/>
          <p:nvPr/>
        </p:nvSpPr>
        <p:spPr>
          <a:xfrm>
            <a:off x="4647061" y="2499409"/>
            <a:ext cx="3520194" cy="1307409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nro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nro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"Positivo"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es positivo"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731E05C-FB3D-A206-E313-C549EADFF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99409"/>
            <a:ext cx="2880000" cy="136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9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151C-7FF2-0F07-618E-606519D9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233B1F-EE15-C356-9631-6ABB330FD8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Decisión Secuencial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7AA199E-352A-B257-77A7-EED618F3B96D}"/>
              </a:ext>
            </a:extLst>
          </p:cNvPr>
          <p:cNvSpPr txBox="1"/>
          <p:nvPr/>
        </p:nvSpPr>
        <p:spPr>
          <a:xfrm>
            <a:off x="2819400" y="785031"/>
            <a:ext cx="5888058" cy="111697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dirty="0">
                <a:latin typeface="Google Sans Text"/>
              </a:rPr>
              <a:t>La </a:t>
            </a:r>
            <a:r>
              <a:rPr lang="es-ES" b="1" dirty="0">
                <a:latin typeface="Google Sans Text"/>
              </a:rPr>
              <a:t>decisión secuencial </a:t>
            </a:r>
            <a:r>
              <a:rPr lang="es-ES" dirty="0">
                <a:latin typeface="Google Sans Text"/>
              </a:rPr>
              <a:t>consiste en una serie de proposiciones lógicas independientes. El programa está obligado a evaluar todas y cada una de las condiciones (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Google Sans Text"/>
              </a:rPr>
              <a:t>if</a:t>
            </a:r>
            <a:r>
              <a:rPr lang="es-ES" dirty="0">
                <a:latin typeface="Google Sans Text"/>
              </a:rPr>
              <a:t>), sin importar si alguna de las anteriores ya fue verdadera. </a:t>
            </a:r>
            <a:endParaRPr sz="2100" dirty="0">
              <a:latin typeface="Google Sans Text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C85BDA3-7F6C-77A9-D5E2-5973D7EAF649}"/>
              </a:ext>
            </a:extLst>
          </p:cNvPr>
          <p:cNvSpPr txBox="1"/>
          <p:nvPr/>
        </p:nvSpPr>
        <p:spPr>
          <a:xfrm>
            <a:off x="1315034" y="4187547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3332681-0F8D-0E34-375A-DDAFCC7F00A2}"/>
              </a:ext>
            </a:extLst>
          </p:cNvPr>
          <p:cNvSpPr txBox="1"/>
          <p:nvPr/>
        </p:nvSpPr>
        <p:spPr>
          <a:xfrm>
            <a:off x="4148244" y="4187547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46878782-5BD8-B731-B811-A4D35594A71E}"/>
              </a:ext>
            </a:extLst>
          </p:cNvPr>
          <p:cNvSpPr txBox="1"/>
          <p:nvPr/>
        </p:nvSpPr>
        <p:spPr>
          <a:xfrm>
            <a:off x="2827520" y="2266066"/>
            <a:ext cx="3520194" cy="1846018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nro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nro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"Positivo"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A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nro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s-A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cout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&lt;&lt;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CE9178"/>
                </a:solidFill>
                <a:latin typeface="Consolas" panose="020B0609020204030204" pitchFamily="49" charset="0"/>
              </a:rPr>
              <a:t>“Negativo"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A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nro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s-A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cout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&lt;&lt;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CE9178"/>
                </a:solidFill>
                <a:latin typeface="Consolas" panose="020B0609020204030204" pitchFamily="49" charset="0"/>
              </a:rPr>
              <a:t>“Cero"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s-A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83CE888-39BB-024A-D175-5B62B8A4A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64902"/>
            <a:ext cx="1885848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2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FD10-82E3-DAD2-CD20-F3FF9486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CED0F4-F4F9-2BCF-B25B-47B67571C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Decisión Anidada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CF71BC7-5466-C105-37E4-6863C2EE461A}"/>
              </a:ext>
            </a:extLst>
          </p:cNvPr>
          <p:cNvSpPr txBox="1"/>
          <p:nvPr/>
        </p:nvSpPr>
        <p:spPr>
          <a:xfrm>
            <a:off x="685799" y="785031"/>
            <a:ext cx="8021659" cy="285976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dirty="0">
                <a:latin typeface="Google Sans Text"/>
              </a:rPr>
              <a:t>Una estructura de decisión dentro de otra.</a:t>
            </a:r>
            <a:endParaRPr sz="2100" dirty="0">
              <a:latin typeface="Google Sans Text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AC06371-B3EC-9712-11B2-D4A1D686D89D}"/>
              </a:ext>
            </a:extLst>
          </p:cNvPr>
          <p:cNvSpPr txBox="1"/>
          <p:nvPr/>
        </p:nvSpPr>
        <p:spPr>
          <a:xfrm>
            <a:off x="2174465" y="3943350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D0105E1-97AF-EB52-3C69-54A0BAEE25A5}"/>
              </a:ext>
            </a:extLst>
          </p:cNvPr>
          <p:cNvSpPr txBox="1"/>
          <p:nvPr/>
        </p:nvSpPr>
        <p:spPr>
          <a:xfrm>
            <a:off x="6012187" y="3761249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50CAF806-8DD0-A92E-54FB-BAFAACBD98AB}"/>
              </a:ext>
            </a:extLst>
          </p:cNvPr>
          <p:cNvSpPr txBox="1"/>
          <p:nvPr/>
        </p:nvSpPr>
        <p:spPr>
          <a:xfrm>
            <a:off x="4675846" y="1426086"/>
            <a:ext cx="3520194" cy="2205091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nro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nro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"Positivo"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nro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"Negativo"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"Cero"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704CB9-8934-33AB-31A5-943F8B37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55" y="1420891"/>
            <a:ext cx="3960000" cy="247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3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CDD-5402-FD4C-D101-95CDF73C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864E8F-6CE5-B876-19FD-BCD3DB969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Errores comunes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7170078-28DF-A2CC-11BE-2A6350990049}"/>
              </a:ext>
            </a:extLst>
          </p:cNvPr>
          <p:cNvSpPr txBox="1"/>
          <p:nvPr/>
        </p:nvSpPr>
        <p:spPr>
          <a:xfrm>
            <a:off x="609600" y="976789"/>
            <a:ext cx="8021659" cy="296363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b="1" dirty="0"/>
              <a:t>Confusión de Operadores (= vs ==):</a:t>
            </a:r>
            <a:r>
              <a:rPr lang="es-ES" sz="1600" dirty="0"/>
              <a:t> Usar el de asignación para comparar. Es el error más difícil de detectar porque el código compila, pero la lógica falla.</a:t>
            </a:r>
          </a:p>
          <a:p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b="1" dirty="0"/>
              <a:t>El Punto y Coma Traicionero:</a:t>
            </a:r>
            <a:r>
              <a:rPr lang="es-ES" sz="1600" dirty="0"/>
              <a:t> Poner ; justo después del </a:t>
            </a:r>
            <a:r>
              <a:rPr lang="es-ES" sz="1600" dirty="0" err="1"/>
              <a:t>if</a:t>
            </a:r>
            <a:r>
              <a:rPr lang="es-ES" sz="1600" dirty="0"/>
              <a:t> (...). Esto anula la condición y hace que el bloque de abajo se ejecute siempre.</a:t>
            </a:r>
          </a:p>
          <a:p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b="1" dirty="0"/>
              <a:t>Omisión de Llaves ({ }):</a:t>
            </a:r>
            <a:r>
              <a:rPr lang="es-ES" sz="1600" dirty="0"/>
              <a:t> Olvidarlas cuando el </a:t>
            </a:r>
            <a:r>
              <a:rPr lang="es-ES" sz="1600" dirty="0" err="1"/>
              <a:t>if</a:t>
            </a:r>
            <a:r>
              <a:rPr lang="es-ES" sz="1600" dirty="0"/>
              <a:t> debe controlar más de una línea. Sin ellas, solo la primera instrucción queda protegida por la condición.</a:t>
            </a:r>
          </a:p>
          <a:p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b="1" dirty="0"/>
              <a:t>Rangos Matemáticos Incorrectos:</a:t>
            </a:r>
            <a:r>
              <a:rPr lang="es-ES" sz="1600" dirty="0"/>
              <a:t> Escribir </a:t>
            </a:r>
            <a:r>
              <a:rPr lang="es-ES" sz="1600" dirty="0" err="1"/>
              <a:t>if</a:t>
            </a:r>
            <a:r>
              <a:rPr lang="es-ES" sz="1600" dirty="0"/>
              <a:t> (10 &lt; x &lt; 20). En C++ esto es un error lógico; la forma correcta es usar el AND: </a:t>
            </a:r>
            <a:r>
              <a:rPr lang="es-ES" sz="1600" dirty="0" err="1"/>
              <a:t>if</a:t>
            </a:r>
            <a:r>
              <a:rPr lang="es-ES" sz="1600" dirty="0"/>
              <a:t> (x &gt; 10 &amp;&amp; x &lt; 20).</a:t>
            </a:r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8425553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2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3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4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</TotalTime>
  <Words>1007</Words>
  <Application>Microsoft Office PowerPoint</Application>
  <PresentationFormat>Presentación en pantalla (16:9)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Google Sans Text</vt:lpstr>
      <vt:lpstr>Roboto</vt:lpstr>
      <vt:lpstr>Trebuchet MS</vt:lpstr>
      <vt:lpstr>Wingdings</vt:lpstr>
      <vt:lpstr>1_Office Theme</vt:lpstr>
      <vt:lpstr>Presentación de PowerPoint</vt:lpstr>
      <vt:lpstr>Introducción</vt:lpstr>
      <vt:lpstr>Palabras Reservadas en C++ para Decisiones</vt:lpstr>
      <vt:lpstr>Modelo genérico</vt:lpstr>
      <vt:lpstr>Operadores Relacionales</vt:lpstr>
      <vt:lpstr>Decisión Simple</vt:lpstr>
      <vt:lpstr>Decisión Doble</vt:lpstr>
      <vt:lpstr>Decisión Secuencial</vt:lpstr>
      <vt:lpstr>Decisión Anidada</vt:lpstr>
      <vt:lpstr>Errores comunes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LAB1 - Decisión</dc:title>
  <cp:lastModifiedBy>Ariel Sebastian Tapia</cp:lastModifiedBy>
  <cp:revision>27</cp:revision>
  <dcterms:created xsi:type="dcterms:W3CDTF">2024-09-11T15:21:18Z</dcterms:created>
  <dcterms:modified xsi:type="dcterms:W3CDTF">2026-04-04T14:09:30Z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