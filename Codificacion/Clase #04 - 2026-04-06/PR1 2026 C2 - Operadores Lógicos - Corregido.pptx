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99" r:id="rId3"/>
    <p:sldId id="300" r:id="rId4"/>
    <p:sldId id="301" r:id="rId5"/>
    <p:sldId id="296" r:id="rId6"/>
    <p:sldId id="302" r:id="rId7"/>
    <p:sldId id="304" r:id="rId8"/>
    <p:sldId id="303" r:id="rId9"/>
    <p:sldId id="305" r:id="rId10"/>
    <p:sldId id="322" r:id="rId11"/>
    <p:sldId id="314" r:id="rId12"/>
    <p:sldId id="323" r:id="rId13"/>
  </p:sldIdLst>
  <p:sldSz cx="9144000" cy="5143500" type="screen16x9"/>
  <p:notesSz cx="9144000" cy="51435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33" d="100"/>
          <a:sy n="133" d="100"/>
        </p:scale>
        <p:origin x="906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2CAE8-F96C-2073-F240-58D203F6C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EB685-326D-BF42-9FA8-DBE7935C1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F85AA-C6B6-0176-2899-9F67F75E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C410E-519D-A66F-8517-ECEA92DA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78098-6905-38A5-2A92-7B8EF03C0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4862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6353A-37A7-58CF-A687-D1CF48A75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41C46-B13F-16C2-3B05-07A88B811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FA4F7-2220-1A06-27AD-7ED8577E3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5E456-18D3-896F-C7F9-A488CF309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8697D-55E0-8496-47FD-7EA0985AE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4964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10602-D645-3AC9-9D19-3BAE5D284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7C6A8-E18E-4D78-6829-F17C18A0E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38FC0-3BC1-4B02-9BB8-9344FDF98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2EE21-A18C-0927-6F02-94D3D8F1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F4FC6-31D8-7275-D2E7-4F770DDE9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39196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04C46-1B00-5B94-3721-63A4F4857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F03A7-B709-5735-AF7C-85D945817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1BB35-6E58-1F96-C5FE-D3A75FC39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16884-F52F-3F58-3B4D-49697AED0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616FB-FD18-83FB-7A68-1E8097CE1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DD934-FB1E-FB03-E67F-9809309BE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43237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5E958-2E17-5607-49A1-575BDD97F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7E781-2C4F-F7B9-E5CA-A3DC8837A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7D54C-D6D8-B2AE-02B4-26A098B64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4B8E0E-11D3-4D36-043D-B49B87F3FA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E35950-F75A-AA3A-4AF0-66F45AD694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1E08D-C26C-59A1-6FE9-AA8C8091C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2C3A60-0BA8-FF38-B149-4F1F0F056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826058-518A-296C-918E-A0C41BD0A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40587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C1B68-1736-5B50-9CCC-021213727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8465D7-CED5-23FB-E4F9-A65D3CFD6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6A6FC-015A-BB34-E99A-AF820495D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D3C009-7EC5-4010-6B33-0B1850B5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42509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77172F-3DC6-BD6D-96A2-D14D84D93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9EFAD-AACE-C45F-F625-CCB5E7C4F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2E250-4659-7CEF-132F-F775A0065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28119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42E55-49CC-5FEF-4CA5-E54436E27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EDB36-73A9-7816-73DA-2C1CF58DB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ED33F-CFA9-7CBC-6BAA-C41B034DF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87B9-C74E-056C-22A8-21D6D776F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F53D4-B0C6-F375-1496-CD603553C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992E1-5AB8-9249-1452-186F660E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44491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9D1F9-6386-2F14-87DD-A02B226C8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39F339-3325-FC35-E15E-14B1384F65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47418-1674-C966-8EC8-CE0909B7B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00F7E-4333-91A7-4EAD-F9235C297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98764-76BA-8E32-8021-B71FA568B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DD4C3-603E-69BD-9424-87C09AE6D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857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2849B-77FF-B592-8B81-2ADB83092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D5CF35-3FFF-F18B-D276-F529BBA22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BEB8B-6C04-26AB-F180-6CD7ECAA1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BCD26-286F-8DC9-43D7-33C5C590E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F0F16-7C99-D58C-332F-B187B34FE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03023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C04AE7-2DDE-AA65-7363-FAD6D319D7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DC4506-C37F-F669-CD59-B47698E4A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95F10-AFE3-C119-8A0A-9B2B6C9D1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1FCA6-2B6E-5E0A-F23F-096416428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ADA82-AC26-4449-C984-042CD608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85511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B539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55651" y="1389246"/>
            <a:ext cx="3282950" cy="2215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05676" y="1538471"/>
            <a:ext cx="3896995" cy="2215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84276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91047" y="2234251"/>
            <a:ext cx="1561904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7654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4060D5-61DB-3807-D335-042917A4F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7D887-ECD3-E332-3382-46688822D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6CF68-C4DE-14A6-FA5F-CEF08F20EC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DC3C9-B55F-9104-7762-E1D3C01F00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9A71E-2F9F-227A-46BD-3910CE8FE5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07432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057400" y="438150"/>
            <a:ext cx="4814485" cy="821378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61594" marR="5080" indent="-49530" algn="ctr">
              <a:lnSpc>
                <a:spcPts val="6230"/>
              </a:lnSpc>
              <a:spcBef>
                <a:spcPts val="204"/>
              </a:spcBef>
            </a:pPr>
            <a:r>
              <a:rPr lang="es-ES" sz="5200" spc="45" dirty="0">
                <a:latin typeface="Google Sans Text"/>
                <a:cs typeface="Trebuchet MS"/>
              </a:rPr>
              <a:t>Programación I</a:t>
            </a:r>
            <a:endParaRPr sz="5200" dirty="0">
              <a:latin typeface="Google Sans Text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2000" y="1789484"/>
            <a:ext cx="7848599" cy="22852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s-ES" sz="2800" b="1" dirty="0">
                <a:latin typeface="Google Sans Text"/>
              </a:rPr>
              <a:t>Operadores Lógicos: Formulación de Condiciones Complejas</a:t>
            </a:r>
            <a:endParaRPr lang="es-ES" sz="2800" b="1" spc="-20" dirty="0">
              <a:latin typeface="Google Sans Text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s-ES" dirty="0">
              <a:latin typeface="Google Sans Tex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dirty="0">
                <a:latin typeface="Google Sans Text"/>
              </a:rPr>
              <a:t>Hasta ahora hemos trabajado con condiciones simples (ej. A &gt; B). Sin embargo, la lógica de programación a menudo requiere evaluar múltiples factores simultáneamente. Los operadores lógicos nos permiten combinar condiciones simples para crear estructuras de decisión mucho más potentes y precisas.</a:t>
            </a:r>
            <a:endParaRPr lang="es-ES" sz="2800" dirty="0">
              <a:latin typeface="Google Sans Text"/>
              <a:cs typeface="Roboto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Ref idx="1001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18A7AD4D-0BA3-262D-00C5-5FC81764F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40BCE45-CD4B-A752-82A9-7725EDDA1C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3307"/>
            <a:ext cx="91440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sz="3200" dirty="0">
                <a:latin typeface="Google Sans Text"/>
              </a:rPr>
              <a:t>Introducción</a:t>
            </a:r>
            <a:endParaRPr spc="-65" dirty="0"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826BEB2-3AF1-5FC4-F4ED-A1002505FF86}"/>
              </a:ext>
            </a:extLst>
          </p:cNvPr>
          <p:cNvSpPr txBox="1"/>
          <p:nvPr/>
        </p:nvSpPr>
        <p:spPr>
          <a:xfrm>
            <a:off x="914399" y="1200150"/>
            <a:ext cx="7315201" cy="2778966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r>
              <a:rPr lang="es-ES" dirty="0">
                <a:latin typeface="Google Sans Text"/>
              </a:rPr>
              <a:t>Un operador lógico actúa sobre valores de verdad (Verdadero o Falso). El resultado de una operación lógica es, a su vez, un valor booleano.</a:t>
            </a:r>
          </a:p>
          <a:p>
            <a:endParaRPr lang="es-ES" dirty="0">
              <a:latin typeface="Google Sans Text"/>
            </a:endParaRPr>
          </a:p>
          <a:p>
            <a:r>
              <a:rPr lang="es-ES" dirty="0">
                <a:latin typeface="Google Sans Text"/>
              </a:rPr>
              <a:t>En C++, estos valores se representan como </a:t>
            </a:r>
            <a:r>
              <a:rPr lang="es-ES" b="1" dirty="0">
                <a:solidFill>
                  <a:schemeClr val="accent6">
                    <a:lumMod val="50000"/>
                  </a:schemeClr>
                </a:solidFill>
                <a:latin typeface="Google Sans Text"/>
              </a:rPr>
              <a:t>true</a:t>
            </a:r>
            <a:r>
              <a:rPr lang="es-ES" dirty="0">
                <a:latin typeface="Google Sans Text"/>
              </a:rPr>
              <a:t> (1) y </a:t>
            </a:r>
            <a:r>
              <a:rPr lang="es-ES" b="1" dirty="0">
                <a:solidFill>
                  <a:schemeClr val="accent6">
                    <a:lumMod val="50000"/>
                  </a:schemeClr>
                </a:solidFill>
                <a:latin typeface="Google Sans Text"/>
              </a:rPr>
              <a:t>false</a:t>
            </a:r>
            <a:r>
              <a:rPr lang="es-ES" dirty="0">
                <a:latin typeface="Google Sans Text"/>
              </a:rPr>
              <a:t> (0).</a:t>
            </a:r>
          </a:p>
          <a:p>
            <a:endParaRPr lang="es-ES" dirty="0">
              <a:latin typeface="Google Sans Text"/>
            </a:endParaRPr>
          </a:p>
          <a:p>
            <a:r>
              <a:rPr lang="es-ES" dirty="0">
                <a:latin typeface="Google Sans Text"/>
              </a:rPr>
              <a:t>Los tres operadores fundamentales son:</a:t>
            </a:r>
          </a:p>
          <a:p>
            <a:endParaRPr lang="es-ES" dirty="0">
              <a:latin typeface="Google Sans Tex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b="1" dirty="0">
                <a:solidFill>
                  <a:schemeClr val="accent6">
                    <a:lumMod val="50000"/>
                  </a:schemeClr>
                </a:solidFill>
                <a:latin typeface="Google Sans Text"/>
              </a:rPr>
              <a:t>AND</a:t>
            </a:r>
            <a:r>
              <a:rPr lang="es-ES" dirty="0">
                <a:latin typeface="Google Sans Text"/>
              </a:rPr>
              <a:t> (&amp;&amp;)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b="1" dirty="0">
                <a:solidFill>
                  <a:schemeClr val="accent6">
                    <a:lumMod val="50000"/>
                  </a:schemeClr>
                </a:solidFill>
                <a:latin typeface="Google Sans Text"/>
              </a:rPr>
              <a:t>OR</a:t>
            </a:r>
            <a:r>
              <a:rPr lang="es-ES" dirty="0">
                <a:latin typeface="Google Sans Text"/>
              </a:rPr>
              <a:t> (||)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b="1" dirty="0">
                <a:solidFill>
                  <a:schemeClr val="accent6">
                    <a:lumMod val="50000"/>
                  </a:schemeClr>
                </a:solidFill>
                <a:latin typeface="Google Sans Text"/>
              </a:rPr>
              <a:t>NOT</a:t>
            </a:r>
            <a:r>
              <a:rPr lang="es-ES" dirty="0">
                <a:latin typeface="Google Sans Text"/>
              </a:rPr>
              <a:t> (!)</a:t>
            </a:r>
          </a:p>
        </p:txBody>
      </p:sp>
    </p:spTree>
    <p:extLst>
      <p:ext uri="{BB962C8B-B14F-4D97-AF65-F5344CB8AC3E}">
        <p14:creationId xmlns:p14="http://schemas.microsoft.com/office/powerpoint/2010/main" val="87344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F9528-7271-0749-9FD8-C4729FCC0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92CD906-48AF-AB7B-B80C-8620D2128D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38149"/>
            <a:ext cx="9144000" cy="5334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defTabSz="914400"/>
            <a:r>
              <a:rPr lang="es-AR" sz="3200" kern="1200" noProof="0" dirty="0">
                <a:solidFill>
                  <a:schemeClr val="tx1"/>
                </a:solidFill>
                <a:latin typeface="Google Sans Text"/>
              </a:rPr>
              <a:t>Operadores Lógicos</a:t>
            </a:r>
            <a:endParaRPr lang="es-AR" sz="3200" kern="1200" spc="-65" noProof="0" dirty="0">
              <a:solidFill>
                <a:schemeClr val="tx1"/>
              </a:solidFill>
              <a:latin typeface="Google Sans Text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97C5CA7-92CD-13F8-FEB4-39D27CBE0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850106"/>
              </p:ext>
            </p:extLst>
          </p:nvPr>
        </p:nvGraphicFramePr>
        <p:xfrm>
          <a:off x="952500" y="1413926"/>
          <a:ext cx="7238999" cy="2315648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315159374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2015147"/>
                    </a:ext>
                  </a:extLst>
                </a:gridCol>
                <a:gridCol w="5448299">
                  <a:extLst>
                    <a:ext uri="{9D8B030D-6E8A-4147-A177-3AD203B41FA5}">
                      <a16:colId xmlns:a16="http://schemas.microsoft.com/office/drawing/2014/main" val="2161617035"/>
                    </a:ext>
                  </a:extLst>
                </a:gridCol>
              </a:tblGrid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Operador</a:t>
                      </a:r>
                      <a:endParaRPr lang="es-AR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C++</a:t>
                      </a:r>
                      <a:endParaRPr lang="es-AR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Significado</a:t>
                      </a: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273638"/>
                  </a:ext>
                </a:extLst>
              </a:tr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AND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&amp;&amp;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Exige que todas las proposiciones sean verdaderas para que el  resultado de la condición sea verdadero.</a:t>
                      </a: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2630564263"/>
                  </a:ext>
                </a:extLst>
              </a:tr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OR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||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Exige que alguna de las proposiciones sea verdadera para que el  resultado de la condición sea verdadero.</a:t>
                      </a:r>
                      <a:endParaRPr lang="es-E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  <a:ea typeface="+mn-ea"/>
                        <a:cs typeface="+mn-cs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3134828685"/>
                  </a:ext>
                </a:extLst>
              </a:tr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NOT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!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Invierte el valor lógico de una condición, transformando una proposición verdadera en falsa y una falsa en verdadera.</a:t>
                      </a:r>
                      <a:endParaRPr lang="es-E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  <a:ea typeface="+mn-ea"/>
                        <a:cs typeface="+mn-cs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938191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5261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43C25-10F2-C3DD-60DD-5BD7D4360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308ADE5-F391-21E7-9E89-1282925A0D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37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defTabSz="914400"/>
            <a:r>
              <a:rPr lang="es-AR" sz="3200" kern="1200" noProof="0" dirty="0">
                <a:solidFill>
                  <a:schemeClr val="tx1"/>
                </a:solidFill>
                <a:latin typeface="Google Sans Text"/>
              </a:rPr>
              <a:t>Operador AND</a:t>
            </a:r>
            <a:endParaRPr lang="es-AR" sz="3200" kern="1200" spc="-65" noProof="0" dirty="0">
              <a:solidFill>
                <a:schemeClr val="tx1"/>
              </a:solidFill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91F9725-5C99-D765-3723-88CA9726506B}"/>
              </a:ext>
            </a:extLst>
          </p:cNvPr>
          <p:cNvSpPr txBox="1"/>
          <p:nvPr/>
        </p:nvSpPr>
        <p:spPr>
          <a:xfrm>
            <a:off x="990600" y="960436"/>
            <a:ext cx="7162800" cy="8493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s-ES" dirty="0">
                <a:latin typeface="Google Sans Text"/>
              </a:rPr>
              <a:t>El operador AND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Google Sans Text"/>
              </a:rPr>
              <a:t>(&amp;&amp;)</a:t>
            </a:r>
            <a:r>
              <a:rPr lang="es-ES" dirty="0">
                <a:latin typeface="Google Sans Text"/>
              </a:rPr>
              <a:t> combina dos o más condiciones y devuelve verdadero únicamente cuando todas las condiciones son verdaderas. Si al menos una condición es falsa, el resultado completo es falso.</a:t>
            </a:r>
            <a:endParaRPr lang="en-US" dirty="0">
              <a:latin typeface="Google Sans Text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56F114D-7305-EBA0-D2E7-44D28DB28D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527849"/>
              </p:ext>
            </p:extLst>
          </p:nvPr>
        </p:nvGraphicFramePr>
        <p:xfrm>
          <a:off x="3505200" y="2401573"/>
          <a:ext cx="4648200" cy="1864355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549400">
                  <a:extLst>
                    <a:ext uri="{9D8B030D-6E8A-4147-A177-3AD203B41FA5}">
                      <a16:colId xmlns:a16="http://schemas.microsoft.com/office/drawing/2014/main" val="3151593743"/>
                    </a:ext>
                  </a:extLst>
                </a:gridCol>
                <a:gridCol w="1507524">
                  <a:extLst>
                    <a:ext uri="{9D8B030D-6E8A-4147-A177-3AD203B41FA5}">
                      <a16:colId xmlns:a16="http://schemas.microsoft.com/office/drawing/2014/main" val="2002015147"/>
                    </a:ext>
                  </a:extLst>
                </a:gridCol>
                <a:gridCol w="1591276">
                  <a:extLst>
                    <a:ext uri="{9D8B030D-6E8A-4147-A177-3AD203B41FA5}">
                      <a16:colId xmlns:a16="http://schemas.microsoft.com/office/drawing/2014/main" val="2161617035"/>
                    </a:ext>
                  </a:extLst>
                </a:gridCol>
              </a:tblGrid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Condición A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Condición B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A &amp;&amp; B</a:t>
                      </a: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273638"/>
                  </a:ext>
                </a:extLst>
              </a:tr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2630564263"/>
                  </a:ext>
                </a:extLst>
              </a:tr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  <a:endParaRPr lang="es-E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  <a:ea typeface="+mn-ea"/>
                        <a:cs typeface="+mn-cs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3134828685"/>
                  </a:ext>
                </a:extLst>
              </a:tr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  <a:endParaRPr lang="es-E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  <a:ea typeface="+mn-ea"/>
                        <a:cs typeface="+mn-cs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938191747"/>
                  </a:ext>
                </a:extLst>
              </a:tr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  <a:endParaRPr lang="es-E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  <a:ea typeface="+mn-ea"/>
                        <a:cs typeface="+mn-cs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4036751311"/>
                  </a:ext>
                </a:extLst>
              </a:tr>
            </a:tbl>
          </a:graphicData>
        </a:graphic>
      </p:graphicFrame>
      <p:pic>
        <p:nvPicPr>
          <p:cNvPr id="7" name="Imagen 6">
            <a:extLst>
              <a:ext uri="{FF2B5EF4-FFF2-40B4-BE49-F238E27FC236}">
                <a16:creationId xmlns:a16="http://schemas.microsoft.com/office/drawing/2014/main" id="{128E9355-C773-59D0-23AA-0DF97540E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962150"/>
            <a:ext cx="2160000" cy="962743"/>
          </a:xfrm>
          <a:prstGeom prst="rect">
            <a:avLst/>
          </a:prstGeom>
          <a:ln w="12700">
            <a:solidFill>
              <a:schemeClr val="accent3"/>
            </a:solidFill>
          </a:ln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5F8203EA-A188-590A-D266-B91A84593523}"/>
              </a:ext>
            </a:extLst>
          </p:cNvPr>
          <p:cNvSpPr txBox="1"/>
          <p:nvPr/>
        </p:nvSpPr>
        <p:spPr>
          <a:xfrm>
            <a:off x="1756910" y="3071058"/>
            <a:ext cx="6273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Google Sans Text"/>
                <a:cs typeface="Roboto"/>
              </a:rPr>
              <a:t>Diagrama</a:t>
            </a:r>
            <a:endParaRPr sz="1100" dirty="0">
              <a:latin typeface="Google Sans Text"/>
              <a:cs typeface="Roboto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CCE474B6-D896-FFFF-A3C9-2CC0073AD8A5}"/>
              </a:ext>
            </a:extLst>
          </p:cNvPr>
          <p:cNvSpPr txBox="1"/>
          <p:nvPr/>
        </p:nvSpPr>
        <p:spPr>
          <a:xfrm>
            <a:off x="3492000" y="1987089"/>
            <a:ext cx="2160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AR" b="1" dirty="0">
                <a:latin typeface="Google Sans Text"/>
              </a:rPr>
              <a:t>Tabla de verdad</a:t>
            </a:r>
            <a:endParaRPr b="1" dirty="0"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3343593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B7567-85AC-6ACE-7803-DE6FDBA02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C3F3208-3464-62D7-90D1-9D6DE99497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37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defTabSz="914400"/>
            <a:r>
              <a:rPr lang="es-AR" sz="3200" dirty="0">
                <a:latin typeface="Google Sans Text"/>
              </a:rPr>
              <a:t>Ejemplo AND</a:t>
            </a:r>
            <a:endParaRPr lang="en-US" sz="3200" kern="1200" spc="-65" dirty="0">
              <a:solidFill>
                <a:schemeClr val="tx1"/>
              </a:solidFill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7858CB9-31C5-E0A5-C74E-4C4B5D06EBF4}"/>
              </a:ext>
            </a:extLst>
          </p:cNvPr>
          <p:cNvSpPr txBox="1"/>
          <p:nvPr/>
        </p:nvSpPr>
        <p:spPr>
          <a:xfrm>
            <a:off x="533400" y="699534"/>
            <a:ext cx="8077200" cy="696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s-ES" b="1" dirty="0">
                <a:latin typeface="Google Sans Text"/>
              </a:rPr>
              <a:t>Problema</a:t>
            </a:r>
            <a:r>
              <a:rPr lang="es-ES" dirty="0">
                <a:latin typeface="Google Sans Text"/>
              </a:rPr>
              <a:t>: Verificar si una persona puede obtener una beca. Requisitos: tener promedio mayor o igual a 8</a:t>
            </a:r>
            <a:r>
              <a:rPr lang="es-ES" b="1" dirty="0">
                <a:latin typeface="Google Sans Text"/>
              </a:rPr>
              <a:t> y </a:t>
            </a:r>
            <a:r>
              <a:rPr lang="es-ES" dirty="0">
                <a:latin typeface="Google Sans Text"/>
              </a:rPr>
              <a:t>tener ingresos familiares menores a $50.000.</a:t>
            </a:r>
            <a:endParaRPr lang="en-US" kern="1200" dirty="0">
              <a:solidFill>
                <a:schemeClr val="tx1"/>
              </a:solidFill>
              <a:latin typeface="Google Sans Text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4A2D1A7C-010B-504B-3E9F-535D3376DC68}"/>
              </a:ext>
            </a:extLst>
          </p:cNvPr>
          <p:cNvSpPr txBox="1"/>
          <p:nvPr/>
        </p:nvSpPr>
        <p:spPr>
          <a:xfrm>
            <a:off x="696600" y="3070236"/>
            <a:ext cx="3960000" cy="1666482"/>
          </a:xfrm>
          <a:prstGeom prst="rect">
            <a:avLst/>
          </a:prstGeom>
          <a:solidFill>
            <a:schemeClr val="tx1"/>
          </a:solidFill>
          <a:ln w="9524">
            <a:solidFill>
              <a:schemeClr val="tx1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ts val="1425"/>
              </a:lnSpc>
            </a:pPr>
            <a:r>
              <a:rPr lang="es-AR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float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pr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s-AR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ing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ing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 (</a:t>
            </a: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8)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ing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50000) 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</a:t>
            </a:r>
            <a:r>
              <a:rPr lang="es-AR" sz="1200" dirty="0">
                <a:solidFill>
                  <a:srgbClr val="CE9178"/>
                </a:solidFill>
                <a:latin typeface="Consolas" panose="020B0609020204030204" pitchFamily="49" charset="0"/>
              </a:rPr>
              <a:t>C</a:t>
            </a:r>
            <a:r>
              <a:rPr lang="es-A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alifica"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 califica"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4FA815B-795B-6C9F-384E-5789D8F06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00" y="1410172"/>
            <a:ext cx="3960000" cy="1371620"/>
          </a:xfrm>
          <a:prstGeom prst="rect">
            <a:avLst/>
          </a:prstGeom>
        </p:spPr>
      </p:pic>
      <p:sp>
        <p:nvSpPr>
          <p:cNvPr id="10" name="object 8">
            <a:extLst>
              <a:ext uri="{FF2B5EF4-FFF2-40B4-BE49-F238E27FC236}">
                <a16:creationId xmlns:a16="http://schemas.microsoft.com/office/drawing/2014/main" id="{282EAE04-2B8B-FF5F-95BB-56EB247E538F}"/>
              </a:ext>
            </a:extLst>
          </p:cNvPr>
          <p:cNvSpPr txBox="1"/>
          <p:nvPr/>
        </p:nvSpPr>
        <p:spPr>
          <a:xfrm>
            <a:off x="689400" y="1453159"/>
            <a:ext cx="6273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Google Sans Text"/>
                <a:cs typeface="Roboto"/>
              </a:rPr>
              <a:t>Diagrama</a:t>
            </a:r>
            <a:endParaRPr sz="1100" dirty="0">
              <a:latin typeface="Google Sans Text"/>
              <a:cs typeface="Roboto"/>
            </a:endParaRP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B66695A5-E7A2-DA60-5697-0200EAB03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840538"/>
              </p:ext>
            </p:extLst>
          </p:nvPr>
        </p:nvGraphicFramePr>
        <p:xfrm>
          <a:off x="4876800" y="1731780"/>
          <a:ext cx="3874200" cy="2070396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004051">
                  <a:extLst>
                    <a:ext uri="{9D8B030D-6E8A-4147-A177-3AD203B41FA5}">
                      <a16:colId xmlns:a16="http://schemas.microsoft.com/office/drawing/2014/main" val="3151593743"/>
                    </a:ext>
                  </a:extLst>
                </a:gridCol>
                <a:gridCol w="1001948">
                  <a:extLst>
                    <a:ext uri="{9D8B030D-6E8A-4147-A177-3AD203B41FA5}">
                      <a16:colId xmlns:a16="http://schemas.microsoft.com/office/drawing/2014/main" val="2002015147"/>
                    </a:ext>
                  </a:extLst>
                </a:gridCol>
                <a:gridCol w="1868201">
                  <a:extLst>
                    <a:ext uri="{9D8B030D-6E8A-4147-A177-3AD203B41FA5}">
                      <a16:colId xmlns:a16="http://schemas.microsoft.com/office/drawing/2014/main" val="2161617035"/>
                    </a:ext>
                  </a:extLst>
                </a:gridCol>
              </a:tblGrid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pr &gt;= 8</a:t>
                      </a:r>
                      <a:endParaRPr lang="es-AR" sz="1400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ing &lt; 50000</a:t>
                      </a:r>
                      <a:endParaRPr lang="es-AR" sz="1400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pr &gt;= 8 &amp;&amp; ing &lt; 5000</a:t>
                      </a: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273638"/>
                  </a:ext>
                </a:extLst>
              </a:tr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2630564263"/>
                  </a:ext>
                </a:extLst>
              </a:tr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  <a:endParaRPr lang="es-E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  <a:ea typeface="+mn-ea"/>
                        <a:cs typeface="+mn-cs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3134828685"/>
                  </a:ext>
                </a:extLst>
              </a:tr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  <a:endParaRPr lang="es-E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  <a:ea typeface="+mn-ea"/>
                        <a:cs typeface="+mn-cs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938191747"/>
                  </a:ext>
                </a:extLst>
              </a:tr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  <a:endParaRPr lang="es-E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  <a:ea typeface="+mn-ea"/>
                        <a:cs typeface="+mn-cs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4036751311"/>
                  </a:ext>
                </a:extLst>
              </a:tr>
            </a:tbl>
          </a:graphicData>
        </a:graphic>
      </p:graphicFrame>
      <p:sp>
        <p:nvSpPr>
          <p:cNvPr id="12" name="object 8">
            <a:extLst>
              <a:ext uri="{FF2B5EF4-FFF2-40B4-BE49-F238E27FC236}">
                <a16:creationId xmlns:a16="http://schemas.microsoft.com/office/drawing/2014/main" id="{EF58D01B-88F5-DA02-72CB-A750929CE353}"/>
              </a:ext>
            </a:extLst>
          </p:cNvPr>
          <p:cNvSpPr txBox="1"/>
          <p:nvPr/>
        </p:nvSpPr>
        <p:spPr>
          <a:xfrm>
            <a:off x="537000" y="2832145"/>
            <a:ext cx="9321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sz="1100" b="1" spc="-10" dirty="0">
                <a:latin typeface="Google Sans Text"/>
                <a:cs typeface="Roboto"/>
              </a:rPr>
              <a:t>Código C++</a:t>
            </a:r>
            <a:endParaRPr sz="1100" dirty="0">
              <a:latin typeface="Google Sans Text"/>
              <a:cs typeface="Roboto"/>
            </a:endParaRPr>
          </a:p>
        </p:txBody>
      </p:sp>
      <p:sp>
        <p:nvSpPr>
          <p:cNvPr id="3" name="object 8">
            <a:extLst>
              <a:ext uri="{FF2B5EF4-FFF2-40B4-BE49-F238E27FC236}">
                <a16:creationId xmlns:a16="http://schemas.microsoft.com/office/drawing/2014/main" id="{9B9CE828-CA96-0927-8D62-1F9C4446A4D9}"/>
              </a:ext>
            </a:extLst>
          </p:cNvPr>
          <p:cNvSpPr txBox="1"/>
          <p:nvPr/>
        </p:nvSpPr>
        <p:spPr>
          <a:xfrm>
            <a:off x="4876800" y="1339204"/>
            <a:ext cx="2160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AR" b="1" dirty="0">
                <a:latin typeface="Google Sans Text"/>
              </a:rPr>
              <a:t>Tabla de verdad</a:t>
            </a:r>
            <a:endParaRPr b="1" dirty="0"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3663087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7AE91-E784-C085-17BE-23B10AB93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C64D05F-3747-BB11-A74C-177C31B460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37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defTabSz="914400"/>
            <a:r>
              <a:rPr lang="es-AR" sz="3200" kern="1200" noProof="0" dirty="0">
                <a:solidFill>
                  <a:schemeClr val="tx1"/>
                </a:solidFill>
                <a:latin typeface="Google Sans Text"/>
              </a:rPr>
              <a:t>Operador OR</a:t>
            </a:r>
            <a:endParaRPr lang="es-AR" sz="3200" kern="1200" spc="-65" noProof="0" dirty="0">
              <a:solidFill>
                <a:schemeClr val="tx1"/>
              </a:solidFill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3EACED0-F224-02CE-7085-4277D813C6A6}"/>
              </a:ext>
            </a:extLst>
          </p:cNvPr>
          <p:cNvSpPr txBox="1"/>
          <p:nvPr/>
        </p:nvSpPr>
        <p:spPr>
          <a:xfrm>
            <a:off x="990600" y="960436"/>
            <a:ext cx="7162800" cy="8493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s-ES" dirty="0">
                <a:latin typeface="Google Sans Text"/>
              </a:rPr>
              <a:t>El operador OR (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Google Sans Text"/>
              </a:rPr>
              <a:t>||</a:t>
            </a:r>
            <a:r>
              <a:rPr lang="es-ES" dirty="0">
                <a:latin typeface="Google Sans Text"/>
              </a:rPr>
              <a:t>) combina dos o más condiciones y devuelve verdadero cuando al menos una de las condiciones es verdadera. Solo es falso cuando todas las condiciones son falsas.</a:t>
            </a:r>
            <a:endParaRPr lang="en-US" dirty="0">
              <a:latin typeface="Google Sans Text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EB14837-B28D-C48E-94C6-8EE984C46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13448"/>
              </p:ext>
            </p:extLst>
          </p:nvPr>
        </p:nvGraphicFramePr>
        <p:xfrm>
          <a:off x="3429000" y="1962150"/>
          <a:ext cx="4724400" cy="1864355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574800">
                  <a:extLst>
                    <a:ext uri="{9D8B030D-6E8A-4147-A177-3AD203B41FA5}">
                      <a16:colId xmlns:a16="http://schemas.microsoft.com/office/drawing/2014/main" val="3151593743"/>
                    </a:ext>
                  </a:extLst>
                </a:gridCol>
                <a:gridCol w="1532238">
                  <a:extLst>
                    <a:ext uri="{9D8B030D-6E8A-4147-A177-3AD203B41FA5}">
                      <a16:colId xmlns:a16="http://schemas.microsoft.com/office/drawing/2014/main" val="2002015147"/>
                    </a:ext>
                  </a:extLst>
                </a:gridCol>
                <a:gridCol w="1617362">
                  <a:extLst>
                    <a:ext uri="{9D8B030D-6E8A-4147-A177-3AD203B41FA5}">
                      <a16:colId xmlns:a16="http://schemas.microsoft.com/office/drawing/2014/main" val="2161617035"/>
                    </a:ext>
                  </a:extLst>
                </a:gridCol>
              </a:tblGrid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Condición A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Condición B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A || B</a:t>
                      </a: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273638"/>
                  </a:ext>
                </a:extLst>
              </a:tr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2630564263"/>
                  </a:ext>
                </a:extLst>
              </a:tr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  <a:endParaRPr lang="es-E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  <a:ea typeface="+mn-ea"/>
                        <a:cs typeface="+mn-cs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3134828685"/>
                  </a:ext>
                </a:extLst>
              </a:tr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  <a:endParaRPr lang="es-E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  <a:ea typeface="+mn-ea"/>
                        <a:cs typeface="+mn-cs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938191747"/>
                  </a:ext>
                </a:extLst>
              </a:tr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  <a:endParaRPr lang="es-E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  <a:ea typeface="+mn-ea"/>
                        <a:cs typeface="+mn-cs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4036751311"/>
                  </a:ext>
                </a:extLst>
              </a:tr>
            </a:tbl>
          </a:graphicData>
        </a:graphic>
      </p:graphicFrame>
      <p:pic>
        <p:nvPicPr>
          <p:cNvPr id="9" name="Imagen 8">
            <a:extLst>
              <a:ext uri="{FF2B5EF4-FFF2-40B4-BE49-F238E27FC236}">
                <a16:creationId xmlns:a16="http://schemas.microsoft.com/office/drawing/2014/main" id="{3E57208E-44D4-1EB1-ACEF-8E6106FF9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962150"/>
            <a:ext cx="2160000" cy="991275"/>
          </a:xfrm>
          <a:prstGeom prst="rect">
            <a:avLst/>
          </a:prstGeom>
          <a:ln w="12700">
            <a:solidFill>
              <a:schemeClr val="accent3"/>
            </a:solidFill>
          </a:ln>
        </p:spPr>
      </p:pic>
      <p:sp>
        <p:nvSpPr>
          <p:cNvPr id="10" name="object 8">
            <a:extLst>
              <a:ext uri="{FF2B5EF4-FFF2-40B4-BE49-F238E27FC236}">
                <a16:creationId xmlns:a16="http://schemas.microsoft.com/office/drawing/2014/main" id="{7CD7FF2C-AE3E-5BF3-DAF3-AEAD37B2D8B1}"/>
              </a:ext>
            </a:extLst>
          </p:cNvPr>
          <p:cNvSpPr txBox="1"/>
          <p:nvPr/>
        </p:nvSpPr>
        <p:spPr>
          <a:xfrm>
            <a:off x="1756910" y="3014774"/>
            <a:ext cx="6273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Google Sans Text"/>
                <a:cs typeface="Roboto"/>
              </a:rPr>
              <a:t>Diagrama</a:t>
            </a:r>
            <a:endParaRPr sz="1100" dirty="0">
              <a:latin typeface="Google Sans Text"/>
              <a:cs typeface="Roboto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484502D0-7115-C01C-43C6-1D273BE5A43C}"/>
              </a:ext>
            </a:extLst>
          </p:cNvPr>
          <p:cNvSpPr txBox="1"/>
          <p:nvPr/>
        </p:nvSpPr>
        <p:spPr>
          <a:xfrm>
            <a:off x="5311717" y="4003659"/>
            <a:ext cx="95896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sz="1100" b="1" spc="-10" dirty="0">
                <a:latin typeface="Google Sans Text"/>
                <a:cs typeface="Roboto"/>
              </a:rPr>
              <a:t>Tabla de verdad</a:t>
            </a:r>
            <a:endParaRPr sz="1100" dirty="0">
              <a:latin typeface="Google Sans Text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109463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863D2-9910-3AC3-727A-F4223624F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C31EC65-D9AB-E1CE-D278-85B78A0AD9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37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defTabSz="914400"/>
            <a:r>
              <a:rPr lang="es-AR" sz="3200" dirty="0">
                <a:latin typeface="Google Sans Text"/>
              </a:rPr>
              <a:t>Ejemplo OR</a:t>
            </a:r>
            <a:endParaRPr lang="en-US" sz="3200" kern="1200" spc="-65" dirty="0">
              <a:solidFill>
                <a:schemeClr val="tx1"/>
              </a:solidFill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2125A55-C2A7-364D-9054-76EA80272A22}"/>
              </a:ext>
            </a:extLst>
          </p:cNvPr>
          <p:cNvSpPr txBox="1"/>
          <p:nvPr/>
        </p:nvSpPr>
        <p:spPr>
          <a:xfrm>
            <a:off x="531001" y="786015"/>
            <a:ext cx="8077200" cy="696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b="1" dirty="0">
                <a:latin typeface="Google Sans Text"/>
              </a:rPr>
              <a:t>Problema</a:t>
            </a:r>
            <a:r>
              <a:rPr lang="es-ES" dirty="0">
                <a:latin typeface="Google Sans Text"/>
              </a:rPr>
              <a:t>: Verificar si un producto tiene descuento. Requisitos: Tener tarjeta de socio </a:t>
            </a:r>
            <a:r>
              <a:rPr lang="es-ES" b="1" dirty="0">
                <a:latin typeface="Google Sans Text"/>
              </a:rPr>
              <a:t>o</a:t>
            </a:r>
            <a:r>
              <a:rPr lang="es-ES" dirty="0">
                <a:latin typeface="Google Sans Text"/>
              </a:rPr>
              <a:t> ser jubilado.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7558DC73-4E4C-7B6C-6567-53F6921F83A4}"/>
              </a:ext>
            </a:extLst>
          </p:cNvPr>
          <p:cNvSpPr txBox="1"/>
          <p:nvPr/>
        </p:nvSpPr>
        <p:spPr>
          <a:xfrm>
            <a:off x="543656" y="2941212"/>
            <a:ext cx="3960000" cy="1666482"/>
          </a:xfrm>
          <a:prstGeom prst="rect">
            <a:avLst/>
          </a:prstGeom>
          <a:solidFill>
            <a:schemeClr val="tx1"/>
          </a:solidFill>
          <a:ln w="9524">
            <a:solidFill>
              <a:schemeClr val="tx1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ts val="1425"/>
              </a:lnSpc>
            </a:pPr>
            <a:r>
              <a:rPr lang="es-AR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bool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tarj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s-AR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jub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tarj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jub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 (</a:t>
            </a: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tarj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jub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) {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“Descuento"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“Sin descuento."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CF80F73-8BD0-3590-8607-7EF51C530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1" y="1589470"/>
            <a:ext cx="3960000" cy="1062157"/>
          </a:xfrm>
          <a:prstGeom prst="rect">
            <a:avLst/>
          </a:prstGeom>
        </p:spPr>
      </p:pic>
      <p:sp>
        <p:nvSpPr>
          <p:cNvPr id="10" name="object 8">
            <a:extLst>
              <a:ext uri="{FF2B5EF4-FFF2-40B4-BE49-F238E27FC236}">
                <a16:creationId xmlns:a16="http://schemas.microsoft.com/office/drawing/2014/main" id="{2F4783AA-44A1-268E-6510-6D2D25FF6A6A}"/>
              </a:ext>
            </a:extLst>
          </p:cNvPr>
          <p:cNvSpPr txBox="1"/>
          <p:nvPr/>
        </p:nvSpPr>
        <p:spPr>
          <a:xfrm>
            <a:off x="544856" y="1643212"/>
            <a:ext cx="6273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Google Sans Text"/>
                <a:cs typeface="Roboto"/>
              </a:rPr>
              <a:t>Diagrama</a:t>
            </a:r>
            <a:endParaRPr sz="1100" dirty="0">
              <a:latin typeface="Google Sans Text"/>
              <a:cs typeface="Roboto"/>
            </a:endParaRP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4F989B5E-7BE7-3086-D570-2FB411779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306446"/>
              </p:ext>
            </p:extLst>
          </p:nvPr>
        </p:nvGraphicFramePr>
        <p:xfrm>
          <a:off x="4653001" y="1955292"/>
          <a:ext cx="4186200" cy="2283756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085568">
                  <a:extLst>
                    <a:ext uri="{9D8B030D-6E8A-4147-A177-3AD203B41FA5}">
                      <a16:colId xmlns:a16="http://schemas.microsoft.com/office/drawing/2014/main" val="3151593743"/>
                    </a:ext>
                  </a:extLst>
                </a:gridCol>
                <a:gridCol w="1083295">
                  <a:extLst>
                    <a:ext uri="{9D8B030D-6E8A-4147-A177-3AD203B41FA5}">
                      <a16:colId xmlns:a16="http://schemas.microsoft.com/office/drawing/2014/main" val="2002015147"/>
                    </a:ext>
                  </a:extLst>
                </a:gridCol>
                <a:gridCol w="2017337">
                  <a:extLst>
                    <a:ext uri="{9D8B030D-6E8A-4147-A177-3AD203B41FA5}">
                      <a16:colId xmlns:a16="http://schemas.microsoft.com/office/drawing/2014/main" val="2161617035"/>
                    </a:ext>
                  </a:extLst>
                </a:gridCol>
              </a:tblGrid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tarj == true</a:t>
                      </a:r>
                      <a:endParaRPr lang="es-AR" sz="1400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jub == true</a:t>
                      </a:r>
                      <a:endParaRPr lang="es-AR" sz="1400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tarj == true </a:t>
                      </a:r>
                    </a:p>
                    <a:p>
                      <a:pPr algn="ctr" rtl="0">
                        <a:buNone/>
                      </a:pPr>
                      <a:r>
                        <a:rPr lang="es-AR" sz="1400" b="1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|| </a:t>
                      </a:r>
                    </a:p>
                    <a:p>
                      <a:pPr algn="ctr" rtl="0">
                        <a:buNone/>
                      </a:pPr>
                      <a:r>
                        <a:rPr lang="es-AR" sz="1400" b="1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jub == true</a:t>
                      </a: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273638"/>
                  </a:ext>
                </a:extLst>
              </a:tr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2630564263"/>
                  </a:ext>
                </a:extLst>
              </a:tr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  <a:endParaRPr lang="es-E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  <a:ea typeface="+mn-ea"/>
                        <a:cs typeface="+mn-cs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3134828685"/>
                  </a:ext>
                </a:extLst>
              </a:tr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  <a:endParaRPr lang="es-E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  <a:ea typeface="+mn-ea"/>
                        <a:cs typeface="+mn-cs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938191747"/>
                  </a:ext>
                </a:extLst>
              </a:tr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  <a:endParaRPr lang="es-E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  <a:ea typeface="+mn-ea"/>
                        <a:cs typeface="+mn-cs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4036751311"/>
                  </a:ext>
                </a:extLst>
              </a:tr>
            </a:tbl>
          </a:graphicData>
        </a:graphic>
      </p:graphicFrame>
      <p:sp>
        <p:nvSpPr>
          <p:cNvPr id="12" name="object 8">
            <a:extLst>
              <a:ext uri="{FF2B5EF4-FFF2-40B4-BE49-F238E27FC236}">
                <a16:creationId xmlns:a16="http://schemas.microsoft.com/office/drawing/2014/main" id="{98B15A3B-0876-339A-F05C-3901EAB946ED}"/>
              </a:ext>
            </a:extLst>
          </p:cNvPr>
          <p:cNvSpPr txBox="1"/>
          <p:nvPr/>
        </p:nvSpPr>
        <p:spPr>
          <a:xfrm>
            <a:off x="392456" y="2705369"/>
            <a:ext cx="9321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sz="1100" b="1" spc="-10" dirty="0">
                <a:latin typeface="Google Sans Text"/>
                <a:cs typeface="Roboto"/>
              </a:rPr>
              <a:t>Código C++</a:t>
            </a:r>
            <a:endParaRPr sz="1100" dirty="0">
              <a:latin typeface="Google Sans Text"/>
              <a:cs typeface="Roboto"/>
            </a:endParaRPr>
          </a:p>
        </p:txBody>
      </p:sp>
      <p:sp>
        <p:nvSpPr>
          <p:cNvPr id="3" name="object 8">
            <a:extLst>
              <a:ext uri="{FF2B5EF4-FFF2-40B4-BE49-F238E27FC236}">
                <a16:creationId xmlns:a16="http://schemas.microsoft.com/office/drawing/2014/main" id="{EAC38532-1B3A-EEE0-BC02-6D338C151825}"/>
              </a:ext>
            </a:extLst>
          </p:cNvPr>
          <p:cNvSpPr txBox="1"/>
          <p:nvPr/>
        </p:nvSpPr>
        <p:spPr>
          <a:xfrm>
            <a:off x="4653001" y="1541825"/>
            <a:ext cx="2160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AR" b="1" dirty="0">
                <a:latin typeface="Google Sans Text"/>
              </a:rPr>
              <a:t>Tabla de verdad</a:t>
            </a:r>
            <a:endParaRPr b="1" dirty="0"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858332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51C88-E68E-E366-7567-C28FA1DD6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F77674D-EA74-299B-3659-1DA761826E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37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defTabSz="914400"/>
            <a:r>
              <a:rPr lang="es-AR" sz="3200" kern="1200" noProof="0" dirty="0">
                <a:solidFill>
                  <a:schemeClr val="tx1"/>
                </a:solidFill>
                <a:latin typeface="Google Sans Text"/>
              </a:rPr>
              <a:t>Operador NOT</a:t>
            </a:r>
            <a:endParaRPr lang="es-AR" sz="3200" kern="1200" spc="-65" noProof="0" dirty="0">
              <a:solidFill>
                <a:schemeClr val="tx1"/>
              </a:solidFill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10C6E09-CC4D-AF2F-76DA-85F3ED8A53AF}"/>
              </a:ext>
            </a:extLst>
          </p:cNvPr>
          <p:cNvSpPr txBox="1"/>
          <p:nvPr/>
        </p:nvSpPr>
        <p:spPr>
          <a:xfrm>
            <a:off x="990600" y="960436"/>
            <a:ext cx="7162800" cy="15135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s-ES" dirty="0">
                <a:latin typeface="Google Sans Text"/>
              </a:rPr>
              <a:t>El operador NOT (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Google Sans Text"/>
              </a:rPr>
              <a:t>!</a:t>
            </a:r>
            <a:r>
              <a:rPr lang="es-ES" dirty="0">
                <a:latin typeface="Google Sans Text"/>
              </a:rPr>
              <a:t>) es un inversor lógico unario. Aplica la </a:t>
            </a:r>
            <a:r>
              <a:rPr lang="es-ES" b="1" dirty="0">
                <a:latin typeface="Google Sans Text"/>
              </a:rPr>
              <a:t>negación</a:t>
            </a:r>
            <a:r>
              <a:rPr lang="es-ES" dirty="0">
                <a:latin typeface="Google Sans Text"/>
              </a:rPr>
              <a:t>: transforma 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Google Sans Text"/>
              </a:rPr>
              <a:t>true</a:t>
            </a:r>
            <a:r>
              <a:rPr lang="es-ES" dirty="0">
                <a:latin typeface="Google Sans Text"/>
              </a:rPr>
              <a:t> en 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Google Sans Text"/>
              </a:rPr>
              <a:t>false</a:t>
            </a:r>
            <a:r>
              <a:rPr lang="es-ES" dirty="0">
                <a:latin typeface="Google Sans Text"/>
              </a:rPr>
              <a:t> y viceversa, es decir, funciona como un interruptor de 'opuestos'; es la herramienta ideal para validar que algo no ha ocurrido o para invertir el resultado de una condición.</a:t>
            </a:r>
            <a:endParaRPr lang="en-US" dirty="0">
              <a:latin typeface="Google Sans Text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D759E9E-0575-5B98-4811-AD77E638B0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539381"/>
              </p:ext>
            </p:extLst>
          </p:nvPr>
        </p:nvGraphicFramePr>
        <p:xfrm>
          <a:off x="3429000" y="2752679"/>
          <a:ext cx="4724400" cy="1188096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574800">
                  <a:extLst>
                    <a:ext uri="{9D8B030D-6E8A-4147-A177-3AD203B41FA5}">
                      <a16:colId xmlns:a16="http://schemas.microsoft.com/office/drawing/2014/main" val="3151593743"/>
                    </a:ext>
                  </a:extLst>
                </a:gridCol>
                <a:gridCol w="3149600">
                  <a:extLst>
                    <a:ext uri="{9D8B030D-6E8A-4147-A177-3AD203B41FA5}">
                      <a16:colId xmlns:a16="http://schemas.microsoft.com/office/drawing/2014/main" val="2002015147"/>
                    </a:ext>
                  </a:extLst>
                </a:gridCol>
              </a:tblGrid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Condición A</a:t>
                      </a:r>
                      <a:endParaRPr lang="es-AR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NOT A</a:t>
                      </a: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273638"/>
                  </a:ext>
                </a:extLst>
              </a:tr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2630564263"/>
                  </a:ext>
                </a:extLst>
              </a:tr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  <a:endParaRPr lang="es-E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  <a:ea typeface="+mn-ea"/>
                        <a:cs typeface="+mn-cs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3134828685"/>
                  </a:ext>
                </a:extLst>
              </a:tr>
            </a:tbl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E2AE795C-91FD-2EE2-4A4C-F3E344EDE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752679"/>
            <a:ext cx="2160000" cy="860831"/>
          </a:xfrm>
          <a:prstGeom prst="rect">
            <a:avLst/>
          </a:prstGeom>
          <a:ln w="12700">
            <a:solidFill>
              <a:schemeClr val="accent3"/>
            </a:solidFill>
          </a:ln>
        </p:spPr>
      </p:pic>
      <p:sp>
        <p:nvSpPr>
          <p:cNvPr id="10" name="object 8">
            <a:extLst>
              <a:ext uri="{FF2B5EF4-FFF2-40B4-BE49-F238E27FC236}">
                <a16:creationId xmlns:a16="http://schemas.microsoft.com/office/drawing/2014/main" id="{F38B66B3-48A0-ADD7-EE3B-E226E8434379}"/>
              </a:ext>
            </a:extLst>
          </p:cNvPr>
          <p:cNvSpPr txBox="1"/>
          <p:nvPr/>
        </p:nvSpPr>
        <p:spPr>
          <a:xfrm>
            <a:off x="1833110" y="3801116"/>
            <a:ext cx="6273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Google Sans Text"/>
                <a:cs typeface="Roboto"/>
              </a:rPr>
              <a:t>Diagrama</a:t>
            </a:r>
            <a:endParaRPr sz="1100" dirty="0">
              <a:latin typeface="Google Sans Text"/>
              <a:cs typeface="Roboto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CF2870D6-D57A-886A-76FC-397CFCF15C43}"/>
              </a:ext>
            </a:extLst>
          </p:cNvPr>
          <p:cNvSpPr txBox="1"/>
          <p:nvPr/>
        </p:nvSpPr>
        <p:spPr>
          <a:xfrm>
            <a:off x="5311717" y="4022713"/>
            <a:ext cx="95896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sz="1100" b="1" spc="-10" dirty="0">
                <a:latin typeface="Google Sans Text"/>
                <a:cs typeface="Roboto"/>
              </a:rPr>
              <a:t>Tabla de verdad</a:t>
            </a:r>
            <a:endParaRPr sz="1100" dirty="0">
              <a:latin typeface="Google Sans Text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916465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D613C-3E29-EFBD-A77A-1573F20E3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FB1C42FE-BC3B-61CF-2887-AC4977A5B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1679483"/>
            <a:ext cx="3960000" cy="1085923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454E960B-CFF0-67FC-CB56-8CE390747B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37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defTabSz="914400"/>
            <a:r>
              <a:rPr lang="es-AR" sz="3200" dirty="0">
                <a:latin typeface="Google Sans Text"/>
              </a:rPr>
              <a:t>Ejemplo NOT</a:t>
            </a:r>
            <a:endParaRPr lang="en-US" sz="3200" kern="1200" spc="-65" dirty="0">
              <a:solidFill>
                <a:schemeClr val="tx1"/>
              </a:solidFill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3A406D2-4235-0DFF-7ED2-E0019E5BAF81}"/>
              </a:ext>
            </a:extLst>
          </p:cNvPr>
          <p:cNvSpPr txBox="1"/>
          <p:nvPr/>
        </p:nvSpPr>
        <p:spPr>
          <a:xfrm>
            <a:off x="533400" y="960436"/>
            <a:ext cx="8077200" cy="6109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b="1" dirty="0">
                <a:latin typeface="Google Sans Text"/>
              </a:rPr>
              <a:t>Problema</a:t>
            </a:r>
            <a:r>
              <a:rPr lang="es-ES" dirty="0">
                <a:latin typeface="Google Sans Text"/>
              </a:rPr>
              <a:t>: Verificar si una cuenta está bloqueada.  Requisito: Si la cuenta </a:t>
            </a:r>
            <a:r>
              <a:rPr lang="es-ES" b="1" dirty="0">
                <a:latin typeface="Google Sans Text"/>
              </a:rPr>
              <a:t>NO</a:t>
            </a:r>
            <a:r>
              <a:rPr lang="es-ES" dirty="0">
                <a:latin typeface="Google Sans Text"/>
              </a:rPr>
              <a:t> está bloqueada, se permite el acceso.</a:t>
            </a:r>
          </a:p>
          <a:p>
            <a:endParaRPr lang="es-ES" dirty="0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FCA6ECEF-CC48-FEAD-8E7C-171DAA77A83E}"/>
              </a:ext>
            </a:extLst>
          </p:cNvPr>
          <p:cNvSpPr txBox="1"/>
          <p:nvPr/>
        </p:nvSpPr>
        <p:spPr>
          <a:xfrm>
            <a:off x="627600" y="3160643"/>
            <a:ext cx="3960000" cy="1486946"/>
          </a:xfrm>
          <a:prstGeom prst="rect">
            <a:avLst/>
          </a:prstGeom>
          <a:solidFill>
            <a:schemeClr val="tx1"/>
          </a:solidFill>
          <a:ln w="9524">
            <a:solidFill>
              <a:schemeClr val="tx1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ts val="1425"/>
              </a:lnSpc>
            </a:pPr>
            <a:r>
              <a:rPr lang="es-AR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bool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9CDCFE"/>
                </a:solidFill>
                <a:latin typeface="Consolas" panose="020B0609020204030204" pitchFamily="49" charset="0"/>
              </a:rPr>
              <a:t>bloqueada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s-A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loqueada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AR" sz="1200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s-A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loqueada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ts val="1425"/>
              </a:lnSpc>
              <a:buNone/>
            </a:pP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  </a:t>
            </a: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"Acceso permitido"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"Cuenta bloqueada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A3950A54-6C43-3BCE-AD60-AFA59A46C264}"/>
              </a:ext>
            </a:extLst>
          </p:cNvPr>
          <p:cNvSpPr txBox="1"/>
          <p:nvPr/>
        </p:nvSpPr>
        <p:spPr>
          <a:xfrm>
            <a:off x="627600" y="1693161"/>
            <a:ext cx="6273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Google Sans Text"/>
                <a:cs typeface="Roboto"/>
              </a:rPr>
              <a:t>Diagrama</a:t>
            </a:r>
            <a:endParaRPr sz="1100" dirty="0">
              <a:latin typeface="Google Sans Text"/>
              <a:cs typeface="Roboto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237DF5F7-9628-E970-A211-F885B1A245E9}"/>
              </a:ext>
            </a:extLst>
          </p:cNvPr>
          <p:cNvSpPr txBox="1"/>
          <p:nvPr/>
        </p:nvSpPr>
        <p:spPr>
          <a:xfrm>
            <a:off x="475200" y="2872499"/>
            <a:ext cx="9321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sz="1100" b="1" spc="-10" dirty="0">
                <a:latin typeface="Google Sans Text"/>
                <a:cs typeface="Roboto"/>
              </a:rPr>
              <a:t>Código C++</a:t>
            </a:r>
            <a:endParaRPr sz="1100" dirty="0">
              <a:latin typeface="Google Sans Text"/>
              <a:cs typeface="Roboto"/>
            </a:endParaRPr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8AF4610C-5FBC-1985-C975-AF63C5C29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786790"/>
              </p:ext>
            </p:extLst>
          </p:nvPr>
        </p:nvGraphicFramePr>
        <p:xfrm>
          <a:off x="4876800" y="2042030"/>
          <a:ext cx="3960000" cy="1118613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3151593743"/>
                    </a:ext>
                  </a:extLst>
                </a:gridCol>
                <a:gridCol w="2359800">
                  <a:extLst>
                    <a:ext uri="{9D8B030D-6E8A-4147-A177-3AD203B41FA5}">
                      <a16:colId xmlns:a16="http://schemas.microsoft.com/office/drawing/2014/main" val="2002015147"/>
                    </a:ext>
                  </a:extLst>
                </a:gridCol>
              </a:tblGrid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bloqueada == true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! (bloqueada)</a:t>
                      </a: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273638"/>
                  </a:ext>
                </a:extLst>
              </a:tr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2630564263"/>
                  </a:ext>
                </a:extLst>
              </a:tr>
              <a:tr h="3728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Falso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Verdadero</a:t>
                      </a:r>
                      <a:endParaRPr lang="es-E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  <a:ea typeface="+mn-ea"/>
                        <a:cs typeface="+mn-cs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3134828685"/>
                  </a:ext>
                </a:extLst>
              </a:tr>
            </a:tbl>
          </a:graphicData>
        </a:graphic>
      </p:graphicFrame>
      <p:sp>
        <p:nvSpPr>
          <p:cNvPr id="3" name="object 8">
            <a:extLst>
              <a:ext uri="{FF2B5EF4-FFF2-40B4-BE49-F238E27FC236}">
                <a16:creationId xmlns:a16="http://schemas.microsoft.com/office/drawing/2014/main" id="{A59F8051-187E-0F85-0A05-224E64BA1479}"/>
              </a:ext>
            </a:extLst>
          </p:cNvPr>
          <p:cNvSpPr txBox="1"/>
          <p:nvPr/>
        </p:nvSpPr>
        <p:spPr>
          <a:xfrm>
            <a:off x="4876800" y="1638039"/>
            <a:ext cx="2160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AR" b="1" dirty="0">
                <a:latin typeface="Google Sans Text"/>
              </a:rPr>
              <a:t>Tabla de verdad</a:t>
            </a:r>
            <a:endParaRPr b="1" dirty="0"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2205852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A6EE0-15EE-BCD7-6E26-8FA36F65E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6B3A12B-6DCC-48A9-E87C-D7C61536FF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37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defTabSz="914400"/>
            <a:r>
              <a:rPr lang="es-ES" sz="3200" dirty="0">
                <a:latin typeface="Google Sans Text"/>
              </a:rPr>
              <a:t>Prioridad de Operadores Lógicos en C++</a:t>
            </a:r>
            <a:endParaRPr lang="es-AR" sz="3200" kern="1200" spc="-65" noProof="0" dirty="0">
              <a:solidFill>
                <a:schemeClr val="tx1"/>
              </a:solidFill>
              <a:latin typeface="Google Sans Text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2136D60-0B78-BCD3-6D1E-0D10B18B6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257468"/>
              </p:ext>
            </p:extLst>
          </p:nvPr>
        </p:nvGraphicFramePr>
        <p:xfrm>
          <a:off x="2916174" y="2753765"/>
          <a:ext cx="3311652" cy="1496008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178052">
                  <a:extLst>
                    <a:ext uri="{9D8B030D-6E8A-4147-A177-3AD203B41FA5}">
                      <a16:colId xmlns:a16="http://schemas.microsoft.com/office/drawing/2014/main" val="315159374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2015147"/>
                    </a:ext>
                  </a:extLst>
                </a:gridCol>
              </a:tblGrid>
              <a:tr h="296671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Prioridad</a:t>
                      </a: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Operadores</a:t>
                      </a: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273638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s-A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650"/>
                        </a:lnSpc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NOT (!)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630564263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s-A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AND (&amp;&amp;)</a:t>
                      </a: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938191747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s-A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OR (||)</a:t>
                      </a: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1490216946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23DACD2F-983D-BC89-8A52-2E24947DF686}"/>
              </a:ext>
            </a:extLst>
          </p:cNvPr>
          <p:cNvSpPr txBox="1"/>
          <p:nvPr/>
        </p:nvSpPr>
        <p:spPr>
          <a:xfrm>
            <a:off x="2743200" y="2373598"/>
            <a:ext cx="4572000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s-ES" sz="1600" b="1" dirty="0">
                <a:latin typeface="Google Sans Text"/>
              </a:rPr>
              <a:t>Tabla de prioridad (de mayor a menor)</a:t>
            </a:r>
            <a:endParaRPr lang="es-AR" sz="1600" b="1" dirty="0">
              <a:latin typeface="Google Sans Tex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7AF535B-3FEF-07B0-CA6C-CF1F0E8744F5}"/>
              </a:ext>
            </a:extLst>
          </p:cNvPr>
          <p:cNvSpPr txBox="1"/>
          <p:nvPr/>
        </p:nvSpPr>
        <p:spPr>
          <a:xfrm>
            <a:off x="1142310" y="1003280"/>
            <a:ext cx="68593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600" b="1" dirty="0">
                <a:latin typeface="Google Sans Text"/>
              </a:rPr>
              <a:t>El orden de resolución en condiciones complejas</a:t>
            </a:r>
            <a:endParaRPr lang="es-ES" sz="1600" dirty="0">
              <a:latin typeface="Google Sans Text"/>
            </a:endParaRPr>
          </a:p>
          <a:p>
            <a:pPr>
              <a:buNone/>
            </a:pPr>
            <a:r>
              <a:rPr lang="es-ES" sz="1600" dirty="0">
                <a:latin typeface="Google Sans Text"/>
              </a:rPr>
              <a:t>Cuando combinamos múltiples operadores lógicos en una misma instrucción, el compilador no los lee simplemente de izquierda a derecha. Existe una jerarquía interna (precedencia) que determina qué operación se realiza primero.</a:t>
            </a:r>
          </a:p>
        </p:txBody>
      </p:sp>
    </p:spTree>
    <p:extLst>
      <p:ext uri="{BB962C8B-B14F-4D97-AF65-F5344CB8AC3E}">
        <p14:creationId xmlns:p14="http://schemas.microsoft.com/office/powerpoint/2010/main" val="749092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39CDD-5402-FD4C-D101-95CDF73CA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4864E8F-6CE5-B876-19FD-BCD3DB969A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67583"/>
            <a:ext cx="91440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spc="-65" dirty="0">
                <a:latin typeface="Google Sans Text"/>
              </a:rPr>
              <a:t>Errores comunes de prioridad</a:t>
            </a:r>
            <a:endParaRPr spc="-65" dirty="0"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7170078-28DF-A2CC-11BE-2A6350990049}"/>
              </a:ext>
            </a:extLst>
          </p:cNvPr>
          <p:cNvSpPr txBox="1"/>
          <p:nvPr/>
        </p:nvSpPr>
        <p:spPr>
          <a:xfrm>
            <a:off x="612648" y="820174"/>
            <a:ext cx="8021659" cy="345607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600" b="1" dirty="0">
                <a:latin typeface="Google Sans Text"/>
                <a:cs typeface="Trebuchet MS"/>
              </a:rPr>
              <a:t>Asumir lectura lineal</a:t>
            </a:r>
            <a:r>
              <a:rPr lang="es-ES" sz="1600" dirty="0">
                <a:latin typeface="Google Sans Text"/>
                <a:cs typeface="Trebuchet MS"/>
              </a:rPr>
              <a:t>: Creer que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Google Sans Text"/>
                <a:cs typeface="Trebuchet MS"/>
              </a:rPr>
              <a:t>A || B &amp;&amp; C </a:t>
            </a:r>
            <a:r>
              <a:rPr lang="es-ES" sz="1600" dirty="0">
                <a:latin typeface="Google Sans Text"/>
                <a:cs typeface="Trebuchet MS"/>
              </a:rPr>
              <a:t>es lo mismo que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Google Sans Text"/>
                <a:cs typeface="Trebuchet MS"/>
              </a:rPr>
              <a:t>(A || B) &amp;&amp; C</a:t>
            </a:r>
            <a:r>
              <a:rPr lang="es-ES" sz="1600" dirty="0">
                <a:latin typeface="Google Sans Text"/>
                <a:cs typeface="Trebuchet MS"/>
              </a:rPr>
              <a:t>. </a:t>
            </a:r>
            <a:r>
              <a:rPr lang="es-ES" sz="1600" b="1" dirty="0">
                <a:latin typeface="Google Sans Text"/>
                <a:cs typeface="Trebuchet MS"/>
              </a:rPr>
              <a:t>Error</a:t>
            </a:r>
            <a:r>
              <a:rPr lang="es-ES" sz="1600" dirty="0">
                <a:latin typeface="Google Sans Text"/>
                <a:cs typeface="Trebuchet MS"/>
              </a:rPr>
              <a:t>: Sin paréntesis, el AND se "agrupa" primero.</a:t>
            </a:r>
          </a:p>
          <a:p>
            <a:pPr lvl="2"/>
            <a:r>
              <a:rPr lang="es-ES" sz="1600" dirty="0">
                <a:latin typeface="Google Sans Text"/>
                <a:cs typeface="Trebuchet MS"/>
              </a:rPr>
              <a:t>Ejemplo: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Google Sans Text"/>
                <a:cs typeface="Trebuchet MS"/>
              </a:rPr>
              <a:t>int A = 1, B = 0, C = 0</a:t>
            </a:r>
            <a:r>
              <a:rPr lang="en-US" sz="1600" dirty="0">
                <a:latin typeface="Google Sans Text"/>
                <a:cs typeface="Trebuchet MS"/>
              </a:rPr>
              <a:t>;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Google Sans Text"/>
                <a:cs typeface="Trebuchet MS"/>
              </a:rPr>
              <a:t> </a:t>
            </a:r>
          </a:p>
          <a:p>
            <a:pPr lvl="2"/>
            <a:r>
              <a:rPr lang="es-ES" sz="1600" dirty="0">
                <a:latin typeface="Google Sans Text"/>
                <a:cs typeface="Trebuchet MS"/>
              </a:rPr>
              <a:t>❌ Error común (lectura lineal). Crees que es: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Google Sans Text"/>
                <a:cs typeface="Trebuchet MS"/>
              </a:rPr>
              <a:t>(A || B) &amp;&amp; C </a:t>
            </a:r>
          </a:p>
          <a:p>
            <a:pPr lvl="2"/>
            <a:r>
              <a:rPr lang="es-ES" sz="1600" dirty="0">
                <a:latin typeface="Google Sans Text"/>
                <a:cs typeface="Trebuchet MS"/>
              </a:rPr>
              <a:t>(1 || 0) &amp;&amp; 0 → true &amp;&amp; false →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Google Sans Text"/>
                <a:cs typeface="Trebuchet MS"/>
              </a:rPr>
              <a:t>false</a:t>
            </a:r>
          </a:p>
          <a:p>
            <a:pPr lvl="2"/>
            <a:r>
              <a:rPr lang="es-ES" sz="1600" dirty="0">
                <a:latin typeface="Google Sans Text"/>
                <a:cs typeface="Trebuchet MS"/>
              </a:rPr>
              <a:t>✅ Lo que realmente pasa en C++: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Google Sans Text"/>
                <a:cs typeface="Trebuchet MS"/>
              </a:rPr>
              <a:t>A || (B &amp;&amp; C)</a:t>
            </a:r>
          </a:p>
          <a:p>
            <a:pPr lvl="2"/>
            <a:r>
              <a:rPr lang="es-ES" sz="1600" dirty="0">
                <a:latin typeface="Google Sans Text"/>
                <a:cs typeface="Trebuchet MS"/>
              </a:rPr>
              <a:t> 1 || (0 &amp;&amp; 0) → true || false →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Google Sans Text"/>
                <a:cs typeface="Trebuchet MS"/>
              </a:rPr>
              <a:t>true</a:t>
            </a:r>
            <a:endParaRPr lang="es-ES" sz="1600" dirty="0">
              <a:latin typeface="Google Sans Text"/>
              <a:cs typeface="Trebuchet MS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600" b="1" dirty="0">
                <a:latin typeface="Google Sans Text"/>
                <a:cs typeface="Trebuchet MS"/>
              </a:rPr>
              <a:t>Negaciones mal ubicadas</a:t>
            </a:r>
            <a:r>
              <a:rPr lang="es-ES" sz="1600" dirty="0">
                <a:latin typeface="Google Sans Text"/>
                <a:cs typeface="Trebuchet MS"/>
              </a:rPr>
              <a:t>: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Google Sans Text"/>
                <a:cs typeface="Trebuchet MS"/>
              </a:rPr>
              <a:t>!A &amp;&amp; B </a:t>
            </a:r>
            <a:r>
              <a:rPr lang="es-ES" sz="1600" dirty="0">
                <a:latin typeface="Google Sans Text"/>
                <a:cs typeface="Trebuchet MS"/>
              </a:rPr>
              <a:t>solo niega a </a:t>
            </a:r>
            <a:r>
              <a:rPr lang="es-ES" sz="1600" b="1" dirty="0" err="1">
                <a:solidFill>
                  <a:schemeClr val="accent6">
                    <a:lumMod val="75000"/>
                  </a:schemeClr>
                </a:solidFill>
                <a:latin typeface="Google Sans Text"/>
                <a:cs typeface="Trebuchet MS"/>
              </a:rPr>
              <a:t>A</a:t>
            </a:r>
            <a:r>
              <a:rPr lang="es-ES" sz="1600" dirty="0">
                <a:latin typeface="Google Sans Text"/>
                <a:cs typeface="Trebuchet MS"/>
              </a:rPr>
              <a:t>. Si </a:t>
            </a:r>
            <a:r>
              <a:rPr lang="es-ES" sz="1600" dirty="0" err="1">
                <a:latin typeface="Google Sans Text"/>
                <a:cs typeface="Trebuchet MS"/>
              </a:rPr>
              <a:t>querés</a:t>
            </a:r>
            <a:r>
              <a:rPr lang="es-ES" sz="1600" dirty="0">
                <a:latin typeface="Google Sans Text"/>
                <a:cs typeface="Trebuchet MS"/>
              </a:rPr>
              <a:t> negar el resultado de la conjunción, </a:t>
            </a:r>
            <a:r>
              <a:rPr lang="es-ES" sz="1600" dirty="0" err="1">
                <a:latin typeface="Google Sans Text"/>
                <a:cs typeface="Trebuchet MS"/>
              </a:rPr>
              <a:t>debés</a:t>
            </a:r>
            <a:r>
              <a:rPr lang="es-ES" sz="1600" dirty="0">
                <a:latin typeface="Google Sans Text"/>
                <a:cs typeface="Trebuchet MS"/>
              </a:rPr>
              <a:t> usar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Google Sans Text"/>
                <a:cs typeface="Trebuchet MS"/>
              </a:rPr>
              <a:t>!(A &amp;&amp; B)</a:t>
            </a:r>
            <a:r>
              <a:rPr lang="es-ES" sz="1600" dirty="0">
                <a:latin typeface="Google Sans Text"/>
                <a:cs typeface="Trebuchet MS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600" b="1" dirty="0">
                <a:latin typeface="Google Sans Text"/>
                <a:cs typeface="Trebuchet MS"/>
              </a:rPr>
              <a:t>Olvidar los Relacionales</a:t>
            </a:r>
            <a:r>
              <a:rPr lang="es-ES" sz="1600" dirty="0">
                <a:latin typeface="Google Sans Text"/>
                <a:cs typeface="Trebuchet MS"/>
              </a:rPr>
              <a:t>: Los operadores relacionales </a:t>
            </a:r>
            <a:r>
              <a:rPr lang="es-ES" sz="1600" b="1" dirty="0">
                <a:latin typeface="Google Sans Text"/>
                <a:cs typeface="Trebuchet MS"/>
              </a:rPr>
              <a:t>(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Google Sans Text"/>
                <a:cs typeface="Trebuchet MS"/>
              </a:rPr>
              <a:t>&gt;, &lt;, ==</a:t>
            </a:r>
            <a:r>
              <a:rPr lang="es-ES" sz="1600" b="1" dirty="0">
                <a:latin typeface="Google Sans Text"/>
                <a:cs typeface="Trebuchet MS"/>
              </a:rPr>
              <a:t>)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Google Sans Text"/>
                <a:cs typeface="Trebuchet MS"/>
              </a:rPr>
              <a:t> </a:t>
            </a:r>
            <a:r>
              <a:rPr lang="es-ES" sz="1600" dirty="0">
                <a:latin typeface="Google Sans Text"/>
                <a:cs typeface="Trebuchet MS"/>
              </a:rPr>
              <a:t>tienen mayor prioridad que los lógicos.</a:t>
            </a:r>
          </a:p>
          <a:p>
            <a:r>
              <a:rPr lang="es-ES" sz="1600" dirty="0">
                <a:latin typeface="Google Sans Text"/>
                <a:cs typeface="Trebuchet MS"/>
              </a:rPr>
              <a:t>	Ejemplo: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Google Sans Text"/>
              </a:rPr>
              <a:t>nota &gt; 7 &amp;&amp; nota &lt; 10 </a:t>
            </a:r>
            <a:r>
              <a:rPr lang="es-ES" sz="1600" dirty="0">
                <a:latin typeface="Google Sans Text"/>
                <a:cs typeface="Trebuchet MS"/>
              </a:rPr>
              <a:t>se entiende como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Google Sans Text"/>
                <a:cs typeface="Trebuchet MS"/>
              </a:rPr>
              <a:t>(nota &gt; 7) &amp;&amp; (nota &lt; 10) </a:t>
            </a:r>
            <a:r>
              <a:rPr lang="es-ES" sz="1600" dirty="0">
                <a:latin typeface="Google Sans Text"/>
                <a:cs typeface="Trebuchet MS"/>
              </a:rPr>
              <a:t>sin 	necesidad de paréntesis, porque el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Google Sans Text"/>
                <a:cs typeface="Trebuchet MS"/>
              </a:rPr>
              <a:t>&gt;</a:t>
            </a:r>
            <a:r>
              <a:rPr lang="es-ES" sz="1600" dirty="0">
                <a:latin typeface="Google Sans Text"/>
                <a:cs typeface="Trebuchet MS"/>
              </a:rPr>
              <a:t> y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Google Sans Text"/>
                <a:cs typeface="Trebuchet MS"/>
              </a:rPr>
              <a:t>&lt;</a:t>
            </a:r>
            <a:r>
              <a:rPr lang="es-ES" sz="1600" dirty="0">
                <a:latin typeface="Google Sans Text"/>
                <a:cs typeface="Trebuchet MS"/>
              </a:rPr>
              <a:t> se resuelven antes que el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Google Sans Text"/>
                <a:cs typeface="Trebuchet MS"/>
              </a:rPr>
              <a:t>&amp;&amp;</a:t>
            </a:r>
            <a:r>
              <a:rPr lang="es-ES" sz="1600" dirty="0">
                <a:latin typeface="Google Sans Text"/>
                <a:cs typeface="Trebuchet MS"/>
              </a:rPr>
              <a:t>.</a:t>
            </a:r>
          </a:p>
          <a:p>
            <a:r>
              <a:rPr lang="es-ES" sz="1600" dirty="0">
                <a:latin typeface="Google Sans Text"/>
                <a:cs typeface="Trebuchet MS"/>
              </a:rPr>
              <a:t>	NOTA: Recomendamos siempre usar paréntesis.</a:t>
            </a:r>
          </a:p>
        </p:txBody>
      </p:sp>
    </p:spTree>
    <p:extLst>
      <p:ext uri="{BB962C8B-B14F-4D97-AF65-F5344CB8AC3E}">
        <p14:creationId xmlns:p14="http://schemas.microsoft.com/office/powerpoint/2010/main" val="1842555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19144-C2CE-5B1C-F52E-AB9A62220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BD0F4A2-D637-C384-5B64-F797C329ED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67583"/>
            <a:ext cx="91440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spc="-65" dirty="0">
                <a:latin typeface="Google Sans Text"/>
              </a:rPr>
              <a:t>Buenas Prácticas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13ACDA3-E4E9-EE60-E10B-1979E6C60C0E}"/>
              </a:ext>
            </a:extLst>
          </p:cNvPr>
          <p:cNvSpPr txBox="1"/>
          <p:nvPr/>
        </p:nvSpPr>
        <p:spPr>
          <a:xfrm>
            <a:off x="612648" y="820174"/>
            <a:ext cx="8021659" cy="993862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r>
              <a:rPr lang="es-ES" sz="1600" b="1" dirty="0">
                <a:latin typeface="Google Sans Text"/>
                <a:cs typeface="Trebuchet MS"/>
              </a:rPr>
              <a:t>Paréntesis de Claridad</a:t>
            </a:r>
            <a:r>
              <a:rPr lang="es-ES" sz="1600" dirty="0">
                <a:latin typeface="Google Sans Text"/>
                <a:cs typeface="Trebuchet MS"/>
              </a:rPr>
              <a:t>: Aunque la jerarquía sea clara para el compilador, </a:t>
            </a:r>
            <a:r>
              <a:rPr lang="es-ES" sz="1600" dirty="0" err="1">
                <a:latin typeface="Google Sans Text"/>
                <a:cs typeface="Trebuchet MS"/>
              </a:rPr>
              <a:t>usá</a:t>
            </a:r>
            <a:r>
              <a:rPr lang="es-ES" sz="1600" dirty="0">
                <a:latin typeface="Google Sans Text"/>
                <a:cs typeface="Trebuchet MS"/>
              </a:rPr>
              <a:t> paréntesis para que sea clara para los humanos.</a:t>
            </a:r>
          </a:p>
          <a:p>
            <a:endParaRPr lang="es-ES" sz="1600" dirty="0">
              <a:latin typeface="Google Sans Text"/>
              <a:cs typeface="Trebuchet MS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ES" sz="1600" dirty="0">
                <a:latin typeface="Google Sans Text"/>
                <a:cs typeface="Trebuchet MS"/>
              </a:rPr>
              <a:t>Mejor: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Google Sans Text"/>
                <a:cs typeface="Trebuchet MS"/>
              </a:rPr>
              <a:t>(A) || (B &amp;&amp; C)</a:t>
            </a:r>
          </a:p>
        </p:txBody>
      </p:sp>
    </p:spTree>
    <p:extLst>
      <p:ext uri="{BB962C8B-B14F-4D97-AF65-F5344CB8AC3E}">
        <p14:creationId xmlns:p14="http://schemas.microsoft.com/office/powerpoint/2010/main" val="16660014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Blue Green">
    <a:dk1>
      <a:sysClr val="windowText" lastClr="000000"/>
    </a:dk1>
    <a:lt1>
      <a:sysClr val="window" lastClr="FFFFFF"/>
    </a:lt1>
    <a:dk2>
      <a:srgbClr val="373545"/>
    </a:dk2>
    <a:lt2>
      <a:srgbClr val="CEDBE6"/>
    </a:lt2>
    <a:accent1>
      <a:srgbClr val="3494BA"/>
    </a:accent1>
    <a:accent2>
      <a:srgbClr val="58B6C0"/>
    </a:accent2>
    <a:accent3>
      <a:srgbClr val="75BDA7"/>
    </a:accent3>
    <a:accent4>
      <a:srgbClr val="7A8C8E"/>
    </a:accent4>
    <a:accent5>
      <a:srgbClr val="84ACB6"/>
    </a:accent5>
    <a:accent6>
      <a:srgbClr val="2683C6"/>
    </a:accent6>
    <a:hlink>
      <a:srgbClr val="6B9F25"/>
    </a:hlink>
    <a:folHlink>
      <a:srgbClr val="9F6715"/>
    </a:folHlink>
  </a:clrScheme>
</a:themeOverride>
</file>

<file path=ppt/theme/themeOverride2.xml><?xml version="1.0" encoding="utf-8"?>
<a:themeOverride xmlns:a="http://schemas.openxmlformats.org/drawingml/2006/main">
  <a:clrScheme name="Blue Green">
    <a:dk1>
      <a:sysClr val="windowText" lastClr="000000"/>
    </a:dk1>
    <a:lt1>
      <a:sysClr val="window" lastClr="FFFFFF"/>
    </a:lt1>
    <a:dk2>
      <a:srgbClr val="373545"/>
    </a:dk2>
    <a:lt2>
      <a:srgbClr val="CEDBE6"/>
    </a:lt2>
    <a:accent1>
      <a:srgbClr val="3494BA"/>
    </a:accent1>
    <a:accent2>
      <a:srgbClr val="58B6C0"/>
    </a:accent2>
    <a:accent3>
      <a:srgbClr val="75BDA7"/>
    </a:accent3>
    <a:accent4>
      <a:srgbClr val="7A8C8E"/>
    </a:accent4>
    <a:accent5>
      <a:srgbClr val="84ACB6"/>
    </a:accent5>
    <a:accent6>
      <a:srgbClr val="2683C6"/>
    </a:accent6>
    <a:hlink>
      <a:srgbClr val="6B9F25"/>
    </a:hlink>
    <a:folHlink>
      <a:srgbClr val="9F671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615</TotalTime>
  <Words>978</Words>
  <Application>Microsoft Office PowerPoint</Application>
  <PresentationFormat>Presentación en pantalla (16:9)</PresentationFormat>
  <Paragraphs>181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1" baseType="lpstr">
      <vt:lpstr>Aptos</vt:lpstr>
      <vt:lpstr>Aptos Display</vt:lpstr>
      <vt:lpstr>Arial</vt:lpstr>
      <vt:lpstr>Consolas</vt:lpstr>
      <vt:lpstr>Google Sans Text</vt:lpstr>
      <vt:lpstr>Roboto</vt:lpstr>
      <vt:lpstr>Trebuchet MS</vt:lpstr>
      <vt:lpstr>Wingdings</vt:lpstr>
      <vt:lpstr>1_Office Theme</vt:lpstr>
      <vt:lpstr>Presentación de PowerPoint</vt:lpstr>
      <vt:lpstr>Introducción</vt:lpstr>
      <vt:lpstr>Operadores Lógicos</vt:lpstr>
      <vt:lpstr>Operador AND</vt:lpstr>
      <vt:lpstr>Ejemplo AND</vt:lpstr>
      <vt:lpstr>Operador OR</vt:lpstr>
      <vt:lpstr>Ejemplo OR</vt:lpstr>
      <vt:lpstr>Operador NOT</vt:lpstr>
      <vt:lpstr>Ejemplo NOT</vt:lpstr>
      <vt:lpstr>Prioridad de Operadores Lógicos en C++</vt:lpstr>
      <vt:lpstr>Errores comunes de prioridad</vt:lpstr>
      <vt:lpstr>Buenas Prácticas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LAB1 - Decisión</dc:title>
  <cp:lastModifiedBy>Ariel Sebastian Tapia</cp:lastModifiedBy>
  <cp:revision>42</cp:revision>
  <dcterms:created xsi:type="dcterms:W3CDTF">2024-09-11T15:21:18Z</dcterms:created>
  <dcterms:modified xsi:type="dcterms:W3CDTF">2026-04-04T15:04:47Z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